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c55bbb589c84735" /><Relationship Type="http://schemas.openxmlformats.org/officeDocument/2006/relationships/extended-properties" Target="/docProps/app.xml" Id="R30c7f5741cfc4aeb" /><Relationship Type="http://schemas.openxmlformats.org/officeDocument/2006/relationships/officeDocument" Target="/ppt/presentation.xml" Id="R219c95c4d13344f3" /></Relationships>
</file>

<file path=ppt/presentation.xml><?xml version="1.0" encoding="utf-8"?>
<p:presentation xmlns:p="http://schemas.openxmlformats.org/presentationml/2006/main">
  <p:sldMasterIdLst>
    <p:sldMasterId xmlns:r="http://schemas.openxmlformats.org/officeDocument/2006/relationships" id="2147483648" r:id="Rffd16ed0e8124b95"/>
  </p:sldMasterIdLst>
  <p:notesMasterIdLst>
    <p:notesMasterId xmlns:r="http://schemas.openxmlformats.org/officeDocument/2006/relationships" r:id="Rbba686ab19c84df3"/>
  </p:notesMasterIdLst>
  <p:sldIdLst>
    <p:sldId xmlns:r="http://schemas.openxmlformats.org/officeDocument/2006/relationships" id="256" r:id="R6009464980234775"/>
    <p:sldId xmlns:r="http://schemas.openxmlformats.org/officeDocument/2006/relationships" id="257" r:id="R6e1ceb626a1f4d67"/>
    <p:sldId xmlns:r="http://schemas.openxmlformats.org/officeDocument/2006/relationships" id="258" r:id="R389f8d1b5ff14fd6"/>
    <p:sldId xmlns:r="http://schemas.openxmlformats.org/officeDocument/2006/relationships" id="259" r:id="R41a7edf92cbc44f4"/>
    <p:sldId xmlns:r="http://schemas.openxmlformats.org/officeDocument/2006/relationships" id="260" r:id="R33932c7b70634cd0"/>
    <p:sldId xmlns:r="http://schemas.openxmlformats.org/officeDocument/2006/relationships" id="261" r:id="Rd05e93e6f0e4440e"/>
    <p:sldId xmlns:r="http://schemas.openxmlformats.org/officeDocument/2006/relationships" id="262" r:id="R88f3052ad0a6473b"/>
    <p:sldId xmlns:r="http://schemas.openxmlformats.org/officeDocument/2006/relationships" id="263" r:id="R3cab8d5908584ec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85256c3427cf445c" /><Relationship Type="http://schemas.openxmlformats.org/officeDocument/2006/relationships/slideMaster" Target="/ppt/slideMasters/slideMaster1.xml" Id="Rffd16ed0e8124b95" /><Relationship Type="http://schemas.openxmlformats.org/officeDocument/2006/relationships/notesMaster" Target="/ppt/notesMasters/notesMaster1.xml" Id="Rbba686ab19c84df3" /><Relationship Type="http://schemas.openxmlformats.org/officeDocument/2006/relationships/presProps" Target="/ppt/presProps.xml" Id="Rd15173586cc94bd6" /><Relationship Type="http://schemas.openxmlformats.org/officeDocument/2006/relationships/viewProps" Target="/ppt/viewProps.xml" Id="R63b6837318d64fa9" /><Relationship Type="http://schemas.openxmlformats.org/officeDocument/2006/relationships/tableStyles" Target="/ppt/tableStyles.xml" Id="R5945abd5d5d44eb1" /><Relationship Type="http://schemas.openxmlformats.org/officeDocument/2006/relationships/slide" Target="/ppt/slides/slide1.xml" Id="R6009464980234775" /><Relationship Type="http://schemas.openxmlformats.org/officeDocument/2006/relationships/slide" Target="/ppt/slides/slide2.xml" Id="R6e1ceb626a1f4d67" /><Relationship Type="http://schemas.openxmlformats.org/officeDocument/2006/relationships/slide" Target="/ppt/slides/slide3.xml" Id="R389f8d1b5ff14fd6" /><Relationship Type="http://schemas.openxmlformats.org/officeDocument/2006/relationships/slide" Target="/ppt/slides/slide4.xml" Id="R41a7edf92cbc44f4" /><Relationship Type="http://schemas.openxmlformats.org/officeDocument/2006/relationships/slide" Target="/ppt/slides/slide5.xml" Id="R33932c7b70634cd0" /><Relationship Type="http://schemas.openxmlformats.org/officeDocument/2006/relationships/slide" Target="/ppt/slides/slide6.xml" Id="Rd05e93e6f0e4440e" /><Relationship Type="http://schemas.openxmlformats.org/officeDocument/2006/relationships/slide" Target="/ppt/slides/slide7.xml" Id="R88f3052ad0a6473b" /><Relationship Type="http://schemas.openxmlformats.org/officeDocument/2006/relationships/slide" Target="/ppt/slides/slide8.xml" Id="R3cab8d5908584ec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09b008970ea4ca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ondygnet_ijcai2026_v3">
  <a:themeElements>
    <a:clrScheme name="condygnet_ijcai2026_v3">
      <a:dk1>
        <a:srgbClr val="171717"/>
      </a:dk1>
      <a:lt1>
        <a:srgbClr val="FAF7F2"/>
      </a:lt1>
      <a:dk2>
        <a:srgbClr val="1F497D"/>
      </a:dk2>
      <a:lt2>
        <a:srgbClr val="FAF7F2"/>
      </a:lt2>
      <a:accent1>
        <a:srgbClr val="BD3800"/>
      </a:accent1>
      <a:accent2>
        <a:srgbClr val="2A78B8"/>
      </a:accent2>
      <a:accent3>
        <a:srgbClr val="F2D8CA"/>
      </a:accent3>
      <a:accent4>
        <a:srgbClr val="BD3800"/>
      </a:accent4>
      <a:accent5>
        <a:srgbClr val="D8CEC4"/>
      </a:accent5>
      <a:accent6>
        <a:srgbClr val="DCEAF5"/>
      </a:accent6>
      <a:hlink>
        <a:srgbClr val="2A78B8"/>
      </a:hlink>
      <a:folHlink>
        <a:srgbClr val="F2D8CA"/>
      </a:folHlink>
    </a:clrScheme>
    <a:fontScheme name="condygnet_ijcai2026_v3">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ondygnet_ijcai2026_v3">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51a98eda87e4442" /><Relationship Type="http://schemas.openxmlformats.org/officeDocument/2006/relationships/notesMaster" Target="/ppt/notesMasters/notesMaster1.xml" Id="R8eaebd57d9314e75" /></Relationships>
</file>

<file path=ppt/notesSlides/_rels/notesSlide2.xml.rels>&#65279;<?xml version="1.0" encoding="utf-8"?><Relationships xmlns="http://schemas.openxmlformats.org/package/2006/relationships"><Relationship Type="http://schemas.openxmlformats.org/officeDocument/2006/relationships/slide" Target="/ppt/slides/slide2.xml" Id="R1b87690289dd4dea" /><Relationship Type="http://schemas.openxmlformats.org/officeDocument/2006/relationships/notesMaster" Target="/ppt/notesMasters/notesMaster1.xml" Id="R80642a0b316b46b7" /></Relationships>
</file>

<file path=ppt/notesSlides/_rels/notesSlide3.xml.rels>&#65279;<?xml version="1.0" encoding="utf-8"?><Relationships xmlns="http://schemas.openxmlformats.org/package/2006/relationships"><Relationship Type="http://schemas.openxmlformats.org/officeDocument/2006/relationships/slide" Target="/ppt/slides/slide3.xml" Id="Rfc6a078341e14050" /><Relationship Type="http://schemas.openxmlformats.org/officeDocument/2006/relationships/notesMaster" Target="/ppt/notesMasters/notesMaster1.xml" Id="Rb8ad272687c64339" /></Relationships>
</file>

<file path=ppt/notesSlides/_rels/notesSlide4.xml.rels>&#65279;<?xml version="1.0" encoding="utf-8"?><Relationships xmlns="http://schemas.openxmlformats.org/package/2006/relationships"><Relationship Type="http://schemas.openxmlformats.org/officeDocument/2006/relationships/slide" Target="/ppt/slides/slide4.xml" Id="R31491808b8e842c8" /><Relationship Type="http://schemas.openxmlformats.org/officeDocument/2006/relationships/notesMaster" Target="/ppt/notesMasters/notesMaster1.xml" Id="R5b41c66448e64c56" /></Relationships>
</file>

<file path=ppt/notesSlides/_rels/notesSlide5.xml.rels>&#65279;<?xml version="1.0" encoding="utf-8"?><Relationships xmlns="http://schemas.openxmlformats.org/package/2006/relationships"><Relationship Type="http://schemas.openxmlformats.org/officeDocument/2006/relationships/slide" Target="/ppt/slides/slide5.xml" Id="Rcb7b158b28084b49" /><Relationship Type="http://schemas.openxmlformats.org/officeDocument/2006/relationships/notesMaster" Target="/ppt/notesMasters/notesMaster1.xml" Id="R8e90519ba0894db4" /></Relationships>
</file>

<file path=ppt/notesSlides/_rels/notesSlide6.xml.rels>&#65279;<?xml version="1.0" encoding="utf-8"?><Relationships xmlns="http://schemas.openxmlformats.org/package/2006/relationships"><Relationship Type="http://schemas.openxmlformats.org/officeDocument/2006/relationships/slide" Target="/ppt/slides/slide6.xml" Id="R826b43520f8d46ef" /><Relationship Type="http://schemas.openxmlformats.org/officeDocument/2006/relationships/notesMaster" Target="/ppt/notesMasters/notesMaster1.xml" Id="R0ad94ede335746da" /></Relationships>
</file>

<file path=ppt/notesSlides/_rels/notesSlide7.xml.rels>&#65279;<?xml version="1.0" encoding="utf-8"?><Relationships xmlns="http://schemas.openxmlformats.org/package/2006/relationships"><Relationship Type="http://schemas.openxmlformats.org/officeDocument/2006/relationships/slide" Target="/ppt/slides/slide7.xml" Id="R77443f5a2fea4a0f" /><Relationship Type="http://schemas.openxmlformats.org/officeDocument/2006/relationships/notesMaster" Target="/ppt/notesMasters/notesMaster1.xml" Id="R37f5840ab5a7488d" /></Relationships>
</file>

<file path=ppt/notesSlides/_rels/notesSlide8.xml.rels>&#65279;<?xml version="1.0" encoding="utf-8"?><Relationships xmlns="http://schemas.openxmlformats.org/package/2006/relationships"><Relationship Type="http://schemas.openxmlformats.org/officeDocument/2006/relationships/slide" Target="/ppt/slides/slide8.xml" Id="R660b7a2f493f451c" /><Relationship Type="http://schemas.openxmlformats.org/officeDocument/2006/relationships/notesMaster" Target="/ppt/notesMasters/notesMaster1.xml" Id="R375175ea88264d1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Good morning. I am Zhenzhou Li, and today I will present ConDyGNet for multivariate time-series forecasting. The problem is not simply to learn inter-channel relations, but to let those relations change over time without allowing short-window noise to dominate the graph. Our answer is a global low-rank structural basis that constrains what may change, together with patch-wise routing that preserves local adaptivity.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Inter-channel relations are genuinely time-varying, so one static graph cannot represent every local regime. However, a fully unconstrained graph estimated from a short patch may treat accidental correlation as structure, and message passing can amplify those false edges. Figure one visualizes both sides of this tension: relations change from window to window, yet the useful graph should remain close to a reliable global pattern. The target is therefore local adaptation without topological drift.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This is the full forecasting pipeline, moved forward so we can locate the main contribution before looking at equations. Patch embedding first turns each channel into local tokens. Constrained structure learning then produces one sparse directed graph for each patch; that graph controls multi-hop information exchange across channels. Finally, channel-wise temporal attention models long-range dynamics and the linear head produces the forecast. The constraint is therefore applied before propagation, not added afterward as a regularizer.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The reliable search space is built once from the training split. First, average pooling removes slow trends, leaving residual co-movements that better reflect structural relations. Second, non-negative cosine affinity converts those residuals into a global structural prior. Third, eigendecomposition extracts the dominant rank-R subspace, and the learnable matrix Q may rotate or reweight those modes through E equals E zero Q. Learning remains flexible, but it cannot drift outside the dominant structural subspace, reducing patch-wise freedom from the full C-squared topology space toward C times 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Each patch uses the same compact structural vocabulary in a different way. For one channel, the model reads its local patch state, compares it with reusable structural modes, converts those comparisons into soft routing weights, and mixes rows of the shared basis bank. Row-wise top-k selection then keeps only the strongest directed relations. Equation eight is the single mathematical summary: routing weights mix the shared basis into patch-specific structural evidence. A separate intensity branch reweights retained edges, but the constrained mixer decides which relations are eligible to appear.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The benchmark is deliberately cross-family. Following the baseline taxonomy in our paper, TimeFilter and MSGNet are graph-based methods; TimeXer, iTransformer, and PatchTST are Transformer-based; DUET and SOFTS are MLP-based; TimesNet is CNN-based; and DLinear is shown as the linear baseline. ConDyGNet combines graph propagation with channel-wise Transformer-style temporal attention. The editable table averages the thirty-two dataset-horizon entries from Table one. Lower is better, and ConDyGNet has the lowest aggregate MSE and MAE across this heterogeneous comparison set.</a:t>
            </a:r>
          </a:p>
          <a:p xmlns:a="http://schemas.openxmlformats.org/drawingml/2006/main">
            <a:pPr>
              <a:buNone/>
            </a:pPr>
            <a:r>
              <a:t/>
            </a:r>
          </a:p>
          <a:p xmlns:a="http://schemas.openxmlformats.org/drawingml/2006/main">
            <a:pPr>
              <a:buNone/>
            </a:pPr>
            <a:r>
              <a:t>[Sources]</a:t>
            </a:r>
          </a:p>
          <a:p xmlns:a="http://schemas.openxmlformats.org/drawingml/2006/main">
            <a:pPr>
              <a:buNone/>
            </a:pPr>
            <a:r>
              <a:t>- https://proceedings.mlr.press/v267/hu25ac.html</a:t>
            </a:r>
          </a:p>
          <a:p xmlns:a="http://schemas.openxmlformats.org/drawingml/2006/main">
            <a:pPr>
              <a:buNone/>
            </a:pPr>
            <a:r>
              <a:t>- https://proceedings.neurips.cc/paper_files/paper/2024/hash/754612bde73a8b65ad8743f1f6d8ddf6-Abstract-Conference.html</a:t>
            </a:r>
          </a:p>
          <a:p xmlns:a="http://schemas.openxmlformats.org/drawingml/2006/main">
            <a:pPr>
              <a:buNone/>
            </a:pPr>
            <a:r>
              <a:t>- https://proceedings.neurips.cc/paper_files/paper/2024/hash/0113ef4642264adc2e6924a3cbbdf532-Abstract-Conference.html</a:t>
            </a:r>
          </a:p>
          <a:p xmlns:a="http://schemas.openxmlformats.org/drawingml/2006/main">
            <a:pPr>
              <a:buNone/>
            </a:pPr>
            <a:r>
              <a:t>- https://doi.org/10.1145/3690624.3709325</a:t>
            </a:r>
          </a:p>
          <a:p xmlns:a="http://schemas.openxmlformats.org/drawingml/2006/main">
            <a:pPr>
              <a:buNone/>
            </a:pPr>
            <a:r>
              <a:t>- https://proceedings.iclr.cc/paper_files/paper/2024/hash/2ea18fdc667e0ef2ad82b2b4d65147ad-Abstract-Conference.html</a:t>
            </a:r>
          </a:p>
          <a:p xmlns:a="http://schemas.openxmlformats.org/drawingml/2006/main">
            <a:pPr>
              <a:buNone/>
            </a:pPr>
            <a:r>
              <a:t>- https://iclr.cc/virtual/2023/poster/10876</a:t>
            </a:r>
          </a:p>
          <a:p xmlns:a="http://schemas.openxmlformats.org/drawingml/2006/main">
            <a:pPr>
              <a:buNone/>
            </a:pPr>
            <a:r>
              <a:t>- https://ojs.aaai.org/index.php/AAAI/article/view/28991</a:t>
            </a:r>
          </a:p>
          <a:p xmlns:a="http://schemas.openxmlformats.org/drawingml/2006/main">
            <a:pPr>
              <a:buNone/>
            </a:pPr>
            <a:r>
              <a:t>- https://iclr.cc/virtual/2023/poster/11976</a:t>
            </a:r>
          </a:p>
          <a:p xmlns:a="http://schemas.openxmlformats.org/drawingml/2006/main">
            <a:pPr>
              <a:buNone/>
            </a:pPr>
            <a:r>
              <a:t>- https://ojs.aaai.org/index.php/AAAI/article/view/26317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I will close with three complementary experiments. Under missing-block corruption, ConDyGNet degrades more slowly than TimeFilter and MSGNet. The rank study shows that capacity should be neither too small nor unconstrained, with around sixteen giving the best balance here. Finally, routing weights concentrate on a few basis modes and vary across patches, showing selective rather than arbitrary adaptation. Together, the studies support the central claim: dynamic graphs work better when they evolve inside a compact structural subspace. Thank you, and I welcome your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This concludes my presentation. Thank you for listening. I would be happy to take your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71520d686054d9c" /></Relationships>
</file>

<file path=ppt/slideLayouts/slideLayout1.xml><?xml version="1.0" encoding="utf-8"?>
<p:sldLayout xmlns:p="http://schemas.openxmlformats.org/presentationml/2006/main" type="blank" preserve="1">
  <p:cSld name="condygnet_ijcai2026_v3 — 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6706CDEF-4EBC-4FEC-8498-AD0E01ADCD6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p:txBody>
      </p:sp>
      <p:sp>
        <p:nvSpPr>
          <p:cNvPr id="3" name="Footer Placeholder 2">
            <a:extLst xmlns:a="http://schemas.openxmlformats.org/drawingml/2006/main">
              <a:ext uri="{FF2B5EF4-FFF2-40B4-BE49-F238E27FC236}">
                <a16:creationId xmlns:a16="http://schemas.microsoft.com/office/drawing/2014/main" id="{BF32C72F-CE5D-4C4B-B199-B3F3C5E4F4D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4" name="Slide Number Placeholder 3">
            <a:extLst xmlns:a="http://schemas.openxmlformats.org/drawingml/2006/main">
              <a:ext uri="{FF2B5EF4-FFF2-40B4-BE49-F238E27FC236}">
                <a16:creationId xmlns:a16="http://schemas.microsoft.com/office/drawing/2014/main" id="{7AABB713-CAD2-4371-8849-D7BD452A199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54a248295204924" /><Relationship Type="http://schemas.openxmlformats.org/officeDocument/2006/relationships/slideLayout" Target="/ppt/slideLayouts/slideLayout1.xml" Id="Reb38bcae565b4e0e"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4" name="Date Placeholder 3">
            <a:extLst xmlns:a="http://schemas.openxmlformats.org/drawingml/2006/main">
              <a:ext uri="{FF2B5EF4-FFF2-40B4-BE49-F238E27FC236}">
                <a16:creationId xmlns:a16="http://schemas.microsoft.com/office/drawing/2014/main" id="{FF3A943C-EECB-4C3F-B80D-5C4D4D335381}"/>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p:txBody>
      </p:sp>
      <p:sp>
        <p:nvSpPr>
          <p:cNvPr id="5" name="Footer Placeholder 4">
            <a:extLst xmlns:a="http://schemas.openxmlformats.org/drawingml/2006/main">
              <a:ext uri="{FF2B5EF4-FFF2-40B4-BE49-F238E27FC236}">
                <a16:creationId xmlns:a16="http://schemas.microsoft.com/office/drawing/2014/main" id="{585C75AE-F3AF-4B20-B3D7-6A9DC95959A1}"/>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B31988BD-887E-475C-B52E-E21E7B43F1D4}"/>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b38bcae565b4e0e"/>
  </p:sldLayoutIdLst>
  <p:txStyles>
    <p:titleStyle>
      <a:lvl1pPr xmlns:a="http://schemas.openxmlformats.org/drawingml/2006/main" algn="ctr" defTabSz="457200">
        <a:spcBef>
          <a:spcPct val="0"/>
        </a:spcBef>
        <a:buNone/>
        <a:defRPr sz="285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18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17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16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145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135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125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11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1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9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700" kern="1200">
          <a:solidFill>
            <a:schemeClr val="tx1"/>
          </a:solidFill>
          <a:latin typeface="+mn-lt"/>
          <a:ea typeface="+mn-lt"/>
          <a:cs typeface="+mn-lt"/>
        </a:defRPr>
      </a:lvl2pPr>
      <a:lvl3pPr xmlns:a="http://schemas.openxmlformats.org/drawingml/2006/main" marL="914400" algn="l" defTabSz="457200">
        <a:buNone/>
        <a:defRPr sz="1600" kern="1200">
          <a:solidFill>
            <a:schemeClr val="tx1"/>
          </a:solidFill>
          <a:latin typeface="+mn-lt"/>
          <a:ea typeface="+mn-lt"/>
          <a:cs typeface="+mn-lt"/>
        </a:defRPr>
      </a:lvl3pPr>
      <a:lvl4pPr xmlns:a="http://schemas.openxmlformats.org/drawingml/2006/main" marL="1371600" algn="l" defTabSz="457200">
        <a:buNone/>
        <a:defRPr sz="1450" kern="1200">
          <a:solidFill>
            <a:schemeClr val="tx1"/>
          </a:solidFill>
          <a:latin typeface="+mn-lt"/>
          <a:ea typeface="+mn-lt"/>
          <a:cs typeface="+mn-lt"/>
        </a:defRPr>
      </a:lvl4pPr>
      <a:lvl5pPr xmlns:a="http://schemas.openxmlformats.org/drawingml/2006/main" marL="1828800" algn="l" defTabSz="457200">
        <a:buNone/>
        <a:defRPr sz="1350" kern="1200">
          <a:solidFill>
            <a:schemeClr val="tx1"/>
          </a:solidFill>
          <a:latin typeface="+mn-lt"/>
          <a:ea typeface="+mn-lt"/>
          <a:cs typeface="+mn-lt"/>
        </a:defRPr>
      </a:lvl5pPr>
      <a:lvl6pPr xmlns:a="http://schemas.openxmlformats.org/drawingml/2006/main" marL="2286000" algn="l" defTabSz="457200">
        <a:buNone/>
        <a:defRPr sz="1250" kern="1200">
          <a:solidFill>
            <a:schemeClr val="tx1"/>
          </a:solidFill>
          <a:latin typeface="+mn-lt"/>
          <a:ea typeface="+mn-lt"/>
          <a:cs typeface="+mn-lt"/>
        </a:defRPr>
      </a:lvl6pPr>
      <a:lvl7pPr xmlns:a="http://schemas.openxmlformats.org/drawingml/2006/main" marL="2743200" algn="l" defTabSz="457200">
        <a:buNone/>
        <a:defRPr sz="1100" kern="1200">
          <a:solidFill>
            <a:schemeClr val="tx1"/>
          </a:solidFill>
          <a:latin typeface="+mn-lt"/>
          <a:ea typeface="+mn-lt"/>
          <a:cs typeface="+mn-lt"/>
        </a:defRPr>
      </a:lvl7pPr>
      <a:lvl8pPr xmlns:a="http://schemas.openxmlformats.org/drawingml/2006/main" marL="3200400" algn="l" defTabSz="457200">
        <a:buNone/>
        <a:defRPr sz="1000" kern="1200">
          <a:solidFill>
            <a:schemeClr val="tx1"/>
          </a:solidFill>
          <a:latin typeface="+mn-lt"/>
          <a:ea typeface="+mn-lt"/>
          <a:cs typeface="+mn-lt"/>
        </a:defRPr>
      </a:lvl8pPr>
      <a:lvl9pPr xmlns:a="http://schemas.openxmlformats.org/drawingml/2006/main" marL="3657600" algn="l" defTabSz="457200">
        <a:buNone/>
        <a:defRPr sz="9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ondygnet_ijcai2026_v3">
  <a:themeElements>
    <a:clrScheme name="condygnet_ijcai2026_v3">
      <a:dk1>
        <a:srgbClr val="171717"/>
      </a:dk1>
      <a:lt1>
        <a:srgbClr val="FAF7F2"/>
      </a:lt1>
      <a:dk2>
        <a:srgbClr val="1F497D"/>
      </a:dk2>
      <a:lt2>
        <a:srgbClr val="FAF7F2"/>
      </a:lt2>
      <a:accent1>
        <a:srgbClr val="BD3800"/>
      </a:accent1>
      <a:accent2>
        <a:srgbClr val="2A78B8"/>
      </a:accent2>
      <a:accent3>
        <a:srgbClr val="F2D8CA"/>
      </a:accent3>
      <a:accent4>
        <a:srgbClr val="BD3800"/>
      </a:accent4>
      <a:accent5>
        <a:srgbClr val="D8CEC4"/>
      </a:accent5>
      <a:accent6>
        <a:srgbClr val="DCEAF5"/>
      </a:accent6>
      <a:hlink>
        <a:srgbClr val="2A78B8"/>
      </a:hlink>
      <a:folHlink>
        <a:srgbClr val="F2D8CA"/>
      </a:folHlink>
    </a:clrScheme>
    <a:fontScheme name="condygnet_ijcai2026_v3">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ondygnet_ijcai2026_v3">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a4411eb852e4da3" /><Relationship Type="http://schemas.openxmlformats.org/officeDocument/2006/relationships/image" Target="/ppt/media/image.png" Id="R0db2f7b2a5c84b35" /><Relationship Type="http://schemas.openxmlformats.org/officeDocument/2006/relationships/notesSlide" Target="/ppt/notesSlides/notesSlide1.xml" Id="R8c3917f28e364e6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864b5c53f2249f9" /><Relationship Type="http://schemas.openxmlformats.org/officeDocument/2006/relationships/image" Target="/ppt/media/image2.png" Id="R4b0cf8b3bd374e78" /><Relationship Type="http://schemas.openxmlformats.org/officeDocument/2006/relationships/notesSlide" Target="/ppt/notesSlides/notesSlide2.xml" Id="R04186017fd25416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1f6895fa71f44a8" /><Relationship Type="http://schemas.openxmlformats.org/officeDocument/2006/relationships/image" Target="/ppt/media/image3.png" Id="R221a4c2d268e40fb" /><Relationship Type="http://schemas.openxmlformats.org/officeDocument/2006/relationships/notesSlide" Target="/ppt/notesSlides/notesSlide3.xml" Id="R3a9f0fd74f994f4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bfb8a7332a14086" /><Relationship Type="http://schemas.openxmlformats.org/officeDocument/2006/relationships/image" Target="/ppt/media/image4.png" Id="R4ef9e2871e2849b2" /><Relationship Type="http://schemas.openxmlformats.org/officeDocument/2006/relationships/image" Target="/ppt/media/image5.png" Id="Ra7f49872c43446c3" /><Relationship Type="http://schemas.openxmlformats.org/officeDocument/2006/relationships/image" Target="/ppt/media/image6.png" Id="R8d5195651d9542cc" /><Relationship Type="http://schemas.openxmlformats.org/officeDocument/2006/relationships/notesSlide" Target="/ppt/notesSlides/notesSlide4.xml" Id="R4f090dbf9d0244b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d905fd9b4f14d47" /><Relationship Type="http://schemas.openxmlformats.org/officeDocument/2006/relationships/image" Target="/ppt/media/image7.png" Id="R05fcb17dd8964baf" /><Relationship Type="http://schemas.openxmlformats.org/officeDocument/2006/relationships/notesSlide" Target="/ppt/notesSlides/notesSlide5.xml" Id="R6e33ba4e3179475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2c3a5444b6a48bb" /><Relationship Type="http://schemas.openxmlformats.org/officeDocument/2006/relationships/notesSlide" Target="/ppt/notesSlides/notesSlide6.xml" Id="R61d70abc79a84f9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4530fa4f86e48ad" /><Relationship Type="http://schemas.openxmlformats.org/officeDocument/2006/relationships/image" Target="/ppt/media/image8.png" Id="R38f08e9dc0b14873" /><Relationship Type="http://schemas.openxmlformats.org/officeDocument/2006/relationships/image" Target="/ppt/media/image9.png" Id="R47eae2ad1ee74321" /><Relationship Type="http://schemas.openxmlformats.org/officeDocument/2006/relationships/image" Target="/ppt/media/image10.png" Id="R8732ef11977f4a2d" /><Relationship Type="http://schemas.openxmlformats.org/officeDocument/2006/relationships/notesSlide" Target="/ppt/notesSlides/notesSlide7.xml" Id="Rfd39d0f7f44346b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20e5a2a216b4c35" /><Relationship Type="http://schemas.openxmlformats.org/officeDocument/2006/relationships/image" Target="/ppt/media/image.png" Id="R41ed08f908e14c0f" /><Relationship Type="http://schemas.openxmlformats.org/officeDocument/2006/relationships/notesSlide" Target="/ppt/notesSlides/notesSlide8.xml" Id="R365180bd6c214557" /></Relationships>
</file>

<file path=ppt/slides/slide1.xml><?xml version="1.0" encoding="utf-8"?>
<p:sld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
        <p:nvSpPr>
          <p:cNvPr id="2" name="Rectangle 2">
            <a:extLst xmlns:a="http://schemas.openxmlformats.org/drawingml/2006/main">
              <a:ext uri="{FF2B5EF4-FFF2-40B4-BE49-F238E27FC236}">
                <a16:creationId xmlns:a16="http://schemas.microsoft.com/office/drawing/2014/main" id="{7F1127F6-9B74-4C9E-9C2A-DDD71EC19598}"/>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chemeClr val="accent1"/>
          </a:solidFill>
          <a:ln xmlns:a="http://schemas.openxmlformats.org/drawingml/2006/main">
            <a:noFill/>
          </a:ln>
        </p:spPr>
      </p:sp>
      <p:sp>
        <p:nvSpPr>
          <p:cNvPr id="3" name="TextBox 3">
            <a:extLst xmlns:a="http://schemas.openxmlformats.org/drawingml/2006/main">
              <a:ext uri="{FF2B5EF4-FFF2-40B4-BE49-F238E27FC236}">
                <a16:creationId xmlns:a16="http://schemas.microsoft.com/office/drawing/2014/main" id="{7D987BD9-E986-49BB-B7A5-73BA624B5ED1}"/>
              </a:ext>
            </a:extLst>
          </p:cNvPr>
          <p:cNvSpPr>
            <a:spLocks xmlns:a="http://schemas.openxmlformats.org/drawingml/2006/main" noGrp="1"/>
          </p:cNvSpPr>
          <p:nvPr/>
        </p:nvSpPr>
        <p:spPr>
          <a:xfrm xmlns:a="http://schemas.openxmlformats.org/drawingml/2006/main">
            <a:off x="716280" y="561975"/>
            <a:ext cx="3194050" cy="23050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500" b="1">
                <a:solidFill>
                  <a:schemeClr val="accent1"/>
                </a:solidFill>
                <a:latin typeface="+mn-lt"/>
                <a:ea typeface="+mn-lt"/>
                <a:cs typeface="+mn-lt"/>
              </a:rPr>
              <a:t>TIME SERIES AND DATA STREAMS</a:t>
            </a:r>
            <a:endParaRPr sz="1500" b="1">
              <a:solidFill>
                <a:schemeClr val="accent1"/>
              </a:solidFill>
              <a:latin typeface="+mn-lt"/>
              <a:ea typeface="+mn-lt"/>
              <a:cs typeface="+mn-lt"/>
            </a:endParaRPr>
          </a:p>
        </p:txBody>
      </p:sp>
      <p:pic>
        <p:nvPicPr>
          <p:cNvPr id="18" name="Image 5"/>
          <p:cNvPicPr>
            <a:picLocks xmlns:a="http://schemas.openxmlformats.org/drawingml/2006/main" noChangeAspect="1"/>
          </p:cNvPicPr>
          <p:nvPr/>
        </p:nvPicPr>
        <p:blipFill>
          <a:blip xmlns:r="http://schemas.openxmlformats.org/officeDocument/2006/relationships" xmlns:a="http://schemas.openxmlformats.org/drawingml/2006/main" r:embed="R0db2f7b2a5c84b35"/>
          <a:stretch xmlns:a="http://schemas.openxmlformats.org/drawingml/2006/main">
            <a:fillRect l="0" t="0" r="0" b="0"/>
          </a:stretch>
        </p:blipFill>
        <p:spPr>
          <a:xfrm xmlns:a="http://schemas.openxmlformats.org/drawingml/2006/main">
            <a:off x="9525000" y="250845"/>
            <a:ext cx="2076450" cy="793711"/>
          </a:xfrm>
          <a:prstGeom xmlns:a="http://schemas.openxmlformats.org/drawingml/2006/main" prst="rect">
            <a:avLst/>
          </a:prstGeom>
        </p:spPr>
      </p:pic>
      <p:sp>
        <p:nvSpPr>
          <p:cNvPr id="6" name="TextBox 6">
            <a:extLst xmlns:a="http://schemas.openxmlformats.org/drawingml/2006/main">
              <a:ext uri="{FF2B5EF4-FFF2-40B4-BE49-F238E27FC236}">
                <a16:creationId xmlns:a16="http://schemas.microsoft.com/office/drawing/2014/main" id="{57B3B9EE-7EC6-467A-8D97-E253872932E0}"/>
              </a:ext>
            </a:extLst>
          </p:cNvPr>
          <p:cNvSpPr>
            <a:spLocks xmlns:a="http://schemas.openxmlformats.org/drawingml/2006/main" noGrp="1"/>
          </p:cNvSpPr>
          <p:nvPr/>
        </p:nvSpPr>
        <p:spPr>
          <a:xfrm xmlns:a="http://schemas.openxmlformats.org/drawingml/2006/main">
            <a:off x="704850" y="1165860"/>
            <a:ext cx="10091356" cy="18859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lnSpc>
                <a:spcPts val="4200"/>
              </a:lnSpc>
              <a:buNone/>
            </a:pPr>
            <a:r>
              <a:rPr sz="4200" b="1">
                <a:solidFill>
                  <a:schemeClr val="dk1"/>
                </a:solidFill>
                <a:latin typeface="+mn-lt"/>
                <a:ea typeface="+mn-lt"/>
                <a:cs typeface="+mn-lt"/>
              </a:rPr>
              <a:t>ConDyGNet: Constraint-Guided</a:t>
            </a:r>
            <a:br/>
            <a:r>
              <a:rPr sz="4200" b="1">
                <a:solidFill>
                  <a:schemeClr val="dk1"/>
                </a:solidFill>
                <a:latin typeface="+mn-lt"/>
                <a:ea typeface="+mn-lt"/>
                <a:cs typeface="+mn-lt"/>
              </a:rPr>
              <a:t>Dynamic Graph Networks for</a:t>
            </a:r>
            <a:br/>
            <a:r>
              <a:rPr sz="4200" b="1">
                <a:solidFill>
                  <a:schemeClr val="dk1"/>
                </a:solidFill>
                <a:latin typeface="+mn-lt"/>
                <a:ea typeface="+mn-lt"/>
                <a:cs typeface="+mn-lt"/>
              </a:rPr>
              <a:t>Multivariate Time Series Forecasting</a:t>
            </a:r>
            <a:endParaRPr sz="4200" b="1">
              <a:solidFill>
                <a:schemeClr val="dk1"/>
              </a:solidFill>
              <a:latin typeface="+mn-lt"/>
              <a:ea typeface="+mn-lt"/>
              <a:cs typeface="+mn-lt"/>
            </a:endParaRPr>
          </a:p>
        </p:txBody>
      </p:sp>
      <p:sp>
        <p:nvSpPr>
          <p:cNvPr id="7" name="Line 7">
            <a:extLst xmlns:a="http://schemas.openxmlformats.org/drawingml/2006/main">
              <a:ext uri="{FF2B5EF4-FFF2-40B4-BE49-F238E27FC236}">
                <a16:creationId xmlns:a16="http://schemas.microsoft.com/office/drawing/2014/main" id="{2E399BD7-D8B1-4661-86D0-DE01B785A095}"/>
              </a:ext>
            </a:extLst>
          </p:cNvPr>
          <p:cNvSpPr>
            <a:spLocks xmlns:a="http://schemas.openxmlformats.org/drawingml/2006/main" noGrp="1"/>
          </p:cNvSpPr>
          <p:nvPr/>
        </p:nvSpPr>
        <p:spPr>
          <a:xfrm xmlns:a="http://schemas.openxmlformats.org/drawingml/2006/main">
            <a:off x="723900" y="3181350"/>
            <a:ext cx="10001250" cy="9525"/>
          </a:xfrm>
          <a:custGeom xmlns:a="http://schemas.openxmlformats.org/drawingml/2006/main">
            <a:rect l="l" t="t" r="r" b="b"/>
            <a:pathLst>
              <a:path w="10001250" h="9525">
                <a:moveTo>
                  <a:pt x="0" y="0"/>
                </a:moveTo>
                <a:lnTo>
                  <a:pt x="10001250" y="0"/>
                </a:lnTo>
              </a:path>
            </a:pathLst>
          </a:custGeom>
          <a:noFill xmlns:a="http://schemas.openxmlformats.org/drawingml/2006/main"/>
          <a:ln xmlns:a="http://schemas.openxmlformats.org/drawingml/2006/main" w="38100">
            <a:solidFill>
              <a:schemeClr val="accent1"/>
            </a:solidFill>
          </a:ln>
        </p:spPr>
      </p:sp>
      <p:sp>
        <p:nvSpPr>
          <p:cNvPr id="9" name="TextBox 9">
            <a:extLst xmlns:a="http://schemas.openxmlformats.org/drawingml/2006/main">
              <a:ext uri="{FF2B5EF4-FFF2-40B4-BE49-F238E27FC236}">
                <a16:creationId xmlns:a16="http://schemas.microsoft.com/office/drawing/2014/main" id="{DF39DF0E-1270-4F4B-96CA-06F4A5CA191C}"/>
              </a:ext>
            </a:extLst>
          </p:cNvPr>
          <p:cNvSpPr>
            <a:spLocks xmlns:a="http://schemas.openxmlformats.org/drawingml/2006/main" noGrp="1"/>
          </p:cNvSpPr>
          <p:nvPr/>
        </p:nvSpPr>
        <p:spPr>
          <a:xfrm xmlns:a="http://schemas.openxmlformats.org/drawingml/2006/main">
            <a:off x="713994" y="3428048"/>
            <a:ext cx="10099167" cy="686181"/>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lnSpc>
                <a:spcPts val="2400"/>
              </a:lnSpc>
              <a:buNone/>
            </a:pPr>
            <a:r>
              <a:rPr sz="1950" i="1">
                <a:solidFill>
                  <a:schemeClr val="accent1"/>
                </a:solidFill>
                <a:latin typeface="+mn-lt"/>
                <a:ea typeface="+mn-lt"/>
                <a:cs typeface="+mn-lt"/>
              </a:rPr>
              <a:t>A global low-rank basis stabilizes patch-wise dynamic graphs—preserving adaptivity</a:t>
            </a:r>
            <a:br/>
            <a:r>
              <a:rPr sz="1950" i="1">
                <a:solidFill>
                  <a:schemeClr val="accent1"/>
                </a:solidFill>
                <a:latin typeface="+mn-lt"/>
                <a:ea typeface="+mn-lt"/>
                <a:cs typeface="+mn-lt"/>
              </a:rPr>
              <a:t>while filtering noise.</a:t>
            </a:r>
            <a:endParaRPr sz="1950" i="1">
              <a:solidFill>
                <a:schemeClr val="accent1"/>
              </a:solidFill>
              <a:latin typeface="+mn-lt"/>
              <a:ea typeface="+mn-lt"/>
              <a:cs typeface="+mn-lt"/>
            </a:endParaRPr>
          </a:p>
        </p:txBody>
      </p:sp>
      <p:sp>
        <p:nvSpPr>
          <p:cNvPr id="11" name="TextBox 11">
            <a:extLst xmlns:a="http://schemas.openxmlformats.org/drawingml/2006/main">
              <a:ext uri="{FF2B5EF4-FFF2-40B4-BE49-F238E27FC236}">
                <a16:creationId xmlns:a16="http://schemas.microsoft.com/office/drawing/2014/main" id="{3C136D13-AC11-4994-9BE3-AF5136C756CA}"/>
              </a:ext>
            </a:extLst>
          </p:cNvPr>
          <p:cNvSpPr>
            <a:spLocks xmlns:a="http://schemas.openxmlformats.org/drawingml/2006/main" noGrp="1"/>
          </p:cNvSpPr>
          <p:nvPr/>
        </p:nvSpPr>
        <p:spPr>
          <a:xfrm xmlns:a="http://schemas.openxmlformats.org/drawingml/2006/main">
            <a:off x="713994" y="4418648"/>
            <a:ext cx="4934346" cy="381381"/>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950" b="1">
                <a:solidFill>
                  <a:schemeClr val="dk1"/>
                </a:solidFill>
                <a:latin typeface="+mn-lt"/>
                <a:ea typeface="+mn-lt"/>
                <a:cs typeface="+mn-lt"/>
              </a:rPr>
              <a:t>Zhenzhou Li¹ Xiang Li²˒³ Zhibin Niu¹*</a:t>
            </a:r>
            <a:endParaRPr sz="1950" b="1">
              <a:solidFill>
                <a:schemeClr val="dk1"/>
              </a:solidFill>
              <a:latin typeface="+mn-lt"/>
              <a:ea typeface="+mn-lt"/>
              <a:cs typeface="+mn-lt"/>
            </a:endParaRPr>
          </a:p>
        </p:txBody>
      </p:sp>
      <p:sp>
        <p:nvSpPr>
          <p:cNvPr id="12" name="TextBox 12">
            <a:extLst xmlns:a="http://schemas.openxmlformats.org/drawingml/2006/main">
              <a:ext uri="{FF2B5EF4-FFF2-40B4-BE49-F238E27FC236}">
                <a16:creationId xmlns:a16="http://schemas.microsoft.com/office/drawing/2014/main" id="{E92CADD2-A53F-4895-9DCA-52D276B8AA2A}"/>
              </a:ext>
            </a:extLst>
          </p:cNvPr>
          <p:cNvSpPr>
            <a:spLocks xmlns:a="http://schemas.openxmlformats.org/drawingml/2006/main" noGrp="1"/>
          </p:cNvSpPr>
          <p:nvPr/>
        </p:nvSpPr>
        <p:spPr>
          <a:xfrm xmlns:a="http://schemas.openxmlformats.org/drawingml/2006/main">
            <a:off x="717042" y="4845368"/>
            <a:ext cx="7498537"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a:solidFill>
                  <a:srgbClr val="5E5A55"/>
                </a:solidFill>
                <a:latin typeface="+mn-lt"/>
                <a:ea typeface="+mn-lt"/>
                <a:cs typeface="+mn-lt"/>
              </a:rPr>
              <a:t>¹ Tianjin University · ² China Iron and Steel Research Institute Group · ³ UC Berkeley</a:t>
            </a:r>
            <a:endParaRPr sz="1350">
              <a:solidFill>
                <a:srgbClr val="5E5A55"/>
              </a:solidFill>
              <a:latin typeface="+mn-lt"/>
              <a:ea typeface="+mn-lt"/>
              <a:cs typeface="+mn-lt"/>
            </a:endParaRPr>
          </a:p>
        </p:txBody>
      </p:sp>
      <p:sp>
        <p:nvSpPr>
          <p:cNvPr id="14" name="TextBox 14">
            <a:extLst xmlns:a="http://schemas.openxmlformats.org/drawingml/2006/main">
              <a:ext uri="{FF2B5EF4-FFF2-40B4-BE49-F238E27FC236}">
                <a16:creationId xmlns:a16="http://schemas.microsoft.com/office/drawing/2014/main" id="{B2EBD4C5-94A3-4A6E-B2A0-914E42D2CDD1}"/>
              </a:ext>
            </a:extLst>
          </p:cNvPr>
          <p:cNvSpPr>
            <a:spLocks xmlns:a="http://schemas.openxmlformats.org/drawingml/2006/main" noGrp="1"/>
          </p:cNvSpPr>
          <p:nvPr/>
        </p:nvSpPr>
        <p:spPr>
          <a:xfrm xmlns:a="http://schemas.openxmlformats.org/drawingml/2006/main">
            <a:off x="717042" y="6226492"/>
            <a:ext cx="2296311"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rgbClr val="5E5A55"/>
                </a:solidFill>
                <a:latin typeface="+mn-lt"/>
                <a:ea typeface="+mn-lt"/>
                <a:cs typeface="+mn-lt"/>
              </a:rPr>
              <a:t>Bremen · 18 August 2026</a:t>
            </a:r>
            <a:endParaRPr sz="1350" b="1">
              <a:solidFill>
                <a:srgbClr val="5E5A55"/>
              </a:solidFill>
              <a:latin typeface="+mn-lt"/>
              <a:ea typeface="+mn-lt"/>
              <a:cs typeface="+mn-lt"/>
            </a:endParaRPr>
          </a:p>
        </p:txBody>
      </p:sp>
    </p:spTree>
    <p:extLst>
      <p:ext uri="{BB962C8B-B14F-4D97-AF65-F5344CB8AC3E}">
        <p14:creationId xmlns:p14="http://schemas.microsoft.com/office/powerpoint/2010/main" val="2123001107"/>
      </p:ext>
    </p:extLst>
  </p:cSld>
</p:sld>
</file>

<file path=ppt/slides/slide2.xml><?xml version="1.0" encoding="utf-8"?>
<p:sld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
        <p:nvSpPr>
          <p:cNvPr id="2" name="TextBox 2">
            <a:extLst xmlns:a="http://schemas.openxmlformats.org/drawingml/2006/main">
              <a:ext uri="{FF2B5EF4-FFF2-40B4-BE49-F238E27FC236}">
                <a16:creationId xmlns:a16="http://schemas.microsoft.com/office/drawing/2014/main" id="{F81A9AC0-4B93-4D1D-B9A4-60231B980A58}"/>
              </a:ext>
            </a:extLst>
          </p:cNvPr>
          <p:cNvSpPr>
            <a:spLocks xmlns:a="http://schemas.openxmlformats.org/drawingml/2006/main" noGrp="1"/>
          </p:cNvSpPr>
          <p:nvPr/>
        </p:nvSpPr>
        <p:spPr>
          <a:xfrm xmlns:a="http://schemas.openxmlformats.org/drawingml/2006/main">
            <a:off x="480822" y="359092"/>
            <a:ext cx="9227275" cy="55740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2850" b="1">
                <a:solidFill>
                  <a:schemeClr val="dk1"/>
                </a:solidFill>
                <a:latin typeface="+mn-lt"/>
                <a:ea typeface="+mn-lt"/>
                <a:cs typeface="+mn-lt"/>
              </a:rPr>
              <a:t>Short windows make fully dynamic graphs drift</a:t>
            </a:r>
            <a:endParaRPr sz="2850" b="1">
              <a:solidFill>
                <a:schemeClr val="dk1"/>
              </a:solidFill>
              <a:latin typeface="+mn-lt"/>
              <a:ea typeface="+mn-lt"/>
              <a:cs typeface="+mn-lt"/>
            </a:endParaRPr>
          </a:p>
        </p:txBody>
      </p:sp>
      <p:sp>
        <p:nvSpPr>
          <p:cNvPr id="3" name="Line 3">
            <a:extLst xmlns:a="http://schemas.openxmlformats.org/drawingml/2006/main">
              <a:ext uri="{FF2B5EF4-FFF2-40B4-BE49-F238E27FC236}">
                <a16:creationId xmlns:a16="http://schemas.microsoft.com/office/drawing/2014/main" id="{6DE94441-A9DB-46D1-AD0E-7B64E25E6471}"/>
              </a:ext>
            </a:extLst>
          </p:cNvPr>
          <p:cNvSpPr>
            <a:spLocks xmlns:a="http://schemas.openxmlformats.org/drawingml/2006/main" noGrp="1"/>
          </p:cNvSpPr>
          <p:nvPr/>
        </p:nvSpPr>
        <p:spPr>
          <a:xfrm xmlns:a="http://schemas.openxmlformats.org/drawingml/2006/main">
            <a:off x="495300" y="952500"/>
            <a:ext cx="11201400" cy="9525"/>
          </a:xfrm>
          <a:custGeom xmlns:a="http://schemas.openxmlformats.org/drawingml/2006/main">
            <a:rect l="l" t="t" r="r" b="b"/>
            <a:pathLst>
              <a:path w="11201400" h="9525">
                <a:moveTo>
                  <a:pt x="0" y="0"/>
                </a:moveTo>
                <a:lnTo>
                  <a:pt x="11201400" y="0"/>
                </a:lnTo>
              </a:path>
            </a:pathLst>
          </a:custGeom>
          <a:noFill xmlns:a="http://schemas.openxmlformats.org/drawingml/2006/main"/>
          <a:ln xmlns:a="http://schemas.openxmlformats.org/drawingml/2006/main" w="28575">
            <a:solidFill>
              <a:schemeClr val="accent1"/>
            </a:solidFill>
          </a:ln>
        </p:spPr>
      </p:sp>
      <p:sp>
        <p:nvSpPr>
          <p:cNvPr id="5" name="TextBox 5">
            <a:extLst xmlns:a="http://schemas.openxmlformats.org/drawingml/2006/main">
              <a:ext uri="{FF2B5EF4-FFF2-40B4-BE49-F238E27FC236}">
                <a16:creationId xmlns:a16="http://schemas.microsoft.com/office/drawing/2014/main" id="{5CB4EEC6-867A-4089-BCE5-38ECA2870CCC}"/>
              </a:ext>
            </a:extLst>
          </p:cNvPr>
          <p:cNvSpPr>
            <a:spLocks xmlns:a="http://schemas.openxmlformats.org/drawingml/2006/main" noGrp="1"/>
          </p:cNvSpPr>
          <p:nvPr/>
        </p:nvSpPr>
        <p:spPr>
          <a:xfrm xmlns:a="http://schemas.openxmlformats.org/drawingml/2006/main">
            <a:off x="486156" y="1386840"/>
            <a:ext cx="2723313"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800" b="1">
                <a:solidFill>
                  <a:schemeClr val="accent1"/>
                </a:solidFill>
                <a:latin typeface="+mn-lt"/>
                <a:ea typeface="+mn-lt"/>
                <a:cs typeface="+mn-lt"/>
              </a:rPr>
              <a:t>01</a:t>
            </a:r>
            <a:r>
              <a:rPr sz="1800" b="1">
                <a:solidFill>
                  <a:schemeClr val="dk1"/>
                </a:solidFill>
                <a:latin typeface="+mn-lt"/>
                <a:ea typeface="+mn-lt"/>
                <a:cs typeface="+mn-lt"/>
              </a:rPr>
              <a:t> Static global graph</a:t>
            </a:r>
            <a:endParaRPr sz="1800" b="1">
              <a:solidFill>
                <a:schemeClr val="dk1"/>
              </a:solidFill>
              <a:latin typeface="+mn-lt"/>
              <a:ea typeface="+mn-lt"/>
              <a:cs typeface="+mn-lt"/>
            </a:endParaRPr>
          </a:p>
        </p:txBody>
      </p:sp>
      <p:sp>
        <p:nvSpPr>
          <p:cNvPr id="6" name="TextBox 6">
            <a:extLst xmlns:a="http://schemas.openxmlformats.org/drawingml/2006/main">
              <a:ext uri="{FF2B5EF4-FFF2-40B4-BE49-F238E27FC236}">
                <a16:creationId xmlns:a16="http://schemas.microsoft.com/office/drawing/2014/main" id="{3556591B-AACC-47FE-B64F-A16AC0350DB5}"/>
              </a:ext>
            </a:extLst>
          </p:cNvPr>
          <p:cNvSpPr>
            <a:spLocks xmlns:a="http://schemas.openxmlformats.org/drawingml/2006/main" noGrp="1"/>
          </p:cNvSpPr>
          <p:nvPr/>
        </p:nvSpPr>
        <p:spPr>
          <a:xfrm xmlns:a="http://schemas.openxmlformats.org/drawingml/2006/main">
            <a:off x="486918" y="1764982"/>
            <a:ext cx="3537204" cy="62750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lnSpc>
                <a:spcPts val="2400"/>
              </a:lnSpc>
              <a:buNone/>
            </a:pPr>
            <a:r>
              <a:rPr sz="1650">
                <a:solidFill>
                  <a:srgbClr val="5E5A55"/>
                </a:solidFill>
                <a:latin typeface="+mn-lt"/>
                <a:ea typeface="+mn-lt"/>
                <a:cs typeface="+mn-lt"/>
              </a:rPr>
              <a:t>Stable across time, but blind to</a:t>
            </a:r>
            <a:br/>
            <a:r>
              <a:rPr sz="1650">
                <a:solidFill>
                  <a:srgbClr val="5E5A55"/>
                </a:solidFill>
                <a:latin typeface="+mn-lt"/>
                <a:ea typeface="+mn-lt"/>
                <a:cs typeface="+mn-lt"/>
              </a:rPr>
              <a:t>window-specific relation changes.</a:t>
            </a:r>
            <a:endParaRPr sz="1650">
              <a:solidFill>
                <a:srgbClr val="5E5A55"/>
              </a:solidFill>
              <a:latin typeface="+mn-lt"/>
              <a:ea typeface="+mn-lt"/>
              <a:cs typeface="+mn-lt"/>
            </a:endParaRPr>
          </a:p>
        </p:txBody>
      </p:sp>
      <p:sp>
        <p:nvSpPr>
          <p:cNvPr id="7" name="Line 7">
            <a:extLst xmlns:a="http://schemas.openxmlformats.org/drawingml/2006/main">
              <a:ext uri="{FF2B5EF4-FFF2-40B4-BE49-F238E27FC236}">
                <a16:creationId xmlns:a16="http://schemas.microsoft.com/office/drawing/2014/main" id="{837F5303-3925-4AF4-84C2-14A7D3DB4C16}"/>
              </a:ext>
            </a:extLst>
          </p:cNvPr>
          <p:cNvSpPr>
            <a:spLocks xmlns:a="http://schemas.openxmlformats.org/drawingml/2006/main" noGrp="1"/>
          </p:cNvSpPr>
          <p:nvPr/>
        </p:nvSpPr>
        <p:spPr>
          <a:xfrm xmlns:a="http://schemas.openxmlformats.org/drawingml/2006/main">
            <a:off x="495300" y="2571750"/>
            <a:ext cx="4267200" cy="9525"/>
          </a:xfrm>
          <a:custGeom xmlns:a="http://schemas.openxmlformats.org/drawingml/2006/main">
            <a:rect l="l" t="t" r="r" b="b"/>
            <a:pathLst>
              <a:path w="4267200" h="9525">
                <a:moveTo>
                  <a:pt x="0" y="0"/>
                </a:moveTo>
                <a:lnTo>
                  <a:pt x="4267200" y="0"/>
                </a:lnTo>
              </a:path>
            </a:pathLst>
          </a:custGeom>
          <a:noFill xmlns:a="http://schemas.openxmlformats.org/drawingml/2006/main"/>
          <a:ln xmlns:a="http://schemas.openxmlformats.org/drawingml/2006/main" w="9525">
            <a:solidFill>
              <a:schemeClr val="accent5"/>
            </a:solidFill>
          </a:ln>
        </p:spPr>
      </p:sp>
      <p:sp>
        <p:nvSpPr>
          <p:cNvPr id="8" name="TextBox 8">
            <a:extLst xmlns:a="http://schemas.openxmlformats.org/drawingml/2006/main">
              <a:ext uri="{FF2B5EF4-FFF2-40B4-BE49-F238E27FC236}">
                <a16:creationId xmlns:a16="http://schemas.microsoft.com/office/drawing/2014/main" id="{14477B12-DD78-4002-B622-D61B38CEF895}"/>
              </a:ext>
            </a:extLst>
          </p:cNvPr>
          <p:cNvSpPr>
            <a:spLocks xmlns:a="http://schemas.openxmlformats.org/drawingml/2006/main" noGrp="1"/>
          </p:cNvSpPr>
          <p:nvPr/>
        </p:nvSpPr>
        <p:spPr>
          <a:xfrm xmlns:a="http://schemas.openxmlformats.org/drawingml/2006/main">
            <a:off x="486156" y="2758440"/>
            <a:ext cx="3957526"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800" b="1">
                <a:solidFill>
                  <a:schemeClr val="accent1"/>
                </a:solidFill>
                <a:latin typeface="+mn-lt"/>
                <a:ea typeface="+mn-lt"/>
                <a:cs typeface="+mn-lt"/>
              </a:rPr>
              <a:t>02</a:t>
            </a:r>
            <a:r>
              <a:rPr sz="1800" b="1">
                <a:solidFill>
                  <a:schemeClr val="dk1"/>
                </a:solidFill>
                <a:latin typeface="+mn-lt"/>
                <a:ea typeface="+mn-lt"/>
                <a:cs typeface="+mn-lt"/>
              </a:rPr>
              <a:t> Unconstrained dynamic graph</a:t>
            </a:r>
            <a:endParaRPr sz="1800" b="1">
              <a:solidFill>
                <a:schemeClr val="dk1"/>
              </a:solidFill>
              <a:latin typeface="+mn-lt"/>
              <a:ea typeface="+mn-lt"/>
              <a:cs typeface="+mn-lt"/>
            </a:endParaRPr>
          </a:p>
        </p:txBody>
      </p:sp>
      <p:sp>
        <p:nvSpPr>
          <p:cNvPr id="9" name="TextBox 9">
            <a:extLst xmlns:a="http://schemas.openxmlformats.org/drawingml/2006/main">
              <a:ext uri="{FF2B5EF4-FFF2-40B4-BE49-F238E27FC236}">
                <a16:creationId xmlns:a16="http://schemas.microsoft.com/office/drawing/2014/main" id="{BD9C636E-BE1B-42DE-8D0C-8BB99257F9B8}"/>
              </a:ext>
            </a:extLst>
          </p:cNvPr>
          <p:cNvSpPr>
            <a:spLocks xmlns:a="http://schemas.openxmlformats.org/drawingml/2006/main" noGrp="1"/>
          </p:cNvSpPr>
          <p:nvPr/>
        </p:nvSpPr>
        <p:spPr>
          <a:xfrm xmlns:a="http://schemas.openxmlformats.org/drawingml/2006/main">
            <a:off x="486918" y="3136582"/>
            <a:ext cx="4228719" cy="93230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lnSpc>
                <a:spcPts val="2400"/>
              </a:lnSpc>
              <a:buNone/>
            </a:pPr>
            <a:r>
              <a:rPr sz="1650">
                <a:solidFill>
                  <a:srgbClr val="5E5A55"/>
                </a:solidFill>
                <a:latin typeface="+mn-lt"/>
                <a:ea typeface="+mn-lt"/>
                <a:cs typeface="+mn-lt"/>
              </a:rPr>
              <a:t>Adaptive, but short-window correlations</a:t>
            </a:r>
            <a:br/>
            <a:r>
              <a:rPr sz="1650">
                <a:solidFill>
                  <a:srgbClr val="5E5A55"/>
                </a:solidFill>
                <a:latin typeface="+mn-lt"/>
                <a:ea typeface="+mn-lt"/>
                <a:cs typeface="+mn-lt"/>
              </a:rPr>
              <a:t>may mistake noise for structure—and</a:t>
            </a:r>
            <a:br/>
            <a:r>
              <a:rPr sz="1650">
                <a:solidFill>
                  <a:srgbClr val="5E5A55"/>
                </a:solidFill>
                <a:latin typeface="+mn-lt"/>
                <a:ea typeface="+mn-lt"/>
                <a:cs typeface="+mn-lt"/>
              </a:rPr>
              <a:t>amplify it during message passing.</a:t>
            </a:r>
            <a:endParaRPr sz="1650">
              <a:solidFill>
                <a:srgbClr val="5E5A55"/>
              </a:solidFill>
              <a:latin typeface="+mn-lt"/>
              <a:ea typeface="+mn-lt"/>
              <a:cs typeface="+mn-lt"/>
            </a:endParaRPr>
          </a:p>
        </p:txBody>
      </p:sp>
      <p:sp>
        <p:nvSpPr>
          <p:cNvPr id="10" name="Line 10">
            <a:extLst xmlns:a="http://schemas.openxmlformats.org/drawingml/2006/main">
              <a:ext uri="{FF2B5EF4-FFF2-40B4-BE49-F238E27FC236}">
                <a16:creationId xmlns:a16="http://schemas.microsoft.com/office/drawing/2014/main" id="{BC69053C-FF18-499B-AEFA-716B138D8C39}"/>
              </a:ext>
            </a:extLst>
          </p:cNvPr>
          <p:cNvSpPr>
            <a:spLocks xmlns:a="http://schemas.openxmlformats.org/drawingml/2006/main" noGrp="1"/>
          </p:cNvSpPr>
          <p:nvPr/>
        </p:nvSpPr>
        <p:spPr>
          <a:xfrm xmlns:a="http://schemas.openxmlformats.org/drawingml/2006/main">
            <a:off x="495300" y="4324350"/>
            <a:ext cx="4267200" cy="9525"/>
          </a:xfrm>
          <a:custGeom xmlns:a="http://schemas.openxmlformats.org/drawingml/2006/main">
            <a:rect l="l" t="t" r="r" b="b"/>
            <a:pathLst>
              <a:path w="4267200" h="9525">
                <a:moveTo>
                  <a:pt x="0" y="0"/>
                </a:moveTo>
                <a:lnTo>
                  <a:pt x="4267200" y="0"/>
                </a:lnTo>
              </a:path>
            </a:pathLst>
          </a:custGeom>
          <a:noFill xmlns:a="http://schemas.openxmlformats.org/drawingml/2006/main"/>
          <a:ln xmlns:a="http://schemas.openxmlformats.org/drawingml/2006/main" w="9525">
            <a:solidFill>
              <a:schemeClr val="accent5"/>
            </a:solidFill>
          </a:ln>
        </p:spPr>
      </p:sp>
      <p:sp>
        <p:nvSpPr>
          <p:cNvPr id="11" name="TextBox 11">
            <a:extLst xmlns:a="http://schemas.openxmlformats.org/drawingml/2006/main">
              <a:ext uri="{FF2B5EF4-FFF2-40B4-BE49-F238E27FC236}">
                <a16:creationId xmlns:a16="http://schemas.microsoft.com/office/drawing/2014/main" id="{B7FF2E8A-FC2B-459F-9F85-0420BC5DBC1B}"/>
              </a:ext>
            </a:extLst>
          </p:cNvPr>
          <p:cNvSpPr>
            <a:spLocks xmlns:a="http://schemas.openxmlformats.org/drawingml/2006/main" noGrp="1"/>
          </p:cNvSpPr>
          <p:nvPr/>
        </p:nvSpPr>
        <p:spPr>
          <a:xfrm xmlns:a="http://schemas.openxmlformats.org/drawingml/2006/main">
            <a:off x="486156" y="4511040"/>
            <a:ext cx="2202621"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800" b="1">
                <a:solidFill>
                  <a:schemeClr val="accent1"/>
                </a:solidFill>
                <a:latin typeface="+mn-lt"/>
                <a:ea typeface="+mn-lt"/>
                <a:cs typeface="+mn-lt"/>
              </a:rPr>
              <a:t>03</a:t>
            </a:r>
            <a:r>
              <a:rPr sz="1800" b="1">
                <a:solidFill>
                  <a:schemeClr val="dk1"/>
                </a:solidFill>
                <a:latin typeface="+mn-lt"/>
                <a:ea typeface="+mn-lt"/>
                <a:cs typeface="+mn-lt"/>
              </a:rPr>
              <a:t> What is needed</a:t>
            </a:r>
            <a:endParaRPr sz="1800" b="1">
              <a:solidFill>
                <a:schemeClr val="dk1"/>
              </a:solidFill>
              <a:latin typeface="+mn-lt"/>
              <a:ea typeface="+mn-lt"/>
              <a:cs typeface="+mn-lt"/>
            </a:endParaRPr>
          </a:p>
        </p:txBody>
      </p:sp>
      <p:sp>
        <p:nvSpPr>
          <p:cNvPr id="12" name="TextBox 12">
            <a:extLst xmlns:a="http://schemas.openxmlformats.org/drawingml/2006/main">
              <a:ext uri="{FF2B5EF4-FFF2-40B4-BE49-F238E27FC236}">
                <a16:creationId xmlns:a16="http://schemas.microsoft.com/office/drawing/2014/main" id="{3F3D6268-AF5C-431E-A546-36BFC8FB32EA}"/>
              </a:ext>
            </a:extLst>
          </p:cNvPr>
          <p:cNvSpPr>
            <a:spLocks xmlns:a="http://schemas.openxmlformats.org/drawingml/2006/main" noGrp="1"/>
          </p:cNvSpPr>
          <p:nvPr/>
        </p:nvSpPr>
        <p:spPr>
          <a:xfrm xmlns:a="http://schemas.openxmlformats.org/drawingml/2006/main">
            <a:off x="486918" y="4889182"/>
            <a:ext cx="4186809" cy="62750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lnSpc>
                <a:spcPts val="2400"/>
              </a:lnSpc>
              <a:buNone/>
            </a:pPr>
            <a:r>
              <a:rPr sz="1650">
                <a:solidFill>
                  <a:srgbClr val="5E5A55"/>
                </a:solidFill>
                <a:latin typeface="+mn-lt"/>
                <a:ea typeface="+mn-lt"/>
                <a:cs typeface="+mn-lt"/>
              </a:rPr>
              <a:t>Local adaptation inside a globally reliable</a:t>
            </a:r>
            <a:br/>
            <a:r>
              <a:rPr sz="1650">
                <a:solidFill>
                  <a:srgbClr val="5E5A55"/>
                </a:solidFill>
                <a:latin typeface="+mn-lt"/>
                <a:ea typeface="+mn-lt"/>
                <a:cs typeface="+mn-lt"/>
              </a:rPr>
              <a:t>structural subspace.</a:t>
            </a:r>
            <a:endParaRPr sz="1650">
              <a:solidFill>
                <a:srgbClr val="5E5A55"/>
              </a:solidFill>
              <a:latin typeface="+mn-lt"/>
              <a:ea typeface="+mn-lt"/>
              <a:cs typeface="+mn-lt"/>
            </a:endParaRPr>
          </a:p>
        </p:txBody>
      </p:sp>
      <p:sp>
        <p:nvSpPr>
          <p:cNvPr id="13" name="Rectangle 13">
            <a:extLst xmlns:a="http://schemas.openxmlformats.org/drawingml/2006/main">
              <a:ext uri="{FF2B5EF4-FFF2-40B4-BE49-F238E27FC236}">
                <a16:creationId xmlns:a16="http://schemas.microsoft.com/office/drawing/2014/main" id="{8712D245-53F8-4500-AD47-03E02B0DAF86}"/>
              </a:ext>
            </a:extLst>
          </p:cNvPr>
          <p:cNvSpPr>
            <a:spLocks xmlns:a="http://schemas.openxmlformats.org/drawingml/2006/main" noGrp="1"/>
          </p:cNvSpPr>
          <p:nvPr/>
        </p:nvSpPr>
        <p:spPr>
          <a:xfrm xmlns:a="http://schemas.openxmlformats.org/drawingml/2006/main">
            <a:off x="495300" y="5619750"/>
            <a:ext cx="4324350" cy="514350"/>
          </a:xfrm>
          <a:prstGeom xmlns:a="http://schemas.openxmlformats.org/drawingml/2006/main" prst="rect">
            <a:avLst/>
          </a:prstGeom>
          <a:solidFill xmlns:a="http://schemas.openxmlformats.org/drawingml/2006/main">
            <a:schemeClr val="accent3"/>
          </a:solidFill>
          <a:ln xmlns:a="http://schemas.openxmlformats.org/drawingml/2006/main">
            <a:noFill/>
          </a:ln>
        </p:spPr>
      </p:sp>
      <p:sp>
        <p:nvSpPr>
          <p:cNvPr id="14" name="Rectangle 14">
            <a:extLst xmlns:a="http://schemas.openxmlformats.org/drawingml/2006/main">
              <a:ext uri="{FF2B5EF4-FFF2-40B4-BE49-F238E27FC236}">
                <a16:creationId xmlns:a16="http://schemas.microsoft.com/office/drawing/2014/main" id="{F56C29D8-6492-410E-A023-19C5250F0120}"/>
              </a:ext>
            </a:extLst>
          </p:cNvPr>
          <p:cNvSpPr>
            <a:spLocks xmlns:a="http://schemas.openxmlformats.org/drawingml/2006/main" noGrp="1"/>
          </p:cNvSpPr>
          <p:nvPr/>
        </p:nvSpPr>
        <p:spPr>
          <a:xfrm xmlns:a="http://schemas.openxmlformats.org/drawingml/2006/main">
            <a:off x="495300" y="5619750"/>
            <a:ext cx="76200" cy="514350"/>
          </a:xfrm>
          <a:prstGeom xmlns:a="http://schemas.openxmlformats.org/drawingml/2006/main" prst="rect">
            <a:avLst/>
          </a:prstGeom>
          <a:solidFill xmlns:a="http://schemas.openxmlformats.org/drawingml/2006/main">
            <a:schemeClr val="accent1"/>
          </a:solidFill>
          <a:ln xmlns:a="http://schemas.openxmlformats.org/drawingml/2006/main">
            <a:noFill/>
          </a:ln>
        </p:spPr>
      </p:sp>
      <p:sp>
        <p:nvSpPr>
          <p:cNvPr id="15" name="TextBox 15">
            <a:extLst xmlns:a="http://schemas.openxmlformats.org/drawingml/2006/main">
              <a:ext uri="{FF2B5EF4-FFF2-40B4-BE49-F238E27FC236}">
                <a16:creationId xmlns:a16="http://schemas.microsoft.com/office/drawing/2014/main" id="{5CCF398C-3345-4CBA-B8B0-057F9D27CC28}"/>
              </a:ext>
            </a:extLst>
          </p:cNvPr>
          <p:cNvSpPr>
            <a:spLocks xmlns:a="http://schemas.openxmlformats.org/drawingml/2006/main" noGrp="1"/>
          </p:cNvSpPr>
          <p:nvPr/>
        </p:nvSpPr>
        <p:spPr>
          <a:xfrm xmlns:a="http://schemas.openxmlformats.org/drawingml/2006/main">
            <a:off x="714756" y="5749290"/>
            <a:ext cx="4046437"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800" b="1">
                <a:solidFill>
                  <a:schemeClr val="dk1"/>
                </a:solidFill>
                <a:latin typeface="+mn-lt"/>
                <a:ea typeface="+mn-lt"/>
                <a:cs typeface="+mn-lt"/>
              </a:rPr>
              <a:t>Adapt without topological drift.</a:t>
            </a:r>
            <a:endParaRPr sz="1800" b="1">
              <a:solidFill>
                <a:schemeClr val="dk1"/>
              </a:solidFill>
              <a:latin typeface="+mn-lt"/>
              <a:ea typeface="+mn-lt"/>
              <a:cs typeface="+mn-lt"/>
            </a:endParaRPr>
          </a:p>
        </p:txBody>
      </p:sp>
      <p:sp>
        <p:nvSpPr>
          <p:cNvPr id="17" name="Rectangle 17">
            <a:extLst xmlns:a="http://schemas.openxmlformats.org/drawingml/2006/main">
              <a:ext uri="{FF2B5EF4-FFF2-40B4-BE49-F238E27FC236}">
                <a16:creationId xmlns:a16="http://schemas.microsoft.com/office/drawing/2014/main" id="{2FFE8D89-E313-4044-8676-4DC34E696385}"/>
              </a:ext>
            </a:extLst>
          </p:cNvPr>
          <p:cNvSpPr>
            <a:spLocks xmlns:a="http://schemas.openxmlformats.org/drawingml/2006/main" noGrp="1"/>
          </p:cNvSpPr>
          <p:nvPr/>
        </p:nvSpPr>
        <p:spPr>
          <a:xfrm xmlns:a="http://schemas.openxmlformats.org/drawingml/2006/main">
            <a:off x="5276850" y="1200150"/>
            <a:ext cx="6419850" cy="4953000"/>
          </a:xfrm>
          <a:prstGeom xmlns:a="http://schemas.openxmlformats.org/drawingml/2006/main" prst="rect">
            <a:avLst/>
          </a:prstGeom>
          <a:solidFill xmlns:a="http://schemas.openxmlformats.org/drawingml/2006/main">
            <a:srgbClr val="FFFFFF"/>
          </a:solidFill>
          <a:ln xmlns:a="http://schemas.openxmlformats.org/drawingml/2006/main" w="19050">
            <a:solidFill>
              <a:schemeClr val="accent5"/>
            </a:solidFill>
          </a:ln>
        </p:spPr>
      </p:sp>
      <p:pic>
        <p:nvPicPr>
          <p:cNvPr id="39" name="Image 18"/>
          <p:cNvPicPr>
            <a:picLocks xmlns:a="http://schemas.openxmlformats.org/drawingml/2006/main" noChangeAspect="1"/>
          </p:cNvPicPr>
          <p:nvPr/>
        </p:nvPicPr>
        <p:blipFill>
          <a:blip xmlns:r="http://schemas.openxmlformats.org/officeDocument/2006/relationships" xmlns:a="http://schemas.openxmlformats.org/drawingml/2006/main" r:embed="R4b0cf8b3bd374e78"/>
          <a:stretch xmlns:a="http://schemas.openxmlformats.org/drawingml/2006/main">
            <a:fillRect l="0" t="0" r="0" b="0"/>
          </a:stretch>
        </p:blipFill>
        <p:spPr>
          <a:xfrm xmlns:a="http://schemas.openxmlformats.org/drawingml/2006/main">
            <a:off x="6026485" y="1352550"/>
            <a:ext cx="4920580" cy="4552950"/>
          </a:xfrm>
          <a:prstGeom xmlns:a="http://schemas.openxmlformats.org/drawingml/2006/main" prst="rect">
            <a:avLst/>
          </a:prstGeom>
        </p:spPr>
      </p:pic>
      <p:sp>
        <p:nvSpPr>
          <p:cNvPr id="19" name="TextBox 19">
            <a:extLst xmlns:a="http://schemas.openxmlformats.org/drawingml/2006/main">
              <a:ext uri="{FF2B5EF4-FFF2-40B4-BE49-F238E27FC236}">
                <a16:creationId xmlns:a16="http://schemas.microsoft.com/office/drawing/2014/main" id="{09F62A12-493E-4F2E-87B9-09914838BD3F}"/>
              </a:ext>
            </a:extLst>
          </p:cNvPr>
          <p:cNvSpPr>
            <a:spLocks xmlns:a="http://schemas.openxmlformats.org/drawingml/2006/main" noGrp="1"/>
          </p:cNvSpPr>
          <p:nvPr/>
        </p:nvSpPr>
        <p:spPr>
          <a:xfrm xmlns:a="http://schemas.openxmlformats.org/drawingml/2006/main">
            <a:off x="5462016" y="5963602"/>
            <a:ext cx="6169241" cy="205359"/>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a:solidFill>
                  <a:srgbClr val="5E5A55"/>
                </a:solidFill>
                <a:latin typeface="+mn-lt"/>
                <a:ea typeface="+mn-lt"/>
                <a:cs typeface="+mn-lt"/>
              </a:rPr>
              <a:t>Figure 1 · Window-wise relations vary; constrained topology stays near the global prior.</a:t>
            </a:r>
            <a:endParaRPr sz="1050">
              <a:solidFill>
                <a:srgbClr val="5E5A55"/>
              </a:solidFill>
              <a:latin typeface="+mn-lt"/>
              <a:ea typeface="+mn-lt"/>
              <a:cs typeface="+mn-lt"/>
            </a:endParaRPr>
          </a:p>
        </p:txBody>
      </p:sp>
      <p:sp>
        <p:nvSpPr>
          <p:cNvPr id="21" name="Line 21">
            <a:extLst xmlns:a="http://schemas.openxmlformats.org/drawingml/2006/main">
              <a:ext uri="{FF2B5EF4-FFF2-40B4-BE49-F238E27FC236}">
                <a16:creationId xmlns:a16="http://schemas.microsoft.com/office/drawing/2014/main" id="{A798AFFD-8D35-479B-8C9E-037E31F4A14A}"/>
              </a:ext>
            </a:extLst>
          </p:cNvPr>
          <p:cNvSpPr>
            <a:spLocks xmlns:a="http://schemas.openxmlformats.org/drawingml/2006/main" noGrp="1"/>
          </p:cNvSpPr>
          <p:nvPr/>
        </p:nvSpPr>
        <p:spPr>
          <a:xfrm xmlns:a="http://schemas.openxmlformats.org/drawingml/2006/main">
            <a:off x="495300" y="6362700"/>
            <a:ext cx="11201400" cy="9525"/>
          </a:xfrm>
          <a:custGeom xmlns:a="http://schemas.openxmlformats.org/drawingml/2006/main">
            <a:rect l="l" t="t" r="r" b="b"/>
            <a:pathLst>
              <a:path w="11201400" h="9525">
                <a:moveTo>
                  <a:pt x="0" y="0"/>
                </a:moveTo>
                <a:lnTo>
                  <a:pt x="11201400" y="0"/>
                </a:lnTo>
              </a:path>
            </a:pathLst>
          </a:custGeom>
          <a:noFill xmlns:a="http://schemas.openxmlformats.org/drawingml/2006/main"/>
          <a:ln xmlns:a="http://schemas.openxmlformats.org/drawingml/2006/main" w="9525">
            <a:solidFill>
              <a:schemeClr val="accent5"/>
            </a:solidFill>
          </a:ln>
        </p:spPr>
      </p:sp>
      <p:sp>
        <p:nvSpPr>
          <p:cNvPr id="23" name="TextBox 23">
            <a:extLst xmlns:a="http://schemas.openxmlformats.org/drawingml/2006/main">
              <a:ext uri="{FF2B5EF4-FFF2-40B4-BE49-F238E27FC236}">
                <a16:creationId xmlns:a16="http://schemas.microsoft.com/office/drawing/2014/main" id="{C563C1CB-47A8-4526-AEAF-8F00B4C4045C}"/>
              </a:ext>
            </a:extLst>
          </p:cNvPr>
          <p:cNvSpPr>
            <a:spLocks xmlns:a="http://schemas.openxmlformats.org/drawingml/2006/main" noGrp="1"/>
          </p:cNvSpPr>
          <p:nvPr/>
        </p:nvSpPr>
        <p:spPr>
          <a:xfrm xmlns:a="http://schemas.openxmlformats.org/drawingml/2006/main">
            <a:off x="11528106" y="6497002"/>
            <a:ext cx="173928" cy="205359"/>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r">
              <a:buNone/>
            </a:pPr>
            <a:r>
              <a:rPr sz="1050" b="1">
                <a:solidFill>
                  <a:schemeClr val="accent1"/>
                </a:solidFill>
                <a:latin typeface="+mn-lt"/>
                <a:ea typeface="+mn-lt"/>
                <a:cs typeface="+mn-lt"/>
              </a:rPr>
              <a:t>02</a:t>
            </a:r>
            <a:endParaRPr sz="1050" b="1">
              <a:solidFill>
                <a:schemeClr val="accent1"/>
              </a:solidFill>
              <a:latin typeface="+mn-lt"/>
              <a:ea typeface="+mn-lt"/>
              <a:cs typeface="+mn-lt"/>
            </a:endParaRPr>
          </a:p>
        </p:txBody>
      </p:sp>
    </p:spTree>
    <p:extLst>
      <p:ext uri="{BB962C8B-B14F-4D97-AF65-F5344CB8AC3E}">
        <p14:creationId xmlns:p14="http://schemas.microsoft.com/office/powerpoint/2010/main" val="633975258"/>
      </p:ext>
    </p:extLst>
  </p:cSld>
</p:sld>
</file>

<file path=ppt/slides/slide3.xml><?xml version="1.0" encoding="utf-8"?>
<p:sld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
        <p:nvSpPr>
          <p:cNvPr id="2" name="TextBox 2">
            <a:extLst xmlns:a="http://schemas.openxmlformats.org/drawingml/2006/main">
              <a:ext uri="{FF2B5EF4-FFF2-40B4-BE49-F238E27FC236}">
                <a16:creationId xmlns:a16="http://schemas.microsoft.com/office/drawing/2014/main" id="{6F4BDEFA-042F-4180-9063-656DD7479E30}"/>
              </a:ext>
            </a:extLst>
          </p:cNvPr>
          <p:cNvSpPr>
            <a:spLocks xmlns:a="http://schemas.openxmlformats.org/drawingml/2006/main" noGrp="1"/>
          </p:cNvSpPr>
          <p:nvPr/>
        </p:nvSpPr>
        <p:spPr>
          <a:xfrm xmlns:a="http://schemas.openxmlformats.org/drawingml/2006/main">
            <a:off x="481584" y="337185"/>
            <a:ext cx="9159613" cy="52806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2700" b="1">
                <a:solidFill>
                  <a:schemeClr val="dk1"/>
                </a:solidFill>
                <a:latin typeface="+mn-lt"/>
                <a:ea typeface="+mn-lt"/>
                <a:cs typeface="+mn-lt"/>
              </a:rPr>
              <a:t>ConDyGNet constrains graphs before propagation</a:t>
            </a:r>
            <a:endParaRPr sz="2700" b="1">
              <a:solidFill>
                <a:schemeClr val="dk1"/>
              </a:solidFill>
              <a:latin typeface="+mn-lt"/>
              <a:ea typeface="+mn-lt"/>
              <a:cs typeface="+mn-lt"/>
            </a:endParaRPr>
          </a:p>
        </p:txBody>
      </p:sp>
      <p:sp>
        <p:nvSpPr>
          <p:cNvPr id="3" name="Line 3">
            <a:extLst xmlns:a="http://schemas.openxmlformats.org/drawingml/2006/main">
              <a:ext uri="{FF2B5EF4-FFF2-40B4-BE49-F238E27FC236}">
                <a16:creationId xmlns:a16="http://schemas.microsoft.com/office/drawing/2014/main" id="{83815E4E-8CCA-467B-BF7A-5C246D74A64C}"/>
              </a:ext>
            </a:extLst>
          </p:cNvPr>
          <p:cNvSpPr>
            <a:spLocks xmlns:a="http://schemas.openxmlformats.org/drawingml/2006/main" noGrp="1"/>
          </p:cNvSpPr>
          <p:nvPr/>
        </p:nvSpPr>
        <p:spPr>
          <a:xfrm xmlns:a="http://schemas.openxmlformats.org/drawingml/2006/main">
            <a:off x="495300" y="914400"/>
            <a:ext cx="11201400" cy="9525"/>
          </a:xfrm>
          <a:custGeom xmlns:a="http://schemas.openxmlformats.org/drawingml/2006/main">
            <a:rect l="l" t="t" r="r" b="b"/>
            <a:pathLst>
              <a:path w="11201400" h="9525">
                <a:moveTo>
                  <a:pt x="0" y="0"/>
                </a:moveTo>
                <a:lnTo>
                  <a:pt x="11201400" y="0"/>
                </a:lnTo>
              </a:path>
            </a:pathLst>
          </a:custGeom>
          <a:noFill xmlns:a="http://schemas.openxmlformats.org/drawingml/2006/main"/>
          <a:ln xmlns:a="http://schemas.openxmlformats.org/drawingml/2006/main" w="28575">
            <a:solidFill>
              <a:schemeClr val="accent1"/>
            </a:solidFill>
          </a:ln>
        </p:spPr>
      </p:sp>
      <p:sp>
        <p:nvSpPr>
          <p:cNvPr id="5" name="TextBox 5">
            <a:extLst xmlns:a="http://schemas.openxmlformats.org/drawingml/2006/main">
              <a:ext uri="{FF2B5EF4-FFF2-40B4-BE49-F238E27FC236}">
                <a16:creationId xmlns:a16="http://schemas.microsoft.com/office/drawing/2014/main" id="{0086DAA5-5CB3-457C-ADF9-8DA64EE2E0CA}"/>
              </a:ext>
            </a:extLst>
          </p:cNvPr>
          <p:cNvSpPr>
            <a:spLocks xmlns:a="http://schemas.openxmlformats.org/drawingml/2006/main" noGrp="1"/>
          </p:cNvSpPr>
          <p:nvPr/>
        </p:nvSpPr>
        <p:spPr>
          <a:xfrm xmlns:a="http://schemas.openxmlformats.org/drawingml/2006/main">
            <a:off x="669586" y="1079182"/>
            <a:ext cx="10852827" cy="32270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ctr">
              <a:buNone/>
            </a:pPr>
            <a:r>
              <a:rPr sz="1650">
                <a:solidFill>
                  <a:srgbClr val="5E5A55"/>
                </a:solidFill>
                <a:latin typeface="+mn-lt"/>
                <a:ea typeface="+mn-lt"/>
                <a:cs typeface="+mn-lt"/>
              </a:rPr>
              <a:t>Patch tokens → constrained graph construction → cross-channel propagation → temporal forecasting</a:t>
            </a:r>
            <a:endParaRPr sz="1650">
              <a:solidFill>
                <a:srgbClr val="5E5A55"/>
              </a:solidFill>
              <a:latin typeface="+mn-lt"/>
              <a:ea typeface="+mn-lt"/>
              <a:cs typeface="+mn-lt"/>
            </a:endParaRPr>
          </a:p>
        </p:txBody>
      </p:sp>
      <p:sp>
        <p:nvSpPr>
          <p:cNvPr id="7" name="Rectangle 7">
            <a:extLst xmlns:a="http://schemas.openxmlformats.org/drawingml/2006/main">
              <a:ext uri="{FF2B5EF4-FFF2-40B4-BE49-F238E27FC236}">
                <a16:creationId xmlns:a16="http://schemas.microsoft.com/office/drawing/2014/main" id="{343CCF59-31E5-4D11-BFE9-B2B69FB0DF90}"/>
              </a:ext>
            </a:extLst>
          </p:cNvPr>
          <p:cNvSpPr>
            <a:spLocks xmlns:a="http://schemas.openxmlformats.org/drawingml/2006/main" noGrp="1"/>
          </p:cNvSpPr>
          <p:nvPr/>
        </p:nvSpPr>
        <p:spPr>
          <a:xfrm xmlns:a="http://schemas.openxmlformats.org/drawingml/2006/main">
            <a:off x="1466850" y="1428750"/>
            <a:ext cx="9258300" cy="4514850"/>
          </a:xfrm>
          <a:prstGeom xmlns:a="http://schemas.openxmlformats.org/drawingml/2006/main" prst="rect">
            <a:avLst/>
          </a:prstGeom>
          <a:solidFill xmlns:a="http://schemas.openxmlformats.org/drawingml/2006/main">
            <a:srgbClr val="FFFFFF"/>
          </a:solidFill>
          <a:ln xmlns:a="http://schemas.openxmlformats.org/drawingml/2006/main" w="9525">
            <a:solidFill>
              <a:schemeClr val="accent5"/>
            </a:solidFill>
          </a:ln>
        </p:spPr>
      </p:sp>
      <p:pic>
        <p:nvPicPr>
          <p:cNvPr id="23" name="Image 8"/>
          <p:cNvPicPr>
            <a:picLocks xmlns:a="http://schemas.openxmlformats.org/drawingml/2006/main" noChangeAspect="1"/>
          </p:cNvPicPr>
          <p:nvPr/>
        </p:nvPicPr>
        <p:blipFill>
          <a:blip xmlns:r="http://schemas.openxmlformats.org/officeDocument/2006/relationships" xmlns:a="http://schemas.openxmlformats.org/drawingml/2006/main" r:embed="R221a4c2d268e40fb"/>
          <a:stretch xmlns:a="http://schemas.openxmlformats.org/drawingml/2006/main">
            <a:fillRect l="0" t="0" r="0" b="0"/>
          </a:stretch>
        </p:blipFill>
        <p:spPr>
          <a:xfrm xmlns:a="http://schemas.openxmlformats.org/drawingml/2006/main">
            <a:off x="2170132" y="1524000"/>
            <a:ext cx="7851735" cy="4286250"/>
          </a:xfrm>
          <a:prstGeom xmlns:a="http://schemas.openxmlformats.org/drawingml/2006/main" prst="rect">
            <a:avLst/>
          </a:prstGeom>
        </p:spPr>
      </p:pic>
      <p:sp>
        <p:nvSpPr>
          <p:cNvPr id="10" name="Line 10">
            <a:extLst xmlns:a="http://schemas.openxmlformats.org/drawingml/2006/main">
              <a:ext uri="{FF2B5EF4-FFF2-40B4-BE49-F238E27FC236}">
                <a16:creationId xmlns:a16="http://schemas.microsoft.com/office/drawing/2014/main" id="{7F8D4555-9988-447E-A798-990BE7539A4A}"/>
              </a:ext>
            </a:extLst>
          </p:cNvPr>
          <p:cNvSpPr>
            <a:spLocks xmlns:a="http://schemas.openxmlformats.org/drawingml/2006/main" noGrp="1"/>
          </p:cNvSpPr>
          <p:nvPr/>
        </p:nvSpPr>
        <p:spPr>
          <a:xfrm xmlns:a="http://schemas.openxmlformats.org/drawingml/2006/main">
            <a:off x="1562100" y="6057900"/>
            <a:ext cx="9067800" cy="9525"/>
          </a:xfrm>
          <a:custGeom xmlns:a="http://schemas.openxmlformats.org/drawingml/2006/main">
            <a:rect l="l" t="t" r="r" b="b"/>
            <a:pathLst>
              <a:path w="9067800" h="9525">
                <a:moveTo>
                  <a:pt x="0" y="0"/>
                </a:moveTo>
                <a:lnTo>
                  <a:pt x="9067800" y="0"/>
                </a:lnTo>
              </a:path>
            </a:pathLst>
          </a:custGeom>
          <a:noFill xmlns:a="http://schemas.openxmlformats.org/drawingml/2006/main"/>
          <a:ln xmlns:a="http://schemas.openxmlformats.org/drawingml/2006/main" w="9525">
            <a:solidFill>
              <a:schemeClr val="accent5"/>
            </a:solidFill>
          </a:ln>
        </p:spPr>
      </p:sp>
      <p:sp>
        <p:nvSpPr>
          <p:cNvPr id="11" name="TextBox 11">
            <a:extLst xmlns:a="http://schemas.openxmlformats.org/drawingml/2006/main">
              <a:ext uri="{FF2B5EF4-FFF2-40B4-BE49-F238E27FC236}">
                <a16:creationId xmlns:a16="http://schemas.microsoft.com/office/drawing/2014/main" id="{E3F26396-304A-4E59-8A76-5E1C0657BA70}"/>
              </a:ext>
            </a:extLst>
          </p:cNvPr>
          <p:cNvSpPr>
            <a:spLocks xmlns:a="http://schemas.openxmlformats.org/drawingml/2006/main" noGrp="1"/>
          </p:cNvSpPr>
          <p:nvPr/>
        </p:nvSpPr>
        <p:spPr>
          <a:xfrm xmlns:a="http://schemas.openxmlformats.org/drawingml/2006/main">
            <a:off x="1556004" y="6156960"/>
            <a:ext cx="657393"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b="1">
                <a:solidFill>
                  <a:schemeClr val="accent1"/>
                </a:solidFill>
                <a:latin typeface="+mn-lt"/>
                <a:ea typeface="+mn-lt"/>
                <a:cs typeface="+mn-lt"/>
              </a:rPr>
              <a:t>1 PATCH</a:t>
            </a:r>
            <a:endParaRPr sz="1200" b="1">
              <a:solidFill>
                <a:schemeClr val="accent1"/>
              </a:solidFill>
              <a:latin typeface="+mn-lt"/>
              <a:ea typeface="+mn-lt"/>
              <a:cs typeface="+mn-lt"/>
            </a:endParaRPr>
          </a:p>
        </p:txBody>
      </p:sp>
      <p:sp>
        <p:nvSpPr>
          <p:cNvPr id="12" name="TextBox 12">
            <a:extLst xmlns:a="http://schemas.openxmlformats.org/drawingml/2006/main">
              <a:ext uri="{FF2B5EF4-FFF2-40B4-BE49-F238E27FC236}">
                <a16:creationId xmlns:a16="http://schemas.microsoft.com/office/drawing/2014/main" id="{697CF283-877A-412C-9D68-F2B3C467F34B}"/>
              </a:ext>
            </a:extLst>
          </p:cNvPr>
          <p:cNvSpPr>
            <a:spLocks xmlns:a="http://schemas.openxmlformats.org/drawingml/2006/main" noGrp="1"/>
          </p:cNvSpPr>
          <p:nvPr/>
        </p:nvSpPr>
        <p:spPr>
          <a:xfrm xmlns:a="http://schemas.openxmlformats.org/drawingml/2006/main">
            <a:off x="3861054" y="6156960"/>
            <a:ext cx="1042721"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b="1">
                <a:solidFill>
                  <a:schemeClr val="accent1"/>
                </a:solidFill>
                <a:latin typeface="+mn-lt"/>
                <a:ea typeface="+mn-lt"/>
                <a:cs typeface="+mn-lt"/>
              </a:rPr>
              <a:t>2 CONSTRAIN</a:t>
            </a:r>
            <a:endParaRPr sz="1200" b="1">
              <a:solidFill>
                <a:schemeClr val="accent1"/>
              </a:solidFill>
              <a:latin typeface="+mn-lt"/>
              <a:ea typeface="+mn-lt"/>
              <a:cs typeface="+mn-lt"/>
            </a:endParaRPr>
          </a:p>
        </p:txBody>
      </p:sp>
      <p:sp>
        <p:nvSpPr>
          <p:cNvPr id="13" name="TextBox 13">
            <a:extLst xmlns:a="http://schemas.openxmlformats.org/drawingml/2006/main">
              <a:ext uri="{FF2B5EF4-FFF2-40B4-BE49-F238E27FC236}">
                <a16:creationId xmlns:a16="http://schemas.microsoft.com/office/drawing/2014/main" id="{D9A52E9A-88D5-4ED6-97DA-2EA88678B89F}"/>
              </a:ext>
            </a:extLst>
          </p:cNvPr>
          <p:cNvSpPr>
            <a:spLocks xmlns:a="http://schemas.openxmlformats.org/drawingml/2006/main" noGrp="1"/>
          </p:cNvSpPr>
          <p:nvPr/>
        </p:nvSpPr>
        <p:spPr>
          <a:xfrm xmlns:a="http://schemas.openxmlformats.org/drawingml/2006/main">
            <a:off x="6566154" y="6156960"/>
            <a:ext cx="1087526"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b="1">
                <a:solidFill>
                  <a:schemeClr val="accent1"/>
                </a:solidFill>
                <a:latin typeface="+mn-lt"/>
                <a:ea typeface="+mn-lt"/>
                <a:cs typeface="+mn-lt"/>
              </a:rPr>
              <a:t>3 PROPAGATE</a:t>
            </a:r>
            <a:endParaRPr sz="1200" b="1">
              <a:solidFill>
                <a:schemeClr val="accent1"/>
              </a:solidFill>
              <a:latin typeface="+mn-lt"/>
              <a:ea typeface="+mn-lt"/>
              <a:cs typeface="+mn-lt"/>
            </a:endParaRPr>
          </a:p>
        </p:txBody>
      </p:sp>
      <p:sp>
        <p:nvSpPr>
          <p:cNvPr id="14" name="TextBox 14">
            <a:extLst xmlns:a="http://schemas.openxmlformats.org/drawingml/2006/main">
              <a:ext uri="{FF2B5EF4-FFF2-40B4-BE49-F238E27FC236}">
                <a16:creationId xmlns:a16="http://schemas.microsoft.com/office/drawing/2014/main" id="{954BF4E6-7F6A-4D47-A1B8-0F98132B2747}"/>
              </a:ext>
            </a:extLst>
          </p:cNvPr>
          <p:cNvSpPr>
            <a:spLocks xmlns:a="http://schemas.openxmlformats.org/drawingml/2006/main" noGrp="1"/>
          </p:cNvSpPr>
          <p:nvPr/>
        </p:nvSpPr>
        <p:spPr>
          <a:xfrm xmlns:a="http://schemas.openxmlformats.org/drawingml/2006/main">
            <a:off x="9252204" y="6156960"/>
            <a:ext cx="755965"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b="1">
                <a:solidFill>
                  <a:schemeClr val="accent1"/>
                </a:solidFill>
                <a:latin typeface="+mn-lt"/>
                <a:ea typeface="+mn-lt"/>
                <a:cs typeface="+mn-lt"/>
              </a:rPr>
              <a:t>4 ATTEND</a:t>
            </a:r>
            <a:endParaRPr sz="1200" b="1">
              <a:solidFill>
                <a:schemeClr val="accent1"/>
              </a:solidFill>
              <a:latin typeface="+mn-lt"/>
              <a:ea typeface="+mn-lt"/>
              <a:cs typeface="+mn-lt"/>
            </a:endParaRPr>
          </a:p>
        </p:txBody>
      </p:sp>
      <p:sp>
        <p:nvSpPr>
          <p:cNvPr id="17" name="TextBox 17">
            <a:extLst xmlns:a="http://schemas.openxmlformats.org/drawingml/2006/main">
              <a:ext uri="{FF2B5EF4-FFF2-40B4-BE49-F238E27FC236}">
                <a16:creationId xmlns:a16="http://schemas.microsoft.com/office/drawing/2014/main" id="{6D85626A-8285-4B5D-A1EA-267D75D44C24}"/>
              </a:ext>
            </a:extLst>
          </p:cNvPr>
          <p:cNvSpPr>
            <a:spLocks xmlns:a="http://schemas.openxmlformats.org/drawingml/2006/main" noGrp="1"/>
          </p:cNvSpPr>
          <p:nvPr/>
        </p:nvSpPr>
        <p:spPr>
          <a:xfrm xmlns:a="http://schemas.openxmlformats.org/drawingml/2006/main">
            <a:off x="11528106" y="6516052"/>
            <a:ext cx="173928" cy="205359"/>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r">
              <a:buNone/>
            </a:pPr>
            <a:r>
              <a:rPr sz="1050" b="1">
                <a:solidFill>
                  <a:schemeClr val="accent1"/>
                </a:solidFill>
                <a:latin typeface="+mn-lt"/>
                <a:ea typeface="+mn-lt"/>
                <a:cs typeface="+mn-lt"/>
              </a:rPr>
              <a:t>03</a:t>
            </a:r>
            <a:endParaRPr sz="1050" b="1">
              <a:solidFill>
                <a:schemeClr val="accent1"/>
              </a:solidFill>
              <a:latin typeface="+mn-lt"/>
              <a:ea typeface="+mn-lt"/>
              <a:cs typeface="+mn-lt"/>
            </a:endParaRPr>
          </a:p>
        </p:txBody>
      </p:sp>
    </p:spTree>
    <p:extLst>
      <p:ext uri="{BB962C8B-B14F-4D97-AF65-F5344CB8AC3E}">
        <p14:creationId xmlns:p14="http://schemas.microsoft.com/office/powerpoint/2010/main" val="753450734"/>
      </p:ext>
    </p:extLst>
  </p:cSld>
</p:sld>
</file>

<file path=ppt/slides/slide4.xml><?xml version="1.0" encoding="utf-8"?>
<p:sld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
        <p:nvSpPr>
          <p:cNvPr id="2" name="TextBox 2">
            <a:extLst xmlns:a="http://schemas.openxmlformats.org/drawingml/2006/main">
              <a:ext uri="{FF2B5EF4-FFF2-40B4-BE49-F238E27FC236}">
                <a16:creationId xmlns:a16="http://schemas.microsoft.com/office/drawing/2014/main" id="{D70A033F-CE76-4604-BA5F-9F0BA601C60B}"/>
              </a:ext>
            </a:extLst>
          </p:cNvPr>
          <p:cNvSpPr>
            <a:spLocks xmlns:a="http://schemas.openxmlformats.org/drawingml/2006/main" noGrp="1"/>
          </p:cNvSpPr>
          <p:nvPr/>
        </p:nvSpPr>
        <p:spPr>
          <a:xfrm xmlns:a="http://schemas.openxmlformats.org/drawingml/2006/main">
            <a:off x="481584" y="337185"/>
            <a:ext cx="10019800" cy="52806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2700" b="1">
                <a:solidFill>
                  <a:schemeClr val="dk1"/>
                </a:solidFill>
                <a:latin typeface="+mn-lt"/>
                <a:ea typeface="+mn-lt"/>
                <a:cs typeface="+mn-lt"/>
              </a:rPr>
              <a:t>A residual prior constrains the topology search space</a:t>
            </a:r>
            <a:endParaRPr sz="2700" b="1">
              <a:solidFill>
                <a:schemeClr val="dk1"/>
              </a:solidFill>
              <a:latin typeface="+mn-lt"/>
              <a:ea typeface="+mn-lt"/>
              <a:cs typeface="+mn-lt"/>
            </a:endParaRPr>
          </a:p>
        </p:txBody>
      </p:sp>
      <p:sp>
        <p:nvSpPr>
          <p:cNvPr id="3" name="Line 3">
            <a:extLst xmlns:a="http://schemas.openxmlformats.org/drawingml/2006/main">
              <a:ext uri="{FF2B5EF4-FFF2-40B4-BE49-F238E27FC236}">
                <a16:creationId xmlns:a16="http://schemas.microsoft.com/office/drawing/2014/main" id="{96AD5326-C5ED-4104-BB02-05415918ED48}"/>
              </a:ext>
            </a:extLst>
          </p:cNvPr>
          <p:cNvSpPr>
            <a:spLocks xmlns:a="http://schemas.openxmlformats.org/drawingml/2006/main" noGrp="1"/>
          </p:cNvSpPr>
          <p:nvPr/>
        </p:nvSpPr>
        <p:spPr>
          <a:xfrm xmlns:a="http://schemas.openxmlformats.org/drawingml/2006/main">
            <a:off x="495300" y="933450"/>
            <a:ext cx="11201400" cy="9525"/>
          </a:xfrm>
          <a:custGeom xmlns:a="http://schemas.openxmlformats.org/drawingml/2006/main">
            <a:rect l="l" t="t" r="r" b="b"/>
            <a:pathLst>
              <a:path w="11201400" h="9525">
                <a:moveTo>
                  <a:pt x="0" y="0"/>
                </a:moveTo>
                <a:lnTo>
                  <a:pt x="11201400" y="0"/>
                </a:lnTo>
              </a:path>
            </a:pathLst>
          </a:custGeom>
          <a:noFill xmlns:a="http://schemas.openxmlformats.org/drawingml/2006/main"/>
          <a:ln xmlns:a="http://schemas.openxmlformats.org/drawingml/2006/main" w="28575">
            <a:solidFill>
              <a:schemeClr val="accent1"/>
            </a:solidFill>
          </a:ln>
        </p:spPr>
      </p:sp>
      <p:sp>
        <p:nvSpPr>
          <p:cNvPr id="5" name="Rectangle 5">
            <a:extLst xmlns:a="http://schemas.openxmlformats.org/drawingml/2006/main">
              <a:ext uri="{FF2B5EF4-FFF2-40B4-BE49-F238E27FC236}">
                <a16:creationId xmlns:a16="http://schemas.microsoft.com/office/drawing/2014/main" id="{77000A69-3B18-40D8-A1DF-1D89B9E9D438}"/>
              </a:ext>
            </a:extLst>
          </p:cNvPr>
          <p:cNvSpPr>
            <a:spLocks xmlns:a="http://schemas.openxmlformats.org/drawingml/2006/main" noGrp="1"/>
          </p:cNvSpPr>
          <p:nvPr/>
        </p:nvSpPr>
        <p:spPr>
          <a:xfrm xmlns:a="http://schemas.openxmlformats.org/drawingml/2006/main">
            <a:off x="495300" y="1314450"/>
            <a:ext cx="3276600" cy="3524250"/>
          </a:xfrm>
          <a:prstGeom xmlns:a="http://schemas.openxmlformats.org/drawingml/2006/main" prst="rect">
            <a:avLst/>
          </a:prstGeom>
          <a:solidFill xmlns:a="http://schemas.openxmlformats.org/drawingml/2006/main">
            <a:srgbClr val="FFFFFF"/>
          </a:solidFill>
          <a:ln xmlns:a="http://schemas.openxmlformats.org/drawingml/2006/main" w="9525">
            <a:solidFill>
              <a:schemeClr val="accent5"/>
            </a:solidFill>
          </a:ln>
        </p:spPr>
      </p:sp>
      <p:sp>
        <p:nvSpPr>
          <p:cNvPr id="6" name="Rectangle 6">
            <a:extLst xmlns:a="http://schemas.openxmlformats.org/drawingml/2006/main">
              <a:ext uri="{FF2B5EF4-FFF2-40B4-BE49-F238E27FC236}">
                <a16:creationId xmlns:a16="http://schemas.microsoft.com/office/drawing/2014/main" id="{164D7DC6-126C-4440-834C-F1A07E3D2C1E}"/>
              </a:ext>
            </a:extLst>
          </p:cNvPr>
          <p:cNvSpPr>
            <a:spLocks xmlns:a="http://schemas.openxmlformats.org/drawingml/2006/main" noGrp="1"/>
          </p:cNvSpPr>
          <p:nvPr/>
        </p:nvSpPr>
        <p:spPr>
          <a:xfrm xmlns:a="http://schemas.openxmlformats.org/drawingml/2006/main">
            <a:off x="495300" y="1314450"/>
            <a:ext cx="3276600" cy="95250"/>
          </a:xfrm>
          <a:prstGeom xmlns:a="http://schemas.openxmlformats.org/drawingml/2006/main" prst="rect">
            <a:avLst/>
          </a:prstGeom>
          <a:solidFill xmlns:a="http://schemas.openxmlformats.org/drawingml/2006/main">
            <a:schemeClr val="accent3"/>
          </a:solidFill>
          <a:ln xmlns:a="http://schemas.openxmlformats.org/drawingml/2006/main">
            <a:noFill/>
          </a:ln>
        </p:spPr>
      </p:sp>
      <p:sp>
        <p:nvSpPr>
          <p:cNvPr id="7" name="TextBox 7">
            <a:extLst xmlns:a="http://schemas.openxmlformats.org/drawingml/2006/main">
              <a:ext uri="{FF2B5EF4-FFF2-40B4-BE49-F238E27FC236}">
                <a16:creationId xmlns:a16="http://schemas.microsoft.com/office/drawing/2014/main" id="{489DB6B3-F300-4DAE-BBC1-3015C16CDC16}"/>
              </a:ext>
            </a:extLst>
          </p:cNvPr>
          <p:cNvSpPr>
            <a:spLocks xmlns:a="http://schemas.openxmlformats.org/drawingml/2006/main" noGrp="1"/>
          </p:cNvSpPr>
          <p:nvPr/>
        </p:nvSpPr>
        <p:spPr>
          <a:xfrm xmlns:a="http://schemas.openxmlformats.org/drawingml/2006/main">
            <a:off x="714756" y="1596390"/>
            <a:ext cx="2813182"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800" b="1">
                <a:solidFill>
                  <a:schemeClr val="accent1"/>
                </a:solidFill>
                <a:latin typeface="+mn-lt"/>
                <a:ea typeface="+mn-lt"/>
                <a:cs typeface="+mn-lt"/>
              </a:rPr>
              <a:t>01</a:t>
            </a:r>
            <a:r>
              <a:rPr sz="1800" b="1">
                <a:solidFill>
                  <a:schemeClr val="dk1"/>
                </a:solidFill>
                <a:latin typeface="+mn-lt"/>
                <a:ea typeface="+mn-lt"/>
                <a:cs typeface="+mn-lt"/>
              </a:rPr>
              <a:t> Remove slow trends</a:t>
            </a:r>
            <a:endParaRPr sz="1800" b="1">
              <a:solidFill>
                <a:schemeClr val="dk1"/>
              </a:solidFill>
              <a:latin typeface="+mn-lt"/>
              <a:ea typeface="+mn-lt"/>
              <a:cs typeface="+mn-lt"/>
            </a:endParaRPr>
          </a:p>
        </p:txBody>
      </p:sp>
      <p:sp>
        <p:nvSpPr>
          <p:cNvPr id="8" name="TextBox 8">
            <a:extLst xmlns:a="http://schemas.openxmlformats.org/drawingml/2006/main">
              <a:ext uri="{FF2B5EF4-FFF2-40B4-BE49-F238E27FC236}">
                <a16:creationId xmlns:a16="http://schemas.microsoft.com/office/drawing/2014/main" id="{1913611D-47AB-4E33-AE8A-ADC1178E01B7}"/>
              </a:ext>
            </a:extLst>
          </p:cNvPr>
          <p:cNvSpPr>
            <a:spLocks xmlns:a="http://schemas.openxmlformats.org/drawingml/2006/main" noGrp="1"/>
          </p:cNvSpPr>
          <p:nvPr/>
        </p:nvSpPr>
        <p:spPr>
          <a:xfrm xmlns:a="http://schemas.openxmlformats.org/drawingml/2006/main">
            <a:off x="717042" y="2006918"/>
            <a:ext cx="3048381" cy="5307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lnSpc>
                <a:spcPts val="2100"/>
              </a:lnSpc>
              <a:buNone/>
            </a:pPr>
            <a:r>
              <a:rPr sz="1350">
                <a:solidFill>
                  <a:srgbClr val="5E5A55"/>
                </a:solidFill>
                <a:latin typeface="+mn-lt"/>
                <a:ea typeface="+mn-lt"/>
                <a:cs typeface="+mn-lt"/>
              </a:rPr>
              <a:t>Compute residual co-movement from</a:t>
            </a:r>
            <a:br/>
            <a:r>
              <a:rPr sz="1350">
                <a:solidFill>
                  <a:srgbClr val="5E5A55"/>
                </a:solidFill>
                <a:latin typeface="+mn-lt"/>
                <a:ea typeface="+mn-lt"/>
                <a:cs typeface="+mn-lt"/>
              </a:rPr>
              <a:t>the full training split—once.</a:t>
            </a:r>
            <a:endParaRPr sz="1350">
              <a:solidFill>
                <a:srgbClr val="5E5A55"/>
              </a:solidFill>
              <a:latin typeface="+mn-lt"/>
              <a:ea typeface="+mn-lt"/>
              <a:cs typeface="+mn-lt"/>
            </a:endParaRPr>
          </a:p>
        </p:txBody>
      </p:sp>
      <p:sp>
        <p:nvSpPr>
          <p:cNvPr id="9" name="Rectangle 9">
            <a:extLst xmlns:a="http://schemas.openxmlformats.org/drawingml/2006/main">
              <a:ext uri="{FF2B5EF4-FFF2-40B4-BE49-F238E27FC236}">
                <a16:creationId xmlns:a16="http://schemas.microsoft.com/office/drawing/2014/main" id="{E0F59083-D088-4E19-9FAE-C9844FB2D554}"/>
              </a:ext>
            </a:extLst>
          </p:cNvPr>
          <p:cNvSpPr>
            <a:spLocks xmlns:a="http://schemas.openxmlformats.org/drawingml/2006/main" noGrp="1"/>
          </p:cNvSpPr>
          <p:nvPr/>
        </p:nvSpPr>
        <p:spPr>
          <a:xfrm xmlns:a="http://schemas.openxmlformats.org/drawingml/2006/main">
            <a:off x="685800" y="2819400"/>
            <a:ext cx="2895600" cy="876300"/>
          </a:xfrm>
          <a:prstGeom xmlns:a="http://schemas.openxmlformats.org/drawingml/2006/main" prst="rect">
            <a:avLst/>
          </a:prstGeom>
          <a:solidFill xmlns:a="http://schemas.openxmlformats.org/drawingml/2006/main">
            <a:schemeClr val="lt1"/>
          </a:solidFill>
          <a:ln xmlns:a="http://schemas.openxmlformats.org/drawingml/2006/main">
            <a:noFill/>
          </a:ln>
        </p:spPr>
      </p:sp>
      <p:pic>
        <p:nvPicPr>
          <p:cNvPr id="50" name="Image 10"/>
          <p:cNvPicPr>
            <a:picLocks xmlns:a="http://schemas.openxmlformats.org/drawingml/2006/main" noChangeAspect="1"/>
          </p:cNvPicPr>
          <p:nvPr/>
        </p:nvPicPr>
        <p:blipFill>
          <a:blip xmlns:r="http://schemas.openxmlformats.org/officeDocument/2006/relationships" xmlns:a="http://schemas.openxmlformats.org/drawingml/2006/main" r:embed="R4ef9e2871e2849b2"/>
          <a:stretch xmlns:a="http://schemas.openxmlformats.org/drawingml/2006/main">
            <a:fillRect l="0" t="0" r="0" b="0"/>
          </a:stretch>
        </p:blipFill>
        <p:spPr>
          <a:xfrm xmlns:a="http://schemas.openxmlformats.org/drawingml/2006/main">
            <a:off x="752475" y="2916289"/>
            <a:ext cx="2762250" cy="682522"/>
          </a:xfrm>
          <a:prstGeom xmlns:a="http://schemas.openxmlformats.org/drawingml/2006/main" prst="rect">
            <a:avLst/>
          </a:prstGeom>
        </p:spPr>
      </p:pic>
      <p:sp>
        <p:nvSpPr>
          <p:cNvPr id="11" name="TextBox 11">
            <a:extLst xmlns:a="http://schemas.openxmlformats.org/drawingml/2006/main">
              <a:ext uri="{FF2B5EF4-FFF2-40B4-BE49-F238E27FC236}">
                <a16:creationId xmlns:a16="http://schemas.microsoft.com/office/drawing/2014/main" id="{A0645CA2-5419-4825-8963-D70317ECA538}"/>
              </a:ext>
            </a:extLst>
          </p:cNvPr>
          <p:cNvSpPr>
            <a:spLocks xmlns:a="http://schemas.openxmlformats.org/drawingml/2006/main" noGrp="1"/>
          </p:cNvSpPr>
          <p:nvPr/>
        </p:nvSpPr>
        <p:spPr>
          <a:xfrm xmlns:a="http://schemas.openxmlformats.org/drawingml/2006/main">
            <a:off x="752475" y="3917950"/>
            <a:ext cx="2901315" cy="8267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lnSpc>
                <a:spcPts val="2100"/>
              </a:lnSpc>
              <a:buNone/>
            </a:pPr>
            <a:r>
              <a:rPr sz="1500">
                <a:solidFill>
                  <a:schemeClr val="dk1"/>
                </a:solidFill>
                <a:latin typeface="+mn-lt"/>
                <a:ea typeface="+mn-lt"/>
                <a:cs typeface="+mn-lt"/>
              </a:rPr>
              <a:t>Trend removal prevents shared</a:t>
            </a:r>
            <a:br/>
            <a:r>
              <a:rPr sz="1500">
                <a:solidFill>
                  <a:schemeClr val="dk1"/>
                </a:solidFill>
                <a:latin typeface="+mn-lt"/>
                <a:ea typeface="+mn-lt"/>
                <a:cs typeface="+mn-lt"/>
              </a:rPr>
              <a:t>level shifts from dominating</a:t>
            </a:r>
            <a:br/>
            <a:r>
              <a:rPr sz="1500">
                <a:solidFill>
                  <a:schemeClr val="dk1"/>
                </a:solidFill>
                <a:latin typeface="+mn-lt"/>
                <a:ea typeface="+mn-lt"/>
                <a:cs typeface="+mn-lt"/>
              </a:rPr>
              <a:t>structural evidence.</a:t>
            </a:r>
            <a:endParaRPr sz="1500">
              <a:solidFill>
                <a:schemeClr val="dk1"/>
              </a:solidFill>
              <a:latin typeface="+mn-lt"/>
              <a:ea typeface="+mn-lt"/>
              <a:cs typeface="+mn-lt"/>
            </a:endParaRPr>
          </a:p>
        </p:txBody>
      </p:sp>
      <p:sp>
        <p:nvSpPr>
          <p:cNvPr id="13" name="Rectangle 13">
            <a:extLst xmlns:a="http://schemas.openxmlformats.org/drawingml/2006/main">
              <a:ext uri="{FF2B5EF4-FFF2-40B4-BE49-F238E27FC236}">
                <a16:creationId xmlns:a16="http://schemas.microsoft.com/office/drawing/2014/main" id="{E9AAA5AF-079B-4E78-A4CB-D1EAE426576A}"/>
              </a:ext>
            </a:extLst>
          </p:cNvPr>
          <p:cNvSpPr>
            <a:spLocks xmlns:a="http://schemas.openxmlformats.org/drawingml/2006/main" noGrp="1"/>
          </p:cNvSpPr>
          <p:nvPr/>
        </p:nvSpPr>
        <p:spPr>
          <a:xfrm xmlns:a="http://schemas.openxmlformats.org/drawingml/2006/main">
            <a:off x="4457700" y="1314450"/>
            <a:ext cx="3276600" cy="3524250"/>
          </a:xfrm>
          <a:prstGeom xmlns:a="http://schemas.openxmlformats.org/drawingml/2006/main" prst="rect">
            <a:avLst/>
          </a:prstGeom>
          <a:solidFill xmlns:a="http://schemas.openxmlformats.org/drawingml/2006/main">
            <a:srgbClr val="FFFFFF"/>
          </a:solidFill>
          <a:ln xmlns:a="http://schemas.openxmlformats.org/drawingml/2006/main" w="9525">
            <a:solidFill>
              <a:schemeClr val="accent5"/>
            </a:solidFill>
          </a:ln>
        </p:spPr>
      </p:sp>
      <p:sp>
        <p:nvSpPr>
          <p:cNvPr id="14" name="Rectangle 14">
            <a:extLst xmlns:a="http://schemas.openxmlformats.org/drawingml/2006/main">
              <a:ext uri="{FF2B5EF4-FFF2-40B4-BE49-F238E27FC236}">
                <a16:creationId xmlns:a16="http://schemas.microsoft.com/office/drawing/2014/main" id="{E76ED5ED-8E7C-4200-9175-341E1DFF8ACC}"/>
              </a:ext>
            </a:extLst>
          </p:cNvPr>
          <p:cNvSpPr>
            <a:spLocks xmlns:a="http://schemas.openxmlformats.org/drawingml/2006/main" noGrp="1"/>
          </p:cNvSpPr>
          <p:nvPr/>
        </p:nvSpPr>
        <p:spPr>
          <a:xfrm xmlns:a="http://schemas.openxmlformats.org/drawingml/2006/main">
            <a:off x="4457700" y="1314450"/>
            <a:ext cx="3276600" cy="95250"/>
          </a:xfrm>
          <a:prstGeom xmlns:a="http://schemas.openxmlformats.org/drawingml/2006/main" prst="rect">
            <a:avLst/>
          </a:prstGeom>
          <a:solidFill xmlns:a="http://schemas.openxmlformats.org/drawingml/2006/main">
            <a:schemeClr val="accent3"/>
          </a:solidFill>
          <a:ln xmlns:a="http://schemas.openxmlformats.org/drawingml/2006/main">
            <a:noFill/>
          </a:ln>
        </p:spPr>
      </p:sp>
      <p:sp>
        <p:nvSpPr>
          <p:cNvPr id="15" name="TextBox 15">
            <a:extLst xmlns:a="http://schemas.openxmlformats.org/drawingml/2006/main">
              <a:ext uri="{FF2B5EF4-FFF2-40B4-BE49-F238E27FC236}">
                <a16:creationId xmlns:a16="http://schemas.microsoft.com/office/drawing/2014/main" id="{A2B472DD-0A5F-41AA-B89D-3A721A5E6DE5}"/>
              </a:ext>
            </a:extLst>
          </p:cNvPr>
          <p:cNvSpPr>
            <a:spLocks xmlns:a="http://schemas.openxmlformats.org/drawingml/2006/main" noGrp="1"/>
          </p:cNvSpPr>
          <p:nvPr/>
        </p:nvSpPr>
        <p:spPr>
          <a:xfrm xmlns:a="http://schemas.openxmlformats.org/drawingml/2006/main">
            <a:off x="4752721" y="1579245"/>
            <a:ext cx="2442951"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800" b="1">
                <a:solidFill>
                  <a:schemeClr val="accent1"/>
                </a:solidFill>
                <a:latin typeface="+mn-lt"/>
                <a:ea typeface="+mn-lt"/>
                <a:cs typeface="+mn-lt"/>
              </a:rPr>
              <a:t>02</a:t>
            </a:r>
            <a:r>
              <a:rPr sz="1800" b="1">
                <a:solidFill>
                  <a:schemeClr val="dk1"/>
                </a:solidFill>
                <a:latin typeface="+mn-lt"/>
                <a:ea typeface="+mn-lt"/>
                <a:cs typeface="+mn-lt"/>
              </a:rPr>
              <a:t> Residual affinity</a:t>
            </a:r>
            <a:endParaRPr sz="1800" b="1">
              <a:solidFill>
                <a:schemeClr val="dk1"/>
              </a:solidFill>
              <a:latin typeface="+mn-lt"/>
              <a:ea typeface="+mn-lt"/>
              <a:cs typeface="+mn-lt"/>
            </a:endParaRPr>
          </a:p>
        </p:txBody>
      </p:sp>
      <p:sp>
        <p:nvSpPr>
          <p:cNvPr id="16" name="TextBox 16">
            <a:extLst xmlns:a="http://schemas.openxmlformats.org/drawingml/2006/main">
              <a:ext uri="{FF2B5EF4-FFF2-40B4-BE49-F238E27FC236}">
                <a16:creationId xmlns:a16="http://schemas.microsoft.com/office/drawing/2014/main" id="{AD2BC90A-E715-40DD-AA00-6720CE516D33}"/>
              </a:ext>
            </a:extLst>
          </p:cNvPr>
          <p:cNvSpPr>
            <a:spLocks xmlns:a="http://schemas.openxmlformats.org/drawingml/2006/main" noGrp="1"/>
          </p:cNvSpPr>
          <p:nvPr/>
        </p:nvSpPr>
        <p:spPr>
          <a:xfrm xmlns:a="http://schemas.openxmlformats.org/drawingml/2006/main">
            <a:off x="4679442" y="2006918"/>
            <a:ext cx="2731198" cy="5307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lnSpc>
                <a:spcPts val="2100"/>
              </a:lnSpc>
              <a:buNone/>
            </a:pPr>
            <a:r>
              <a:rPr sz="1350">
                <a:solidFill>
                  <a:srgbClr val="5E5A55"/>
                </a:solidFill>
                <a:latin typeface="+mn-lt"/>
                <a:ea typeface="+mn-lt"/>
                <a:cs typeface="+mn-lt"/>
              </a:rPr>
              <a:t>Scale-invariant cosine similarity</a:t>
            </a:r>
            <a:br/>
            <a:r>
              <a:rPr sz="1350">
                <a:solidFill>
                  <a:srgbClr val="5E5A55"/>
                </a:solidFill>
                <a:latin typeface="+mn-lt"/>
                <a:ea typeface="+mn-lt"/>
                <a:cs typeface="+mn-lt"/>
              </a:rPr>
              <a:t>keeps non-negative evidence.</a:t>
            </a:r>
            <a:endParaRPr sz="1350">
              <a:solidFill>
                <a:srgbClr val="5E5A55"/>
              </a:solidFill>
              <a:latin typeface="+mn-lt"/>
              <a:ea typeface="+mn-lt"/>
              <a:cs typeface="+mn-lt"/>
            </a:endParaRPr>
          </a:p>
        </p:txBody>
      </p:sp>
      <p:sp>
        <p:nvSpPr>
          <p:cNvPr id="17" name="Rectangle 17">
            <a:extLst xmlns:a="http://schemas.openxmlformats.org/drawingml/2006/main">
              <a:ext uri="{FF2B5EF4-FFF2-40B4-BE49-F238E27FC236}">
                <a16:creationId xmlns:a16="http://schemas.microsoft.com/office/drawing/2014/main" id="{7CEFDACE-27B4-4E3D-948D-6919EC0339BD}"/>
              </a:ext>
            </a:extLst>
          </p:cNvPr>
          <p:cNvSpPr>
            <a:spLocks xmlns:a="http://schemas.openxmlformats.org/drawingml/2006/main" noGrp="1"/>
          </p:cNvSpPr>
          <p:nvPr/>
        </p:nvSpPr>
        <p:spPr>
          <a:xfrm xmlns:a="http://schemas.openxmlformats.org/drawingml/2006/main">
            <a:off x="4648200" y="2724150"/>
            <a:ext cx="2895600" cy="1066800"/>
          </a:xfrm>
          <a:prstGeom xmlns:a="http://schemas.openxmlformats.org/drawingml/2006/main" prst="rect">
            <a:avLst/>
          </a:prstGeom>
          <a:solidFill xmlns:a="http://schemas.openxmlformats.org/drawingml/2006/main">
            <a:schemeClr val="lt1"/>
          </a:solidFill>
          <a:ln xmlns:a="http://schemas.openxmlformats.org/drawingml/2006/main">
            <a:noFill/>
          </a:ln>
        </p:spPr>
      </p:sp>
      <p:pic>
        <p:nvPicPr>
          <p:cNvPr id="57" name="Image 18"/>
          <p:cNvPicPr>
            <a:picLocks xmlns:a="http://schemas.openxmlformats.org/drawingml/2006/main" noChangeAspect="1"/>
          </p:cNvPicPr>
          <p:nvPr/>
        </p:nvPicPr>
        <p:blipFill>
          <a:blip xmlns:r="http://schemas.openxmlformats.org/officeDocument/2006/relationships" xmlns:a="http://schemas.openxmlformats.org/drawingml/2006/main" r:embed="Ra7f49872c43446c3"/>
          <a:stretch xmlns:a="http://schemas.openxmlformats.org/drawingml/2006/main">
            <a:fillRect l="0" t="0" r="0" b="0"/>
          </a:stretch>
        </p:blipFill>
        <p:spPr>
          <a:xfrm xmlns:a="http://schemas.openxmlformats.org/drawingml/2006/main">
            <a:off x="4905375" y="2730329"/>
            <a:ext cx="2381250" cy="1054442"/>
          </a:xfrm>
          <a:prstGeom xmlns:a="http://schemas.openxmlformats.org/drawingml/2006/main" prst="rect">
            <a:avLst/>
          </a:prstGeom>
        </p:spPr>
      </p:pic>
      <p:sp>
        <p:nvSpPr>
          <p:cNvPr id="19" name="TextBox 19">
            <a:extLst xmlns:a="http://schemas.openxmlformats.org/drawingml/2006/main">
              <a:ext uri="{FF2B5EF4-FFF2-40B4-BE49-F238E27FC236}">
                <a16:creationId xmlns:a16="http://schemas.microsoft.com/office/drawing/2014/main" id="{E8E9B90E-49E8-4100-88EA-2E13673217F7}"/>
              </a:ext>
            </a:extLst>
          </p:cNvPr>
          <p:cNvSpPr>
            <a:spLocks xmlns:a="http://schemas.openxmlformats.org/drawingml/2006/main" noGrp="1"/>
          </p:cNvSpPr>
          <p:nvPr/>
        </p:nvSpPr>
        <p:spPr>
          <a:xfrm xmlns:a="http://schemas.openxmlformats.org/drawingml/2006/main">
            <a:off x="4791710" y="3977640"/>
            <a:ext cx="2710815" cy="8267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lnSpc>
                <a:spcPts val="2100"/>
              </a:lnSpc>
              <a:buNone/>
            </a:pPr>
            <a:r>
              <a:rPr sz="1500">
                <a:solidFill>
                  <a:schemeClr val="dk1"/>
                </a:solidFill>
                <a:latin typeface="+mn-lt"/>
                <a:ea typeface="+mn-lt"/>
                <a:cs typeface="+mn-lt"/>
              </a:rPr>
              <a:t>The prior captures recurring</a:t>
            </a:r>
            <a:br/>
            <a:r>
              <a:rPr sz="1500">
                <a:solidFill>
                  <a:schemeClr val="dk1"/>
                </a:solidFill>
                <a:latin typeface="+mn-lt"/>
                <a:ea typeface="+mn-lt"/>
                <a:cs typeface="+mn-lt"/>
              </a:rPr>
              <a:t>channel relations before any</a:t>
            </a:r>
            <a:br/>
            <a:r>
              <a:rPr sz="1500">
                <a:solidFill>
                  <a:schemeClr val="dk1"/>
                </a:solidFill>
                <a:latin typeface="+mn-lt"/>
                <a:ea typeface="+mn-lt"/>
                <a:cs typeface="+mn-lt"/>
              </a:rPr>
              <a:t>short patch is observed.</a:t>
            </a:r>
            <a:endParaRPr sz="1500">
              <a:solidFill>
                <a:schemeClr val="dk1"/>
              </a:solidFill>
              <a:latin typeface="+mn-lt"/>
              <a:ea typeface="+mn-lt"/>
              <a:cs typeface="+mn-lt"/>
            </a:endParaRPr>
          </a:p>
        </p:txBody>
      </p:sp>
      <p:sp>
        <p:nvSpPr>
          <p:cNvPr id="21" name="Rectangle 21">
            <a:extLst xmlns:a="http://schemas.openxmlformats.org/drawingml/2006/main">
              <a:ext uri="{FF2B5EF4-FFF2-40B4-BE49-F238E27FC236}">
                <a16:creationId xmlns:a16="http://schemas.microsoft.com/office/drawing/2014/main" id="{AE9E9F39-2A56-4D1F-B1F4-C12DD4659A25}"/>
              </a:ext>
            </a:extLst>
          </p:cNvPr>
          <p:cNvSpPr>
            <a:spLocks xmlns:a="http://schemas.openxmlformats.org/drawingml/2006/main" noGrp="1"/>
          </p:cNvSpPr>
          <p:nvPr/>
        </p:nvSpPr>
        <p:spPr>
          <a:xfrm xmlns:a="http://schemas.openxmlformats.org/drawingml/2006/main">
            <a:off x="8420100" y="1314450"/>
            <a:ext cx="3276600" cy="3524250"/>
          </a:xfrm>
          <a:prstGeom xmlns:a="http://schemas.openxmlformats.org/drawingml/2006/main" prst="rect">
            <a:avLst/>
          </a:prstGeom>
          <a:solidFill xmlns:a="http://schemas.openxmlformats.org/drawingml/2006/main">
            <a:srgbClr val="FFFFFF"/>
          </a:solidFill>
          <a:ln xmlns:a="http://schemas.openxmlformats.org/drawingml/2006/main" w="9525">
            <a:solidFill>
              <a:schemeClr val="accent5"/>
            </a:solidFill>
            <a:prstDash val="solid"/>
          </a:ln>
        </p:spPr>
        <p:style>
          <a:lnRef xmlns:a="http://schemas.openxmlformats.org/drawingml/2006/main" idx="2">
            <a:schemeClr val="accent6"/>
          </a:lnRef>
          <a:fillRef xmlns:a="http://schemas.openxmlformats.org/drawingml/2006/main" idx="0">
            <a:srgbClr val="FFFFFF"/>
          </a:fillRef>
          <a:effectRef xmlns:a="http://schemas.openxmlformats.org/drawingml/2006/main" idx="0">
            <a:srgbClr val="FFFFFF"/>
          </a:effectRef>
          <a:fontRef xmlns:a="http://schemas.openxmlformats.org/drawingml/2006/main" idx="minor">
            <a:schemeClr val="tx1"/>
          </a:fontRef>
        </p:style>
      </p:sp>
      <p:sp>
        <p:nvSpPr>
          <p:cNvPr id="22" name="Rectangle 22">
            <a:extLst xmlns:a="http://schemas.openxmlformats.org/drawingml/2006/main">
              <a:ext uri="{FF2B5EF4-FFF2-40B4-BE49-F238E27FC236}">
                <a16:creationId xmlns:a16="http://schemas.microsoft.com/office/drawing/2014/main" id="{46F1F137-C1D7-4064-B4A8-19DD0349C645}"/>
              </a:ext>
            </a:extLst>
          </p:cNvPr>
          <p:cNvSpPr>
            <a:spLocks xmlns:a="http://schemas.openxmlformats.org/drawingml/2006/main" noGrp="1"/>
          </p:cNvSpPr>
          <p:nvPr/>
        </p:nvSpPr>
        <p:spPr>
          <a:xfrm xmlns:a="http://schemas.openxmlformats.org/drawingml/2006/main">
            <a:off x="8420100" y="1314450"/>
            <a:ext cx="3276600" cy="95250"/>
          </a:xfrm>
          <a:prstGeom xmlns:a="http://schemas.openxmlformats.org/drawingml/2006/main" prst="rect">
            <a:avLst/>
          </a:prstGeom>
          <a:solidFill xmlns:a="http://schemas.openxmlformats.org/drawingml/2006/main">
            <a:schemeClr val="accent3"/>
          </a:solidFill>
          <a:ln xmlns:a="http://schemas.openxmlformats.org/drawingml/2006/main" w="0">
            <a:noFill/>
            <a:prstDash val="solid"/>
          </a:ln>
        </p:spPr>
        <p:style>
          <a:lnRef xmlns:a="http://schemas.openxmlformats.org/drawingml/2006/main" idx="0">
            <a:srgbClr val="FFFFFF"/>
          </a:lnRef>
          <a:fillRef xmlns:a="http://schemas.openxmlformats.org/drawingml/2006/main" idx="1">
            <a:schemeClr val="accent3"/>
          </a:fillRef>
          <a:effectRef xmlns:a="http://schemas.openxmlformats.org/drawingml/2006/main" idx="0">
            <a:srgbClr val="FFFFFF"/>
          </a:effectRef>
          <a:fontRef xmlns:a="http://schemas.openxmlformats.org/drawingml/2006/main" idx="minor">
            <a:schemeClr val="dk1"/>
          </a:fontRef>
        </p:style>
      </p:sp>
      <p:sp>
        <p:nvSpPr>
          <p:cNvPr id="23" name="TextBox 23">
            <a:extLst xmlns:a="http://schemas.openxmlformats.org/drawingml/2006/main">
              <a:ext uri="{FF2B5EF4-FFF2-40B4-BE49-F238E27FC236}">
                <a16:creationId xmlns:a16="http://schemas.microsoft.com/office/drawing/2014/main" id="{8B55F4D7-5E15-4A18-A5CA-1BEFFCFE68A6}"/>
              </a:ext>
            </a:extLst>
          </p:cNvPr>
          <p:cNvSpPr>
            <a:spLocks xmlns:a="http://schemas.openxmlformats.org/drawingml/2006/main" noGrp="1"/>
          </p:cNvSpPr>
          <p:nvPr/>
        </p:nvSpPr>
        <p:spPr>
          <a:xfrm xmlns:a="http://schemas.openxmlformats.org/drawingml/2006/main">
            <a:off x="8639556" y="1596390"/>
            <a:ext cx="2813209" cy="3520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defRPr>
                <a:latin typeface="+mn-lt"/>
                <a:ea typeface="+mn-lt"/>
                <a:cs typeface="+mn-lt"/>
              </a:defRPr>
            </a:pPr>
            <a:r>
              <a:rPr sz="1800" b="1">
                <a:solidFill>
                  <a:schemeClr val="accent1"/>
                </a:solidFill>
                <a:latin typeface="+mn-lt"/>
                <a:ea typeface="+mn-lt"/>
                <a:cs typeface="+mn-lt"/>
              </a:rPr>
              <a:t>03</a:t>
            </a:r>
            <a:r>
              <a:rPr sz="1800" b="1">
                <a:solidFill>
                  <a:schemeClr val="dk1"/>
                </a:solidFill>
                <a:latin typeface="+mn-lt"/>
                <a:ea typeface="+mn-lt"/>
                <a:cs typeface="+mn-lt"/>
              </a:rPr>
              <a:t> Constrain basis modes</a:t>
            </a:r>
            <a:endParaRPr sz="1800" b="1">
              <a:solidFill>
                <a:schemeClr val="dk1"/>
              </a:solidFill>
              <a:latin typeface="+mn-lt"/>
              <a:ea typeface="+mn-lt"/>
              <a:cs typeface="+mn-lt"/>
            </a:endParaRPr>
          </a:p>
        </p:txBody>
      </p:sp>
      <p:sp>
        <p:nvSpPr>
          <p:cNvPr id="24" name="TextBox 24">
            <a:extLst xmlns:a="http://schemas.openxmlformats.org/drawingml/2006/main">
              <a:ext uri="{FF2B5EF4-FFF2-40B4-BE49-F238E27FC236}">
                <a16:creationId xmlns:a16="http://schemas.microsoft.com/office/drawing/2014/main" id="{FA01CCE6-7356-486F-9757-CED5E1808A54}"/>
              </a:ext>
            </a:extLst>
          </p:cNvPr>
          <p:cNvSpPr>
            <a:spLocks xmlns:a="http://schemas.openxmlformats.org/drawingml/2006/main" noGrp="1"/>
          </p:cNvSpPr>
          <p:nvPr/>
        </p:nvSpPr>
        <p:spPr>
          <a:xfrm xmlns:a="http://schemas.openxmlformats.org/drawingml/2006/main">
            <a:off x="8641842" y="2006918"/>
            <a:ext cx="3048381"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lnSpc>
                <a:spcPts val="2100"/>
              </a:lnSpc>
              <a:buNone/>
            </a:pPr>
            <a:r>
              <a:rPr sz="1350">
                <a:solidFill>
                  <a:srgbClr val="5E5A55"/>
                </a:solidFill>
                <a:latin typeface="+mn-lt"/>
                <a:ea typeface="+mn-lt"/>
                <a:cs typeface="+mn-lt"/>
              </a:rPr>
              <a:t>Keep the dominant R eigenvectors;</a:t>
            </a:r>
            <a:br/>
            <a:r>
              <a:rPr sz="1350">
                <a:solidFill>
                  <a:srgbClr val="5E5A55"/>
                </a:solidFill>
                <a:latin typeface="+mn-lt"/>
                <a:ea typeface="+mn-lt"/>
                <a:cs typeface="+mn-lt"/>
              </a:rPr>
              <a:t>learn only their rotation and mixing.</a:t>
            </a:r>
            <a:endParaRPr sz="1350">
              <a:solidFill>
                <a:srgbClr val="5E5A55"/>
              </a:solidFill>
              <a:latin typeface="+mn-lt"/>
              <a:ea typeface="+mn-lt"/>
              <a:cs typeface="+mn-lt"/>
            </a:endParaRPr>
          </a:p>
        </p:txBody>
      </p:sp>
      <p:sp>
        <p:nvSpPr>
          <p:cNvPr id="25" name="Rectangle 25">
            <a:extLst xmlns:a="http://schemas.openxmlformats.org/drawingml/2006/main">
              <a:ext uri="{FF2B5EF4-FFF2-40B4-BE49-F238E27FC236}">
                <a16:creationId xmlns:a16="http://schemas.microsoft.com/office/drawing/2014/main" id="{3AD21FB4-4CD9-47F4-A1FC-1438F3CC8195}"/>
              </a:ext>
            </a:extLst>
          </p:cNvPr>
          <p:cNvSpPr>
            <a:spLocks xmlns:a="http://schemas.openxmlformats.org/drawingml/2006/main" noGrp="1"/>
          </p:cNvSpPr>
          <p:nvPr/>
        </p:nvSpPr>
        <p:spPr>
          <a:xfrm xmlns:a="http://schemas.openxmlformats.org/drawingml/2006/main">
            <a:off x="8610600" y="2819400"/>
            <a:ext cx="2895600" cy="876300"/>
          </a:xfrm>
          <a:prstGeom xmlns:a="http://schemas.openxmlformats.org/drawingml/2006/main" prst="rect">
            <a:avLst/>
          </a:prstGeom>
          <a:solidFill xmlns:a="http://schemas.openxmlformats.org/drawingml/2006/main">
            <a:schemeClr val="lt1"/>
          </a:solidFill>
          <a:ln xmlns:a="http://schemas.openxmlformats.org/drawingml/2006/main" w="0">
            <a:noFill/>
            <a:prstDash val="solid"/>
          </a:ln>
        </p:spPr>
      </p:sp>
      <p:pic>
        <p:nvPicPr>
          <p:cNvPr id="64" name="Image 26"/>
          <p:cNvPicPr>
            <a:picLocks xmlns:a="http://schemas.openxmlformats.org/drawingml/2006/main" noChangeAspect="1"/>
          </p:cNvPicPr>
          <p:nvPr/>
        </p:nvPicPr>
        <p:blipFill>
          <a:blip xmlns:r="http://schemas.openxmlformats.org/officeDocument/2006/relationships" xmlns:a="http://schemas.openxmlformats.org/drawingml/2006/main" r:embed="R8d5195651d9542cc"/>
          <a:stretch xmlns:a="http://schemas.openxmlformats.org/drawingml/2006/main">
            <a:fillRect l="0" t="0" r="0" b="0"/>
          </a:stretch>
        </p:blipFill>
        <p:spPr>
          <a:xfrm xmlns:a="http://schemas.openxmlformats.org/drawingml/2006/main">
            <a:off x="8677275" y="2936009"/>
            <a:ext cx="2762250" cy="643081"/>
          </a:xfrm>
          <a:prstGeom xmlns:a="http://schemas.openxmlformats.org/drawingml/2006/main" prst="rect">
            <a:avLst/>
          </a:prstGeom>
        </p:spPr>
      </p:pic>
      <p:sp>
        <p:nvSpPr>
          <p:cNvPr id="27" name="TextBox 27">
            <a:extLst xmlns:a="http://schemas.openxmlformats.org/drawingml/2006/main">
              <a:ext uri="{FF2B5EF4-FFF2-40B4-BE49-F238E27FC236}">
                <a16:creationId xmlns:a16="http://schemas.microsoft.com/office/drawing/2014/main" id="{2E0919D4-E2C0-4A5D-A8FB-2D3AE7932D33}"/>
              </a:ext>
            </a:extLst>
          </p:cNvPr>
          <p:cNvSpPr>
            <a:spLocks xmlns:a="http://schemas.openxmlformats.org/drawingml/2006/main" noGrp="1"/>
          </p:cNvSpPr>
          <p:nvPr/>
        </p:nvSpPr>
        <p:spPr>
          <a:xfrm xmlns:a="http://schemas.openxmlformats.org/drawingml/2006/main">
            <a:off x="8658225" y="3917918"/>
            <a:ext cx="2901315" cy="82677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lnSpc>
                <a:spcPts val="2100"/>
              </a:lnSpc>
              <a:buNone/>
            </a:pPr>
            <a:r>
              <a:rPr sz="1500">
                <a:solidFill>
                  <a:schemeClr val="dk1"/>
                </a:solidFill>
                <a:latin typeface="+mn-lt"/>
                <a:ea typeface="+mn-lt"/>
                <a:cs typeface="+mn-lt"/>
              </a:rPr>
              <a:t>Updates may reweight modes,</a:t>
            </a:r>
            <a:br/>
            <a:r>
              <a:rPr sz="1500">
                <a:solidFill>
                  <a:schemeClr val="dk1"/>
                </a:solidFill>
                <a:latin typeface="+mn-lt"/>
                <a:ea typeface="+mn-lt"/>
                <a:cs typeface="+mn-lt"/>
              </a:rPr>
              <a:t>but cannot drift outside the</a:t>
            </a:r>
            <a:br/>
            <a:r>
              <a:rPr sz="1500">
                <a:solidFill>
                  <a:schemeClr val="dk1"/>
                </a:solidFill>
                <a:latin typeface="+mn-lt"/>
                <a:ea typeface="+mn-lt"/>
                <a:cs typeface="+mn-lt"/>
              </a:rPr>
              <a:t>dominant structural subspace.</a:t>
            </a:r>
            <a:endParaRPr sz="1500">
              <a:solidFill>
                <a:schemeClr val="dk1"/>
              </a:solidFill>
              <a:latin typeface="+mn-lt"/>
              <a:ea typeface="+mn-lt"/>
              <a:cs typeface="+mn-lt"/>
            </a:endParaRPr>
          </a:p>
        </p:txBody>
      </p:sp>
      <p:sp>
        <p:nvSpPr>
          <p:cNvPr id="29" name="Line 29">
            <a:extLst xmlns:a="http://schemas.openxmlformats.org/drawingml/2006/main">
              <a:ext uri="{FF2B5EF4-FFF2-40B4-BE49-F238E27FC236}">
                <a16:creationId xmlns:a16="http://schemas.microsoft.com/office/drawing/2014/main" id="{7745CCE0-084F-4F37-B5C0-A03F1357EDD4}"/>
              </a:ext>
            </a:extLst>
          </p:cNvPr>
          <p:cNvSpPr>
            <a:spLocks xmlns:a="http://schemas.openxmlformats.org/drawingml/2006/main" noGrp="1"/>
          </p:cNvSpPr>
          <p:nvPr/>
        </p:nvSpPr>
        <p:spPr>
          <a:xfrm xmlns:a="http://schemas.openxmlformats.org/drawingml/2006/main">
            <a:off x="3886200" y="3028950"/>
            <a:ext cx="419100" cy="1"/>
          </a:xfrm>
          <a:prstGeom xmlns:a="http://schemas.openxmlformats.org/drawingml/2006/main" prst="line">
            <a:avLst/>
          </a:prstGeom>
          <a:noFill xmlns:a="http://schemas.openxmlformats.org/drawingml/2006/main"/>
          <a:ln xmlns:a="http://schemas.openxmlformats.org/drawingml/2006/main" w="28575">
            <a:solidFill>
              <a:schemeClr val="accent1"/>
            </a:solidFill>
            <a:tailEnd type="triangle" w="lg" len="lg"/>
          </a:ln>
        </p:spPr>
      </p:sp>
      <p:sp>
        <p:nvSpPr>
          <p:cNvPr id="30" name="Line 30">
            <a:extLst xmlns:a="http://schemas.openxmlformats.org/drawingml/2006/main">
              <a:ext uri="{FF2B5EF4-FFF2-40B4-BE49-F238E27FC236}">
                <a16:creationId xmlns:a16="http://schemas.microsoft.com/office/drawing/2014/main" id="{AAA0CEC1-01C9-440B-A888-2178ABBE0086}"/>
              </a:ext>
            </a:extLst>
          </p:cNvPr>
          <p:cNvSpPr>
            <a:spLocks xmlns:a="http://schemas.openxmlformats.org/drawingml/2006/main" noGrp="1"/>
          </p:cNvSpPr>
          <p:nvPr/>
        </p:nvSpPr>
        <p:spPr>
          <a:xfrm xmlns:a="http://schemas.openxmlformats.org/drawingml/2006/main">
            <a:off x="7848600" y="3028950"/>
            <a:ext cx="419100" cy="1"/>
          </a:xfrm>
          <a:prstGeom xmlns:a="http://schemas.openxmlformats.org/drawingml/2006/main" prst="line">
            <a:avLst/>
          </a:prstGeom>
          <a:noFill xmlns:a="http://schemas.openxmlformats.org/drawingml/2006/main"/>
          <a:ln xmlns:a="http://schemas.openxmlformats.org/drawingml/2006/main" w="28575">
            <a:solidFill>
              <a:schemeClr val="accent1"/>
            </a:solidFill>
            <a:tailEnd type="triangle" w="lg" len="lg"/>
          </a:ln>
        </p:spPr>
      </p:sp>
      <p:sp>
        <p:nvSpPr>
          <p:cNvPr id="32" name="Rectangle 32">
            <a:extLst xmlns:a="http://schemas.openxmlformats.org/drawingml/2006/main">
              <a:ext uri="{FF2B5EF4-FFF2-40B4-BE49-F238E27FC236}">
                <a16:creationId xmlns:a16="http://schemas.microsoft.com/office/drawing/2014/main" id="{6ED8885A-1C0A-4E25-A7A5-F2A3E7F2F5C7}"/>
              </a:ext>
            </a:extLst>
          </p:cNvPr>
          <p:cNvSpPr>
            <a:spLocks xmlns:a="http://schemas.openxmlformats.org/drawingml/2006/main" noGrp="1"/>
          </p:cNvSpPr>
          <p:nvPr/>
        </p:nvSpPr>
        <p:spPr>
          <a:xfrm xmlns:a="http://schemas.openxmlformats.org/drawingml/2006/main">
            <a:off x="1200150" y="5219700"/>
            <a:ext cx="9791700" cy="838200"/>
          </a:xfrm>
          <a:prstGeom xmlns:a="http://schemas.openxmlformats.org/drawingml/2006/main" prst="rect">
            <a:avLst/>
          </a:prstGeom>
          <a:solidFill xmlns:a="http://schemas.openxmlformats.org/drawingml/2006/main">
            <a:schemeClr val="accent3"/>
          </a:solidFill>
          <a:ln xmlns:a="http://schemas.openxmlformats.org/drawingml/2006/main">
            <a:noFill/>
          </a:ln>
        </p:spPr>
      </p:sp>
      <p:sp>
        <p:nvSpPr>
          <p:cNvPr id="33" name="Rectangle 33">
            <a:extLst xmlns:a="http://schemas.openxmlformats.org/drawingml/2006/main">
              <a:ext uri="{FF2B5EF4-FFF2-40B4-BE49-F238E27FC236}">
                <a16:creationId xmlns:a16="http://schemas.microsoft.com/office/drawing/2014/main" id="{35E9CF39-590F-4E37-B50A-C825F0EEDFDC}"/>
              </a:ext>
            </a:extLst>
          </p:cNvPr>
          <p:cNvSpPr>
            <a:spLocks xmlns:a="http://schemas.openxmlformats.org/drawingml/2006/main" noGrp="1"/>
          </p:cNvSpPr>
          <p:nvPr/>
        </p:nvSpPr>
        <p:spPr>
          <a:xfrm xmlns:a="http://schemas.openxmlformats.org/drawingml/2006/main">
            <a:off x="1200150" y="5219700"/>
            <a:ext cx="95250" cy="838200"/>
          </a:xfrm>
          <a:prstGeom xmlns:a="http://schemas.openxmlformats.org/drawingml/2006/main" prst="rect">
            <a:avLst/>
          </a:prstGeom>
          <a:solidFill xmlns:a="http://schemas.openxmlformats.org/drawingml/2006/main">
            <a:schemeClr val="accent1"/>
          </a:solidFill>
          <a:ln xmlns:a="http://schemas.openxmlformats.org/drawingml/2006/main">
            <a:noFill/>
          </a:ln>
        </p:spPr>
      </p:sp>
      <p:sp>
        <p:nvSpPr>
          <p:cNvPr id="34" name="TextBox 34">
            <a:extLst xmlns:a="http://schemas.openxmlformats.org/drawingml/2006/main">
              <a:ext uri="{FF2B5EF4-FFF2-40B4-BE49-F238E27FC236}">
                <a16:creationId xmlns:a16="http://schemas.microsoft.com/office/drawing/2014/main" id="{1C95008A-C131-4CF0-8349-54D490257EEE}"/>
              </a:ext>
            </a:extLst>
          </p:cNvPr>
          <p:cNvSpPr>
            <a:spLocks xmlns:a="http://schemas.openxmlformats.org/drawingml/2006/main" noGrp="1"/>
          </p:cNvSpPr>
          <p:nvPr/>
        </p:nvSpPr>
        <p:spPr>
          <a:xfrm xmlns:a="http://schemas.openxmlformats.org/drawingml/2006/main">
            <a:off x="1498092" y="5506403"/>
            <a:ext cx="1717449"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a:solidFill>
                  <a:schemeClr val="accent1"/>
                </a:solidFill>
                <a:latin typeface="+mn-lt"/>
                <a:ea typeface="+mn-lt"/>
                <a:cs typeface="+mn-lt"/>
              </a:rPr>
              <a:t>WHY THIS MATTERS</a:t>
            </a:r>
            <a:endParaRPr sz="1350" b="1">
              <a:solidFill>
                <a:schemeClr val="accent1"/>
              </a:solidFill>
              <a:latin typeface="+mn-lt"/>
              <a:ea typeface="+mn-lt"/>
              <a:cs typeface="+mn-lt"/>
            </a:endParaRPr>
          </a:p>
        </p:txBody>
      </p:sp>
      <p:sp>
        <p:nvSpPr>
          <p:cNvPr id="35" name="TextBox 35">
            <a:extLst xmlns:a="http://schemas.openxmlformats.org/drawingml/2006/main">
              <a:ext uri="{FF2B5EF4-FFF2-40B4-BE49-F238E27FC236}">
                <a16:creationId xmlns:a16="http://schemas.microsoft.com/office/drawing/2014/main" id="{BFD06BC3-BF26-4BF3-B9F1-E6727D154DED}"/>
              </a:ext>
            </a:extLst>
          </p:cNvPr>
          <p:cNvSpPr>
            <a:spLocks xmlns:a="http://schemas.openxmlformats.org/drawingml/2006/main" noGrp="1"/>
          </p:cNvSpPr>
          <p:nvPr/>
        </p:nvSpPr>
        <p:spPr>
          <a:xfrm xmlns:a="http://schemas.openxmlformats.org/drawingml/2006/main">
            <a:off x="3771773" y="5363527"/>
            <a:ext cx="5737479" cy="57035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lnSpc>
                <a:spcPts val="1950"/>
              </a:lnSpc>
              <a:buNone/>
            </a:pPr>
            <a:r>
              <a:rPr sz="1650" b="1">
                <a:solidFill>
                  <a:schemeClr val="dk1"/>
                </a:solidFill>
                <a:latin typeface="+mn-lt"/>
                <a:ea typeface="+mn-lt"/>
                <a:cs typeface="+mn-lt"/>
              </a:rPr>
              <a:t>Learn inside a data-derived O(CR) search space—</a:t>
            </a:r>
            <a:br/>
            <a:r>
              <a:rPr sz="1650" b="1">
                <a:solidFill>
                  <a:schemeClr val="dk1"/>
                </a:solidFill>
                <a:latin typeface="+mn-lt"/>
                <a:ea typeface="+mn-lt"/>
                <a:cs typeface="+mn-lt"/>
              </a:rPr>
              <a:t>rather than rediscovering O(C²) topology per patch.</a:t>
            </a:r>
            <a:endParaRPr sz="1650" b="1">
              <a:solidFill>
                <a:schemeClr val="dk1"/>
              </a:solidFill>
              <a:latin typeface="+mn-lt"/>
              <a:ea typeface="+mn-lt"/>
              <a:cs typeface="+mn-lt"/>
            </a:endParaRPr>
          </a:p>
        </p:txBody>
      </p:sp>
      <p:sp>
        <p:nvSpPr>
          <p:cNvPr id="37" name="Line 37">
            <a:extLst xmlns:a="http://schemas.openxmlformats.org/drawingml/2006/main">
              <a:ext uri="{FF2B5EF4-FFF2-40B4-BE49-F238E27FC236}">
                <a16:creationId xmlns:a16="http://schemas.microsoft.com/office/drawing/2014/main" id="{F7F00957-DA76-4832-AAF4-CECAA3A31C5F}"/>
              </a:ext>
            </a:extLst>
          </p:cNvPr>
          <p:cNvSpPr>
            <a:spLocks xmlns:a="http://schemas.openxmlformats.org/drawingml/2006/main" noGrp="1"/>
          </p:cNvSpPr>
          <p:nvPr/>
        </p:nvSpPr>
        <p:spPr>
          <a:xfrm xmlns:a="http://schemas.openxmlformats.org/drawingml/2006/main">
            <a:off x="495300" y="6362700"/>
            <a:ext cx="11201400" cy="9525"/>
          </a:xfrm>
          <a:custGeom xmlns:a="http://schemas.openxmlformats.org/drawingml/2006/main">
            <a:rect l="l" t="t" r="r" b="b"/>
            <a:pathLst>
              <a:path w="11201400" h="9525">
                <a:moveTo>
                  <a:pt x="0" y="0"/>
                </a:moveTo>
                <a:lnTo>
                  <a:pt x="11201400" y="0"/>
                </a:lnTo>
              </a:path>
            </a:pathLst>
          </a:custGeom>
          <a:noFill xmlns:a="http://schemas.openxmlformats.org/drawingml/2006/main"/>
          <a:ln xmlns:a="http://schemas.openxmlformats.org/drawingml/2006/main" w="9525">
            <a:solidFill>
              <a:schemeClr val="accent5"/>
            </a:solidFill>
          </a:ln>
        </p:spPr>
      </p:sp>
      <p:sp>
        <p:nvSpPr>
          <p:cNvPr id="39" name="TextBox 39">
            <a:extLst xmlns:a="http://schemas.openxmlformats.org/drawingml/2006/main">
              <a:ext uri="{FF2B5EF4-FFF2-40B4-BE49-F238E27FC236}">
                <a16:creationId xmlns:a16="http://schemas.microsoft.com/office/drawing/2014/main" id="{0DFD9C74-1FAF-4563-A514-7853E993EF0F}"/>
              </a:ext>
            </a:extLst>
          </p:cNvPr>
          <p:cNvSpPr>
            <a:spLocks xmlns:a="http://schemas.openxmlformats.org/drawingml/2006/main" noGrp="1"/>
          </p:cNvSpPr>
          <p:nvPr/>
        </p:nvSpPr>
        <p:spPr>
          <a:xfrm xmlns:a="http://schemas.openxmlformats.org/drawingml/2006/main">
            <a:off x="11528106" y="6497002"/>
            <a:ext cx="173928" cy="205359"/>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r">
              <a:buNone/>
            </a:pPr>
            <a:r>
              <a:rPr sz="1050" b="1">
                <a:solidFill>
                  <a:schemeClr val="accent1"/>
                </a:solidFill>
                <a:latin typeface="+mn-lt"/>
                <a:ea typeface="+mn-lt"/>
                <a:cs typeface="+mn-lt"/>
              </a:rPr>
              <a:t>04</a:t>
            </a:r>
            <a:endParaRPr sz="1050" b="1">
              <a:solidFill>
                <a:schemeClr val="accent1"/>
              </a:solidFill>
              <a:latin typeface="+mn-lt"/>
              <a:ea typeface="+mn-lt"/>
              <a:cs typeface="+mn-lt"/>
            </a:endParaRPr>
          </a:p>
        </p:txBody>
      </p:sp>
    </p:spTree>
    <p:extLst>
      <p:ext uri="{BB962C8B-B14F-4D97-AF65-F5344CB8AC3E}">
        <p14:creationId xmlns:p14="http://schemas.microsoft.com/office/powerpoint/2010/main" val="775893069"/>
      </p:ext>
    </p:extLst>
  </p:cSld>
</p:sld>
</file>

<file path=ppt/slides/slide5.xml><?xml version="1.0" encoding="utf-8"?>
<p:sld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
        <p:nvSpPr>
          <p:cNvPr id="2" name="TextBox 2">
            <a:extLst xmlns:a="http://schemas.openxmlformats.org/drawingml/2006/main">
              <a:ext uri="{FF2B5EF4-FFF2-40B4-BE49-F238E27FC236}">
                <a16:creationId xmlns:a16="http://schemas.microsoft.com/office/drawing/2014/main" id="{E06D3CB6-45BD-4939-A3CF-08666B8BC8FF}"/>
              </a:ext>
            </a:extLst>
          </p:cNvPr>
          <p:cNvSpPr>
            <a:spLocks xmlns:a="http://schemas.openxmlformats.org/drawingml/2006/main" noGrp="1"/>
          </p:cNvSpPr>
          <p:nvPr/>
        </p:nvSpPr>
        <p:spPr>
          <a:xfrm xmlns:a="http://schemas.openxmlformats.org/drawingml/2006/main">
            <a:off x="481584" y="337185"/>
            <a:ext cx="11203265" cy="52806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2700" b="1">
                <a:solidFill>
                  <a:schemeClr val="dk1"/>
                </a:solidFill>
                <a:latin typeface="+mn-lt"/>
                <a:ea typeface="+mn-lt"/>
                <a:cs typeface="+mn-lt"/>
              </a:rPr>
              <a:t>Context-aware mixing yields a patch-specific directed graph</a:t>
            </a:r>
            <a:endParaRPr sz="2700" b="1">
              <a:solidFill>
                <a:schemeClr val="dk1"/>
              </a:solidFill>
              <a:latin typeface="+mn-lt"/>
              <a:ea typeface="+mn-lt"/>
              <a:cs typeface="+mn-lt"/>
            </a:endParaRPr>
          </a:p>
        </p:txBody>
      </p:sp>
      <p:sp>
        <p:nvSpPr>
          <p:cNvPr id="3" name="Line 3">
            <a:extLst xmlns:a="http://schemas.openxmlformats.org/drawingml/2006/main">
              <a:ext uri="{FF2B5EF4-FFF2-40B4-BE49-F238E27FC236}">
                <a16:creationId xmlns:a16="http://schemas.microsoft.com/office/drawing/2014/main" id="{6AE56F97-2892-4339-BEDE-CC750FB3D74A}"/>
              </a:ext>
            </a:extLst>
          </p:cNvPr>
          <p:cNvSpPr>
            <a:spLocks xmlns:a="http://schemas.openxmlformats.org/drawingml/2006/main" noGrp="1"/>
          </p:cNvSpPr>
          <p:nvPr/>
        </p:nvSpPr>
        <p:spPr>
          <a:xfrm xmlns:a="http://schemas.openxmlformats.org/drawingml/2006/main">
            <a:off x="495300" y="933450"/>
            <a:ext cx="11201400" cy="9525"/>
          </a:xfrm>
          <a:custGeom xmlns:a="http://schemas.openxmlformats.org/drawingml/2006/main">
            <a:rect l="l" t="t" r="r" b="b"/>
            <a:pathLst>
              <a:path w="11201400" h="9525">
                <a:moveTo>
                  <a:pt x="0" y="0"/>
                </a:moveTo>
                <a:lnTo>
                  <a:pt x="11201400" y="0"/>
                </a:lnTo>
              </a:path>
            </a:pathLst>
          </a:custGeom>
          <a:noFill xmlns:a="http://schemas.openxmlformats.org/drawingml/2006/main"/>
          <a:ln xmlns:a="http://schemas.openxmlformats.org/drawingml/2006/main" w="28575">
            <a:solidFill>
              <a:schemeClr val="accent1"/>
            </a:solidFill>
          </a:ln>
        </p:spPr>
      </p:sp>
      <p:sp>
        <p:nvSpPr>
          <p:cNvPr id="5" name="Line 5">
            <a:extLst xmlns:a="http://schemas.openxmlformats.org/drawingml/2006/main">
              <a:ext uri="{FF2B5EF4-FFF2-40B4-BE49-F238E27FC236}">
                <a16:creationId xmlns:a16="http://schemas.microsoft.com/office/drawing/2014/main" id="{731987E2-D823-4BC0-8348-10C1BEF1EA9C}"/>
              </a:ext>
            </a:extLst>
          </p:cNvPr>
          <p:cNvSpPr>
            <a:spLocks xmlns:a="http://schemas.openxmlformats.org/drawingml/2006/main" noGrp="1"/>
          </p:cNvSpPr>
          <p:nvPr/>
        </p:nvSpPr>
        <p:spPr>
          <a:xfrm xmlns:a="http://schemas.openxmlformats.org/drawingml/2006/main">
            <a:off x="1257300" y="2571750"/>
            <a:ext cx="9677400" cy="0"/>
          </a:xfrm>
          <a:prstGeom xmlns:a="http://schemas.openxmlformats.org/drawingml/2006/main" prst="line">
            <a:avLst/>
          </a:prstGeom>
          <a:noFill xmlns:a="http://schemas.openxmlformats.org/drawingml/2006/main"/>
          <a:ln xmlns:a="http://schemas.openxmlformats.org/drawingml/2006/main" w="21431">
            <a:solidFill>
              <a:srgbClr val="C43B00"/>
            </a:solidFill>
            <a:prstDash val="solid"/>
            <a:tailEnd type="triangle" w="lg" len="lg"/>
          </a:ln>
        </p:spPr>
      </p:sp>
      <p:sp>
        <p:nvSpPr>
          <p:cNvPr id="6" name="Rectangle 6">
            <a:extLst xmlns:a="http://schemas.openxmlformats.org/drawingml/2006/main">
              <a:ext uri="{FF2B5EF4-FFF2-40B4-BE49-F238E27FC236}">
                <a16:creationId xmlns:a16="http://schemas.microsoft.com/office/drawing/2014/main" id="{D2F4774F-71DB-4CBE-A60F-181A3F96242A}"/>
              </a:ext>
            </a:extLst>
          </p:cNvPr>
          <p:cNvSpPr>
            <a:spLocks xmlns:a="http://schemas.openxmlformats.org/drawingml/2006/main" noGrp="1"/>
          </p:cNvSpPr>
          <p:nvPr/>
        </p:nvSpPr>
        <p:spPr>
          <a:xfrm xmlns:a="http://schemas.openxmlformats.org/drawingml/2006/main">
            <a:off x="495300" y="1485900"/>
            <a:ext cx="1847850" cy="2095500"/>
          </a:xfrm>
          <a:prstGeom xmlns:a="http://schemas.openxmlformats.org/drawingml/2006/main" prst="rect">
            <a:avLst/>
          </a:prstGeom>
          <a:solidFill xmlns:a="http://schemas.openxmlformats.org/drawingml/2006/main">
            <a:srgbClr val="FFFDFC"/>
          </a:solidFill>
          <a:ln xmlns:a="http://schemas.openxmlformats.org/drawingml/2006/main" w="9525">
            <a:solidFill>
              <a:srgbClr val="D9CFC8"/>
            </a:solidFill>
            <a:prstDash val="solid"/>
          </a:ln>
        </p:spPr>
      </p:sp>
      <p:sp>
        <p:nvSpPr>
          <p:cNvPr id="7" name="Rectangle 7">
            <a:extLst xmlns:a="http://schemas.openxmlformats.org/drawingml/2006/main">
              <a:ext uri="{FF2B5EF4-FFF2-40B4-BE49-F238E27FC236}">
                <a16:creationId xmlns:a16="http://schemas.microsoft.com/office/drawing/2014/main" id="{B18F9E3E-D911-4DC8-A265-E3CCCFB9B8F7}"/>
              </a:ext>
            </a:extLst>
          </p:cNvPr>
          <p:cNvSpPr>
            <a:spLocks xmlns:a="http://schemas.openxmlformats.org/drawingml/2006/main" noGrp="1"/>
          </p:cNvSpPr>
          <p:nvPr/>
        </p:nvSpPr>
        <p:spPr>
          <a:xfrm xmlns:a="http://schemas.openxmlformats.org/drawingml/2006/main">
            <a:off x="1162050" y="1438275"/>
            <a:ext cx="514350" cy="323850"/>
          </a:xfrm>
          <a:prstGeom xmlns:a="http://schemas.openxmlformats.org/drawingml/2006/main" prst="rect">
            <a:avLst/>
          </a:prstGeom>
          <a:solidFill xmlns:a="http://schemas.openxmlformats.org/drawingml/2006/main">
            <a:srgbClr val="C43B00"/>
          </a:solidFill>
          <a:ln xmlns:a="http://schemas.openxmlformats.org/drawingml/2006/main" w="0">
            <a:solidFill>
              <a:srgbClr val="C43B00"/>
            </a:solidFill>
            <a:prstDash val="solid"/>
          </a:ln>
        </p:spPr>
      </p:sp>
      <p:sp>
        <p:nvSpPr>
          <p:cNvPr id="8" name="TextBox 8">
            <a:extLst xmlns:a="http://schemas.openxmlformats.org/drawingml/2006/main">
              <a:ext uri="{FF2B5EF4-FFF2-40B4-BE49-F238E27FC236}">
                <a16:creationId xmlns:a16="http://schemas.microsoft.com/office/drawing/2014/main" id="{9C1F1A17-4BBD-4D5B-8CF0-C175017A22E6}"/>
              </a:ext>
            </a:extLst>
          </p:cNvPr>
          <p:cNvSpPr>
            <a:spLocks xmlns:a="http://schemas.openxmlformats.org/drawingml/2006/main" noGrp="1"/>
          </p:cNvSpPr>
          <p:nvPr/>
        </p:nvSpPr>
        <p:spPr>
          <a:xfrm xmlns:a="http://schemas.openxmlformats.org/drawingml/2006/main">
            <a:off x="1162050" y="1457325"/>
            <a:ext cx="514350" cy="2762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ctr">
            <a:spAutoFit/>
          </a:bodyPr>
          <a:lstStyle xmlns:a="http://schemas.openxmlformats.org/drawingml/2006/main"/>
          <a:p xmlns:a="http://schemas.openxmlformats.org/drawingml/2006/main">
            <a:pPr algn="ctr">
              <a:buNone/>
              <a:defRPr sz="1050" b="1">
                <a:solidFill>
                  <a:srgbClr val="FFFFFF"/>
                </a:solidFill>
              </a:defRPr>
            </a:pPr>
            <a:r>
              <a:rPr sz="1050" b="1">
                <a:solidFill>
                  <a:srgbClr val="FFFFFF"/>
                </a:solidFill>
                <a:latin typeface="+mn-lt"/>
                <a:ea typeface="+mn-lt"/>
                <a:cs typeface="+mn-lt"/>
              </a:rPr>
              <a:t>01</a:t>
            </a:r>
            <a:endParaRPr sz="1050" b="1">
              <a:solidFill>
                <a:srgbClr val="C43B00"/>
              </a:solidFill>
              <a:latin typeface="+mn-lt"/>
              <a:ea typeface="+mn-lt"/>
              <a:cs typeface="+mn-lt"/>
            </a:endParaRPr>
          </a:p>
        </p:txBody>
      </p:sp>
      <p:sp>
        <p:nvSpPr>
          <p:cNvPr id="9" name="TextBox 9">
            <a:extLst xmlns:a="http://schemas.openxmlformats.org/drawingml/2006/main">
              <a:ext uri="{FF2B5EF4-FFF2-40B4-BE49-F238E27FC236}">
                <a16:creationId xmlns:a16="http://schemas.microsoft.com/office/drawing/2014/main" id="{3900B57D-8AF8-47F8-B2B5-5E8C1C118CCC}"/>
              </a:ext>
            </a:extLst>
          </p:cNvPr>
          <p:cNvSpPr>
            <a:spLocks xmlns:a="http://schemas.openxmlformats.org/drawingml/2006/main" noGrp="1"/>
          </p:cNvSpPr>
          <p:nvPr/>
        </p:nvSpPr>
        <p:spPr>
          <a:xfrm xmlns:a="http://schemas.openxmlformats.org/drawingml/2006/main">
            <a:off x="619125" y="1981200"/>
            <a:ext cx="16002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ctr">
            <a:spAutoFit/>
          </a:bodyPr>
          <a:lstStyle xmlns:a="http://schemas.openxmlformats.org/drawingml/2006/main"/>
          <a:p xmlns:a="http://schemas.openxmlformats.org/drawingml/2006/main">
            <a:pPr algn="ctr">
              <a:buNone/>
              <a:defRPr sz="1315" b="1">
                <a:solidFill>
                  <a:srgbClr val="2C2927"/>
                </a:solidFill>
              </a:defRPr>
            </a:pPr>
            <a:r>
              <a:rPr sz="1315" b="1">
                <a:solidFill>
                  <a:srgbClr val="2C2927"/>
                </a:solidFill>
                <a:latin typeface="+mn-lt"/>
                <a:ea typeface="+mn-lt"/>
                <a:cs typeface="+mn-lt"/>
              </a:rPr>
              <a:t>READ PATCH</a:t>
            </a:r>
            <a:endParaRPr sz="1350" b="1">
              <a:solidFill>
                <a:srgbClr val="2C2927"/>
              </a:solidFill>
              <a:latin typeface="+mn-lt"/>
              <a:ea typeface="+mn-lt"/>
              <a:cs typeface="+mn-lt"/>
            </a:endParaRPr>
          </a:p>
          <a:p xmlns:a="http://schemas.openxmlformats.org/drawingml/2006/main">
            <a:pPr algn="ctr">
              <a:buNone/>
              <a:defRPr sz="1315" b="1">
                <a:solidFill>
                  <a:srgbClr val="2C2927"/>
                </a:solidFill>
              </a:defRPr>
            </a:pPr>
            <a:r>
              <a:rPr sz="1315" b="1">
                <a:solidFill>
                  <a:srgbClr val="2C2927"/>
                </a:solidFill>
                <a:latin typeface="+mn-lt"/>
                <a:ea typeface="+mn-lt"/>
                <a:cs typeface="+mn-lt"/>
              </a:rPr>
              <a:t>CONTEXT</a:t>
            </a:r>
            <a:endParaRPr sz="1350" b="1">
              <a:solidFill>
                <a:srgbClr val="2C2927"/>
              </a:solidFill>
              <a:latin typeface="+mn-lt"/>
              <a:ea typeface="+mn-lt"/>
              <a:cs typeface="+mn-lt"/>
            </a:endParaRPr>
          </a:p>
        </p:txBody>
      </p:sp>
      <p:sp>
        <p:nvSpPr>
          <p:cNvPr id="10" name="TextBox 10">
            <a:extLst xmlns:a="http://schemas.openxmlformats.org/drawingml/2006/main">
              <a:ext uri="{FF2B5EF4-FFF2-40B4-BE49-F238E27FC236}">
                <a16:creationId xmlns:a16="http://schemas.microsoft.com/office/drawing/2014/main" id="{035BC873-1DBF-445A-87CD-498D61E1219C}"/>
              </a:ext>
            </a:extLst>
          </p:cNvPr>
          <p:cNvSpPr>
            <a:spLocks xmlns:a="http://schemas.openxmlformats.org/drawingml/2006/main" noGrp="1"/>
          </p:cNvSpPr>
          <p:nvPr/>
        </p:nvSpPr>
        <p:spPr>
          <a:xfrm xmlns:a="http://schemas.openxmlformats.org/drawingml/2006/main">
            <a:off x="512128" y="2720658"/>
            <a:ext cx="1814195" cy="74993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ctr">
            <a:spAutoFit/>
          </a:bodyPr>
          <a:lstStyle xmlns:a="http://schemas.openxmlformats.org/drawingml/2006/main"/>
          <a:p xmlns:a="http://schemas.openxmlformats.org/drawingml/2006/main">
            <a:pPr algn="ctr">
              <a:lnSpc>
                <a:spcPts val="1950"/>
              </a:lnSpc>
              <a:buNone/>
              <a:defRPr sz="1050" b="0">
                <a:solidFill>
                  <a:srgbClr val="5B5550"/>
                </a:solidFill>
                <a:latin typeface="Arial"/>
                <a:ea typeface="Arial"/>
                <a:cs typeface="Arial"/>
              </a:defRPr>
            </a:pPr>
            <a:r>
              <a:rPr sz="1050" b="1">
                <a:solidFill>
                  <a:srgbClr val="5B5550"/>
                </a:solidFill>
                <a:latin typeface="Arial"/>
                <a:ea typeface="Arial"/>
                <a:cs typeface="Arial"/>
              </a:rPr>
              <a:t>Encode each channel’s local</a:t>
            </a:r>
            <a:endParaRPr sz="975" b="1">
              <a:solidFill>
                <a:srgbClr val="5B5550"/>
              </a:solidFill>
              <a:latin typeface="+mn-lt"/>
              <a:ea typeface="+mn-lt"/>
              <a:cs typeface="+mn-lt"/>
            </a:endParaRPr>
          </a:p>
          <a:p xmlns:a="http://schemas.openxmlformats.org/drawingml/2006/main">
            <a:pPr algn="ctr">
              <a:lnSpc>
                <a:spcPts val="1950"/>
              </a:lnSpc>
              <a:buNone/>
              <a:defRPr sz="1050" b="0">
                <a:solidFill>
                  <a:srgbClr val="5B5550"/>
                </a:solidFill>
                <a:latin typeface="Arial"/>
                <a:ea typeface="Arial"/>
                <a:cs typeface="Arial"/>
              </a:defRPr>
            </a:pPr>
            <a:r>
              <a:rPr sz="1050" b="1">
                <a:solidFill>
                  <a:srgbClr val="5B5550"/>
                </a:solidFill>
                <a:latin typeface="Arial"/>
                <a:ea typeface="Arial"/>
                <a:cs typeface="Arial"/>
              </a:rPr>
              <a:t>temporal pattern within</a:t>
            </a:r>
            <a:endParaRPr sz="975" b="1">
              <a:solidFill>
                <a:srgbClr val="5B5550"/>
              </a:solidFill>
              <a:latin typeface="+mn-lt"/>
              <a:ea typeface="+mn-lt"/>
              <a:cs typeface="+mn-lt"/>
            </a:endParaRPr>
          </a:p>
          <a:p xmlns:a="http://schemas.openxmlformats.org/drawingml/2006/main">
            <a:pPr algn="ctr">
              <a:lnSpc>
                <a:spcPts val="1950"/>
              </a:lnSpc>
              <a:buNone/>
              <a:defRPr sz="1050" b="0">
                <a:solidFill>
                  <a:srgbClr val="5B5550"/>
                </a:solidFill>
                <a:latin typeface="Arial"/>
                <a:ea typeface="Arial"/>
                <a:cs typeface="Arial"/>
              </a:defRPr>
            </a:pPr>
            <a:r>
              <a:rPr sz="1050" b="1">
                <a:solidFill>
                  <a:srgbClr val="5B5550"/>
                </a:solidFill>
                <a:latin typeface="Arial"/>
                <a:ea typeface="Arial"/>
                <a:cs typeface="Arial"/>
              </a:rPr>
              <a:t>the current patch.</a:t>
            </a:r>
            <a:endParaRPr sz="975" b="1">
              <a:solidFill>
                <a:srgbClr val="5B5550"/>
              </a:solidFill>
              <a:latin typeface="+mn-lt"/>
              <a:ea typeface="+mn-lt"/>
              <a:cs typeface="+mn-lt"/>
            </a:endParaRPr>
          </a:p>
        </p:txBody>
      </p:sp>
      <p:sp>
        <p:nvSpPr>
          <p:cNvPr id="12" name="Rectangle 12">
            <a:extLst xmlns:a="http://schemas.openxmlformats.org/drawingml/2006/main">
              <a:ext uri="{FF2B5EF4-FFF2-40B4-BE49-F238E27FC236}">
                <a16:creationId xmlns:a16="http://schemas.microsoft.com/office/drawing/2014/main" id="{E47854C6-7AE7-469C-A12F-F995F70D049B}"/>
              </a:ext>
            </a:extLst>
          </p:cNvPr>
          <p:cNvSpPr>
            <a:spLocks xmlns:a="http://schemas.openxmlformats.org/drawingml/2006/main" noGrp="1"/>
          </p:cNvSpPr>
          <p:nvPr/>
        </p:nvSpPr>
        <p:spPr>
          <a:xfrm xmlns:a="http://schemas.openxmlformats.org/drawingml/2006/main">
            <a:off x="2743200" y="1485900"/>
            <a:ext cx="1847850" cy="2095500"/>
          </a:xfrm>
          <a:prstGeom xmlns:a="http://schemas.openxmlformats.org/drawingml/2006/main" prst="rect">
            <a:avLst/>
          </a:prstGeom>
          <a:solidFill xmlns:a="http://schemas.openxmlformats.org/drawingml/2006/main">
            <a:srgbClr val="FFFDFC"/>
          </a:solidFill>
          <a:ln xmlns:a="http://schemas.openxmlformats.org/drawingml/2006/main" w="9525">
            <a:solidFill>
              <a:srgbClr val="D9CFC8"/>
            </a:solidFill>
            <a:prstDash val="solid"/>
          </a:ln>
        </p:spPr>
      </p:sp>
      <p:sp>
        <p:nvSpPr>
          <p:cNvPr id="13" name="Rectangle 13">
            <a:extLst xmlns:a="http://schemas.openxmlformats.org/drawingml/2006/main">
              <a:ext uri="{FF2B5EF4-FFF2-40B4-BE49-F238E27FC236}">
                <a16:creationId xmlns:a16="http://schemas.microsoft.com/office/drawing/2014/main" id="{1AC389A5-8E7A-4DFD-B1D3-6039121ACCE8}"/>
              </a:ext>
            </a:extLst>
          </p:cNvPr>
          <p:cNvSpPr>
            <a:spLocks xmlns:a="http://schemas.openxmlformats.org/drawingml/2006/main" noGrp="1"/>
          </p:cNvSpPr>
          <p:nvPr/>
        </p:nvSpPr>
        <p:spPr>
          <a:xfrm xmlns:a="http://schemas.openxmlformats.org/drawingml/2006/main">
            <a:off x="3409950" y="1438275"/>
            <a:ext cx="514350" cy="323850"/>
          </a:xfrm>
          <a:prstGeom xmlns:a="http://schemas.openxmlformats.org/drawingml/2006/main" prst="rect">
            <a:avLst/>
          </a:prstGeom>
          <a:solidFill xmlns:a="http://schemas.openxmlformats.org/drawingml/2006/main">
            <a:srgbClr val="C43B00"/>
          </a:solidFill>
          <a:ln xmlns:a="http://schemas.openxmlformats.org/drawingml/2006/main" w="0">
            <a:solidFill>
              <a:srgbClr val="C43B00"/>
            </a:solidFill>
            <a:prstDash val="solid"/>
          </a:ln>
        </p:spPr>
      </p:sp>
      <p:sp>
        <p:nvSpPr>
          <p:cNvPr id="14" name="TextBox 14">
            <a:extLst xmlns:a="http://schemas.openxmlformats.org/drawingml/2006/main">
              <a:ext uri="{FF2B5EF4-FFF2-40B4-BE49-F238E27FC236}">
                <a16:creationId xmlns:a16="http://schemas.microsoft.com/office/drawing/2014/main" id="{5EE66382-9466-451B-802F-F3EC20E5C68F}"/>
              </a:ext>
            </a:extLst>
          </p:cNvPr>
          <p:cNvSpPr>
            <a:spLocks xmlns:a="http://schemas.openxmlformats.org/drawingml/2006/main" noGrp="1"/>
          </p:cNvSpPr>
          <p:nvPr/>
        </p:nvSpPr>
        <p:spPr>
          <a:xfrm xmlns:a="http://schemas.openxmlformats.org/drawingml/2006/main">
            <a:off x="3409950" y="1457325"/>
            <a:ext cx="514350" cy="2762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ctr">
            <a:spAutoFit/>
          </a:bodyPr>
          <a:lstStyle xmlns:a="http://schemas.openxmlformats.org/drawingml/2006/main"/>
          <a:p xmlns:a="http://schemas.openxmlformats.org/drawingml/2006/main">
            <a:pPr algn="ctr">
              <a:buNone/>
              <a:defRPr sz="1050" b="1">
                <a:solidFill>
                  <a:srgbClr val="FFFFFF"/>
                </a:solidFill>
              </a:defRPr>
            </a:pPr>
            <a:r>
              <a:rPr sz="1050" b="1">
                <a:solidFill>
                  <a:srgbClr val="FFFFFF"/>
                </a:solidFill>
                <a:latin typeface="+mn-lt"/>
                <a:ea typeface="+mn-lt"/>
                <a:cs typeface="+mn-lt"/>
              </a:rPr>
              <a:t>02</a:t>
            </a:r>
            <a:endParaRPr sz="1050" b="1">
              <a:solidFill>
                <a:srgbClr val="C43B00"/>
              </a:solidFill>
              <a:latin typeface="+mn-lt"/>
              <a:ea typeface="+mn-lt"/>
              <a:cs typeface="+mn-lt"/>
            </a:endParaRPr>
          </a:p>
        </p:txBody>
      </p:sp>
      <p:sp>
        <p:nvSpPr>
          <p:cNvPr id="15" name="TextBox 15">
            <a:extLst xmlns:a="http://schemas.openxmlformats.org/drawingml/2006/main">
              <a:ext uri="{FF2B5EF4-FFF2-40B4-BE49-F238E27FC236}">
                <a16:creationId xmlns:a16="http://schemas.microsoft.com/office/drawing/2014/main" id="{EBE6381A-BB42-4A98-9C47-0FA2084A0D45}"/>
              </a:ext>
            </a:extLst>
          </p:cNvPr>
          <p:cNvSpPr>
            <a:spLocks xmlns:a="http://schemas.openxmlformats.org/drawingml/2006/main" noGrp="1"/>
          </p:cNvSpPr>
          <p:nvPr/>
        </p:nvSpPr>
        <p:spPr>
          <a:xfrm xmlns:a="http://schemas.openxmlformats.org/drawingml/2006/main">
            <a:off x="2867025" y="1981200"/>
            <a:ext cx="16002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ctr">
            <a:spAutoFit/>
          </a:bodyPr>
          <a:lstStyle xmlns:a="http://schemas.openxmlformats.org/drawingml/2006/main"/>
          <a:p xmlns:a="http://schemas.openxmlformats.org/drawingml/2006/main">
            <a:pPr algn="ctr">
              <a:buNone/>
              <a:defRPr sz="1315" b="1">
                <a:solidFill>
                  <a:srgbClr val="2C2927"/>
                </a:solidFill>
              </a:defRPr>
            </a:pPr>
            <a:r>
              <a:rPr sz="1315" b="1">
                <a:solidFill>
                  <a:srgbClr val="2C2927"/>
                </a:solidFill>
                <a:latin typeface="+mn-lt"/>
                <a:ea typeface="+mn-lt"/>
                <a:cs typeface="+mn-lt"/>
              </a:rPr>
              <a:t>MATCH SHARED</a:t>
            </a:r>
            <a:endParaRPr sz="1350" b="1">
              <a:solidFill>
                <a:srgbClr val="2C2927"/>
              </a:solidFill>
              <a:latin typeface="+mn-lt"/>
              <a:ea typeface="+mn-lt"/>
              <a:cs typeface="+mn-lt"/>
            </a:endParaRPr>
          </a:p>
          <a:p xmlns:a="http://schemas.openxmlformats.org/drawingml/2006/main">
            <a:pPr algn="ctr">
              <a:buNone/>
              <a:defRPr sz="1315" b="1">
                <a:solidFill>
                  <a:srgbClr val="2C2927"/>
                </a:solidFill>
              </a:defRPr>
            </a:pPr>
            <a:r>
              <a:rPr sz="1315" b="1">
                <a:solidFill>
                  <a:srgbClr val="2C2927"/>
                </a:solidFill>
                <a:latin typeface="+mn-lt"/>
                <a:ea typeface="+mn-lt"/>
                <a:cs typeface="+mn-lt"/>
              </a:rPr>
              <a:t>MODES</a:t>
            </a:r>
            <a:endParaRPr sz="1350" b="1">
              <a:solidFill>
                <a:srgbClr val="2C2927"/>
              </a:solidFill>
              <a:latin typeface="+mn-lt"/>
              <a:ea typeface="+mn-lt"/>
              <a:cs typeface="+mn-lt"/>
            </a:endParaRPr>
          </a:p>
        </p:txBody>
      </p:sp>
      <p:sp>
        <p:nvSpPr>
          <p:cNvPr id="16" name="TextBox 16">
            <a:extLst xmlns:a="http://schemas.openxmlformats.org/drawingml/2006/main">
              <a:ext uri="{FF2B5EF4-FFF2-40B4-BE49-F238E27FC236}">
                <a16:creationId xmlns:a16="http://schemas.microsoft.com/office/drawing/2014/main" id="{43BEB744-8C06-401F-9061-E687FD13FDF0}"/>
              </a:ext>
            </a:extLst>
          </p:cNvPr>
          <p:cNvSpPr>
            <a:spLocks xmlns:a="http://schemas.openxmlformats.org/drawingml/2006/main" noGrp="1"/>
          </p:cNvSpPr>
          <p:nvPr/>
        </p:nvSpPr>
        <p:spPr>
          <a:xfrm xmlns:a="http://schemas.openxmlformats.org/drawingml/2006/main">
            <a:off x="2737485" y="2720658"/>
            <a:ext cx="1859280" cy="74993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ctr">
            <a:spAutoFit/>
          </a:bodyPr>
          <a:lstStyle xmlns:a="http://schemas.openxmlformats.org/drawingml/2006/main"/>
          <a:p xmlns:a="http://schemas.openxmlformats.org/drawingml/2006/main">
            <a:pPr algn="ctr">
              <a:lnSpc>
                <a:spcPts val="1950"/>
              </a:lnSpc>
              <a:buNone/>
              <a:defRPr sz="1050" b="0">
                <a:solidFill>
                  <a:srgbClr val="5B5550"/>
                </a:solidFill>
                <a:latin typeface="Arial"/>
                <a:ea typeface="Arial"/>
                <a:cs typeface="Arial"/>
              </a:defRPr>
            </a:pPr>
            <a:r>
              <a:rPr sz="1050" b="1">
                <a:solidFill>
                  <a:srgbClr val="5B5550"/>
                </a:solidFill>
                <a:latin typeface="Arial"/>
                <a:ea typeface="Arial"/>
                <a:cs typeface="Arial"/>
              </a:rPr>
              <a:t>Compare the patch state with</a:t>
            </a:r>
            <a:endParaRPr sz="975" b="1">
              <a:solidFill>
                <a:srgbClr val="5B5550"/>
              </a:solidFill>
              <a:latin typeface="+mn-lt"/>
              <a:ea typeface="+mn-lt"/>
              <a:cs typeface="+mn-lt"/>
            </a:endParaRPr>
          </a:p>
          <a:p xmlns:a="http://schemas.openxmlformats.org/drawingml/2006/main">
            <a:pPr algn="ctr">
              <a:lnSpc>
                <a:spcPts val="1950"/>
              </a:lnSpc>
              <a:buNone/>
              <a:defRPr sz="1050" b="0">
                <a:solidFill>
                  <a:srgbClr val="5B5550"/>
                </a:solidFill>
                <a:latin typeface="Arial"/>
                <a:ea typeface="Arial"/>
                <a:cs typeface="Arial"/>
              </a:defRPr>
            </a:pPr>
            <a:r>
              <a:rPr sz="1050" b="1">
                <a:solidFill>
                  <a:srgbClr val="5B5550"/>
                </a:solidFill>
                <a:latin typeface="Arial"/>
                <a:ea typeface="Arial"/>
                <a:cs typeface="Arial"/>
              </a:rPr>
              <a:t>reusable structural</a:t>
            </a:r>
            <a:endParaRPr sz="975" b="1">
              <a:solidFill>
                <a:srgbClr val="5B5550"/>
              </a:solidFill>
              <a:latin typeface="+mn-lt"/>
              <a:ea typeface="+mn-lt"/>
              <a:cs typeface="+mn-lt"/>
            </a:endParaRPr>
          </a:p>
          <a:p xmlns:a="http://schemas.openxmlformats.org/drawingml/2006/main">
            <a:pPr algn="ctr">
              <a:lnSpc>
                <a:spcPts val="1950"/>
              </a:lnSpc>
              <a:buNone/>
              <a:defRPr sz="1050" b="0">
                <a:solidFill>
                  <a:srgbClr val="5B5550"/>
                </a:solidFill>
                <a:latin typeface="Arial"/>
                <a:ea typeface="Arial"/>
                <a:cs typeface="Arial"/>
              </a:defRPr>
            </a:pPr>
            <a:r>
              <a:rPr sz="1050" b="1">
                <a:solidFill>
                  <a:srgbClr val="5B5550"/>
                </a:solidFill>
                <a:latin typeface="Arial"/>
                <a:ea typeface="Arial"/>
                <a:cs typeface="Arial"/>
              </a:rPr>
              <a:t>mode prototypes.</a:t>
            </a:r>
            <a:endParaRPr sz="975" b="1">
              <a:solidFill>
                <a:srgbClr val="5B5550"/>
              </a:solidFill>
              <a:latin typeface="+mn-lt"/>
              <a:ea typeface="+mn-lt"/>
              <a:cs typeface="+mn-lt"/>
            </a:endParaRPr>
          </a:p>
        </p:txBody>
      </p:sp>
      <p:sp>
        <p:nvSpPr>
          <p:cNvPr id="18" name="Rectangle 18">
            <a:extLst xmlns:a="http://schemas.openxmlformats.org/drawingml/2006/main">
              <a:ext uri="{FF2B5EF4-FFF2-40B4-BE49-F238E27FC236}">
                <a16:creationId xmlns:a16="http://schemas.microsoft.com/office/drawing/2014/main" id="{EFC3E5A7-81E6-4F7A-873C-A3DF9092F7AF}"/>
              </a:ext>
            </a:extLst>
          </p:cNvPr>
          <p:cNvSpPr>
            <a:spLocks xmlns:a="http://schemas.openxmlformats.org/drawingml/2006/main" noGrp="1"/>
          </p:cNvSpPr>
          <p:nvPr/>
        </p:nvSpPr>
        <p:spPr>
          <a:xfrm xmlns:a="http://schemas.openxmlformats.org/drawingml/2006/main">
            <a:off x="4991100" y="1485900"/>
            <a:ext cx="1847850" cy="2095500"/>
          </a:xfrm>
          <a:prstGeom xmlns:a="http://schemas.openxmlformats.org/drawingml/2006/main" prst="rect">
            <a:avLst/>
          </a:prstGeom>
          <a:solidFill xmlns:a="http://schemas.openxmlformats.org/drawingml/2006/main">
            <a:srgbClr val="FFFDFC"/>
          </a:solidFill>
          <a:ln xmlns:a="http://schemas.openxmlformats.org/drawingml/2006/main" w="9525">
            <a:solidFill>
              <a:srgbClr val="D9CFC8"/>
            </a:solidFill>
            <a:prstDash val="solid"/>
          </a:ln>
        </p:spPr>
      </p:sp>
      <p:sp>
        <p:nvSpPr>
          <p:cNvPr id="19" name="Rectangle 19">
            <a:extLst xmlns:a="http://schemas.openxmlformats.org/drawingml/2006/main">
              <a:ext uri="{FF2B5EF4-FFF2-40B4-BE49-F238E27FC236}">
                <a16:creationId xmlns:a16="http://schemas.microsoft.com/office/drawing/2014/main" id="{54683EA7-9900-43CA-BD42-E6B4A84A8EAD}"/>
              </a:ext>
            </a:extLst>
          </p:cNvPr>
          <p:cNvSpPr>
            <a:spLocks xmlns:a="http://schemas.openxmlformats.org/drawingml/2006/main" noGrp="1"/>
          </p:cNvSpPr>
          <p:nvPr/>
        </p:nvSpPr>
        <p:spPr>
          <a:xfrm xmlns:a="http://schemas.openxmlformats.org/drawingml/2006/main">
            <a:off x="5657850" y="1438275"/>
            <a:ext cx="514350" cy="323850"/>
          </a:xfrm>
          <a:prstGeom xmlns:a="http://schemas.openxmlformats.org/drawingml/2006/main" prst="rect">
            <a:avLst/>
          </a:prstGeom>
          <a:solidFill xmlns:a="http://schemas.openxmlformats.org/drawingml/2006/main">
            <a:srgbClr val="C43B00"/>
          </a:solidFill>
          <a:ln xmlns:a="http://schemas.openxmlformats.org/drawingml/2006/main" w="0">
            <a:solidFill>
              <a:srgbClr val="C43B00"/>
            </a:solidFill>
            <a:prstDash val="solid"/>
          </a:ln>
        </p:spPr>
      </p:sp>
      <p:sp>
        <p:nvSpPr>
          <p:cNvPr id="20" name="TextBox 20">
            <a:extLst xmlns:a="http://schemas.openxmlformats.org/drawingml/2006/main">
              <a:ext uri="{FF2B5EF4-FFF2-40B4-BE49-F238E27FC236}">
                <a16:creationId xmlns:a16="http://schemas.microsoft.com/office/drawing/2014/main" id="{62827EA1-3408-4A92-B6CB-28D7C1F11598}"/>
              </a:ext>
            </a:extLst>
          </p:cNvPr>
          <p:cNvSpPr>
            <a:spLocks xmlns:a="http://schemas.openxmlformats.org/drawingml/2006/main" noGrp="1"/>
          </p:cNvSpPr>
          <p:nvPr/>
        </p:nvSpPr>
        <p:spPr>
          <a:xfrm xmlns:a="http://schemas.openxmlformats.org/drawingml/2006/main">
            <a:off x="5657850" y="1457325"/>
            <a:ext cx="514350" cy="2762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ctr">
            <a:spAutoFit/>
          </a:bodyPr>
          <a:lstStyle xmlns:a="http://schemas.openxmlformats.org/drawingml/2006/main"/>
          <a:p xmlns:a="http://schemas.openxmlformats.org/drawingml/2006/main">
            <a:pPr algn="ctr">
              <a:buNone/>
              <a:defRPr sz="1050" b="1">
                <a:solidFill>
                  <a:srgbClr val="FFFFFF"/>
                </a:solidFill>
              </a:defRPr>
            </a:pPr>
            <a:r>
              <a:rPr sz="1050" b="1">
                <a:solidFill>
                  <a:srgbClr val="FFFFFF"/>
                </a:solidFill>
                <a:latin typeface="+mn-lt"/>
                <a:ea typeface="+mn-lt"/>
                <a:cs typeface="+mn-lt"/>
              </a:rPr>
              <a:t>03</a:t>
            </a:r>
            <a:endParaRPr sz="1050" b="1">
              <a:solidFill>
                <a:srgbClr val="C43B00"/>
              </a:solidFill>
              <a:latin typeface="+mn-lt"/>
              <a:ea typeface="+mn-lt"/>
              <a:cs typeface="+mn-lt"/>
            </a:endParaRPr>
          </a:p>
        </p:txBody>
      </p:sp>
      <p:sp>
        <p:nvSpPr>
          <p:cNvPr id="21" name="TextBox 21">
            <a:extLst xmlns:a="http://schemas.openxmlformats.org/drawingml/2006/main">
              <a:ext uri="{FF2B5EF4-FFF2-40B4-BE49-F238E27FC236}">
                <a16:creationId xmlns:a16="http://schemas.microsoft.com/office/drawing/2014/main" id="{7B66E439-FC1B-49CE-9FA0-9F2BC9AEB83B}"/>
              </a:ext>
            </a:extLst>
          </p:cNvPr>
          <p:cNvSpPr>
            <a:spLocks xmlns:a="http://schemas.openxmlformats.org/drawingml/2006/main" noGrp="1"/>
          </p:cNvSpPr>
          <p:nvPr/>
        </p:nvSpPr>
        <p:spPr>
          <a:xfrm xmlns:a="http://schemas.openxmlformats.org/drawingml/2006/main">
            <a:off x="5114925" y="1981200"/>
            <a:ext cx="16002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ctr">
            <a:spAutoFit/>
          </a:bodyPr>
          <a:lstStyle xmlns:a="http://schemas.openxmlformats.org/drawingml/2006/main"/>
          <a:p xmlns:a="http://schemas.openxmlformats.org/drawingml/2006/main">
            <a:pPr algn="ctr">
              <a:buNone/>
              <a:defRPr sz="1315" b="1">
                <a:solidFill>
                  <a:srgbClr val="2C2927"/>
                </a:solidFill>
              </a:defRPr>
            </a:pPr>
            <a:r>
              <a:rPr sz="1315" b="1">
                <a:solidFill>
                  <a:srgbClr val="2C2927"/>
                </a:solidFill>
                <a:latin typeface="+mn-lt"/>
                <a:ea typeface="+mn-lt"/>
                <a:cs typeface="+mn-lt"/>
              </a:rPr>
              <a:t>COMPUTE ROUTING</a:t>
            </a:r>
            <a:endParaRPr sz="1350" b="1">
              <a:solidFill>
                <a:srgbClr val="2C2927"/>
              </a:solidFill>
              <a:latin typeface="+mn-lt"/>
              <a:ea typeface="+mn-lt"/>
              <a:cs typeface="+mn-lt"/>
            </a:endParaRPr>
          </a:p>
          <a:p xmlns:a="http://schemas.openxmlformats.org/drawingml/2006/main">
            <a:pPr algn="ctr">
              <a:buNone/>
              <a:defRPr sz="1315" b="1">
                <a:solidFill>
                  <a:srgbClr val="2C2927"/>
                </a:solidFill>
              </a:defRPr>
            </a:pPr>
            <a:r>
              <a:rPr sz="1315" b="1">
                <a:solidFill>
                  <a:srgbClr val="2C2927"/>
                </a:solidFill>
                <a:latin typeface="+mn-lt"/>
                <a:ea typeface="+mn-lt"/>
                <a:cs typeface="+mn-lt"/>
              </a:rPr>
              <a:t>WEIGHTS</a:t>
            </a:r>
            <a:endParaRPr sz="1350" b="1">
              <a:solidFill>
                <a:srgbClr val="2C2927"/>
              </a:solidFill>
              <a:latin typeface="+mn-lt"/>
              <a:ea typeface="+mn-lt"/>
              <a:cs typeface="+mn-lt"/>
            </a:endParaRPr>
          </a:p>
        </p:txBody>
      </p:sp>
      <p:sp>
        <p:nvSpPr>
          <p:cNvPr id="22" name="TextBox 22">
            <a:extLst xmlns:a="http://schemas.openxmlformats.org/drawingml/2006/main">
              <a:ext uri="{FF2B5EF4-FFF2-40B4-BE49-F238E27FC236}">
                <a16:creationId xmlns:a16="http://schemas.microsoft.com/office/drawing/2014/main" id="{8522BE9B-A209-41DD-B3C3-5FB5FED57F21}"/>
              </a:ext>
            </a:extLst>
          </p:cNvPr>
          <p:cNvSpPr>
            <a:spLocks xmlns:a="http://schemas.openxmlformats.org/drawingml/2006/main" noGrp="1"/>
          </p:cNvSpPr>
          <p:nvPr/>
        </p:nvSpPr>
        <p:spPr>
          <a:xfrm xmlns:a="http://schemas.openxmlformats.org/drawingml/2006/main">
            <a:off x="5011103" y="2720658"/>
            <a:ext cx="1807845" cy="74993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ctr">
            <a:spAutoFit/>
          </a:bodyPr>
          <a:lstStyle xmlns:a="http://schemas.openxmlformats.org/drawingml/2006/main"/>
          <a:p xmlns:a="http://schemas.openxmlformats.org/drawingml/2006/main">
            <a:pPr algn="ctr">
              <a:lnSpc>
                <a:spcPts val="1950"/>
              </a:lnSpc>
              <a:buNone/>
              <a:defRPr sz="1050" b="0">
                <a:solidFill>
                  <a:srgbClr val="5B5550"/>
                </a:solidFill>
                <a:latin typeface="Arial"/>
                <a:ea typeface="Arial"/>
                <a:cs typeface="Arial"/>
              </a:defRPr>
            </a:pPr>
            <a:r>
              <a:rPr sz="1050" b="1">
                <a:solidFill>
                  <a:srgbClr val="5B5550"/>
                </a:solidFill>
                <a:latin typeface="Arial"/>
                <a:ea typeface="Arial"/>
                <a:cs typeface="Arial"/>
              </a:rPr>
              <a:t>Convert prototype distances</a:t>
            </a:r>
            <a:endParaRPr sz="975" b="1">
              <a:solidFill>
                <a:srgbClr val="5B5550"/>
              </a:solidFill>
              <a:latin typeface="+mn-lt"/>
              <a:ea typeface="+mn-lt"/>
              <a:cs typeface="+mn-lt"/>
            </a:endParaRPr>
          </a:p>
          <a:p xmlns:a="http://schemas.openxmlformats.org/drawingml/2006/main">
            <a:pPr algn="ctr">
              <a:lnSpc>
                <a:spcPts val="1950"/>
              </a:lnSpc>
              <a:buNone/>
              <a:defRPr sz="1050" b="0">
                <a:solidFill>
                  <a:srgbClr val="5B5550"/>
                </a:solidFill>
                <a:latin typeface="Arial"/>
                <a:ea typeface="Arial"/>
                <a:cs typeface="Arial"/>
              </a:defRPr>
            </a:pPr>
            <a:r>
              <a:rPr sz="1050" b="1">
                <a:solidFill>
                  <a:srgbClr val="5B5550"/>
                </a:solidFill>
                <a:latin typeface="Arial"/>
                <a:ea typeface="Arial"/>
                <a:cs typeface="Arial"/>
              </a:rPr>
              <a:t>into patch-specific soft</a:t>
            </a:r>
            <a:endParaRPr sz="975" b="1">
              <a:solidFill>
                <a:srgbClr val="5B5550"/>
              </a:solidFill>
              <a:latin typeface="+mn-lt"/>
              <a:ea typeface="+mn-lt"/>
              <a:cs typeface="+mn-lt"/>
            </a:endParaRPr>
          </a:p>
          <a:p xmlns:a="http://schemas.openxmlformats.org/drawingml/2006/main">
            <a:pPr algn="ctr">
              <a:lnSpc>
                <a:spcPts val="1950"/>
              </a:lnSpc>
              <a:buNone/>
              <a:defRPr sz="1050" b="0">
                <a:solidFill>
                  <a:srgbClr val="5B5550"/>
                </a:solidFill>
                <a:latin typeface="Arial"/>
                <a:ea typeface="Arial"/>
                <a:cs typeface="Arial"/>
              </a:defRPr>
            </a:pPr>
            <a:r>
              <a:rPr sz="1050" b="1">
                <a:solidFill>
                  <a:srgbClr val="5B5550"/>
                </a:solidFill>
                <a:latin typeface="Arial"/>
                <a:ea typeface="Arial"/>
                <a:cs typeface="Arial"/>
              </a:rPr>
              <a:t>routing weights.</a:t>
            </a:r>
            <a:endParaRPr sz="975" b="1">
              <a:solidFill>
                <a:srgbClr val="5B5550"/>
              </a:solidFill>
              <a:latin typeface="+mn-lt"/>
              <a:ea typeface="+mn-lt"/>
              <a:cs typeface="+mn-lt"/>
            </a:endParaRPr>
          </a:p>
        </p:txBody>
      </p:sp>
      <p:sp>
        <p:nvSpPr>
          <p:cNvPr id="24" name="Rectangle 24">
            <a:extLst xmlns:a="http://schemas.openxmlformats.org/drawingml/2006/main">
              <a:ext uri="{FF2B5EF4-FFF2-40B4-BE49-F238E27FC236}">
                <a16:creationId xmlns:a16="http://schemas.microsoft.com/office/drawing/2014/main" id="{D1402949-D5AC-4768-A48E-CC823ECAA50A}"/>
              </a:ext>
            </a:extLst>
          </p:cNvPr>
          <p:cNvSpPr>
            <a:spLocks xmlns:a="http://schemas.openxmlformats.org/drawingml/2006/main" noGrp="1"/>
          </p:cNvSpPr>
          <p:nvPr/>
        </p:nvSpPr>
        <p:spPr>
          <a:xfrm xmlns:a="http://schemas.openxmlformats.org/drawingml/2006/main">
            <a:off x="7239000" y="1485900"/>
            <a:ext cx="1847850" cy="2095500"/>
          </a:xfrm>
          <a:prstGeom xmlns:a="http://schemas.openxmlformats.org/drawingml/2006/main" prst="rect">
            <a:avLst/>
          </a:prstGeom>
          <a:solidFill xmlns:a="http://schemas.openxmlformats.org/drawingml/2006/main">
            <a:srgbClr val="FFFDFC"/>
          </a:solidFill>
          <a:ln xmlns:a="http://schemas.openxmlformats.org/drawingml/2006/main" w="9525">
            <a:solidFill>
              <a:srgbClr val="D9CFC8"/>
            </a:solidFill>
            <a:prstDash val="solid"/>
          </a:ln>
        </p:spPr>
      </p:sp>
      <p:sp>
        <p:nvSpPr>
          <p:cNvPr id="25" name="Rectangle 25">
            <a:extLst xmlns:a="http://schemas.openxmlformats.org/drawingml/2006/main">
              <a:ext uri="{FF2B5EF4-FFF2-40B4-BE49-F238E27FC236}">
                <a16:creationId xmlns:a16="http://schemas.microsoft.com/office/drawing/2014/main" id="{EF4A2598-D442-4C37-A93B-BF4140E8FF3C}"/>
              </a:ext>
            </a:extLst>
          </p:cNvPr>
          <p:cNvSpPr>
            <a:spLocks xmlns:a="http://schemas.openxmlformats.org/drawingml/2006/main" noGrp="1"/>
          </p:cNvSpPr>
          <p:nvPr/>
        </p:nvSpPr>
        <p:spPr>
          <a:xfrm xmlns:a="http://schemas.openxmlformats.org/drawingml/2006/main">
            <a:off x="7905750" y="1438275"/>
            <a:ext cx="514350" cy="323850"/>
          </a:xfrm>
          <a:prstGeom xmlns:a="http://schemas.openxmlformats.org/drawingml/2006/main" prst="rect">
            <a:avLst/>
          </a:prstGeom>
          <a:solidFill xmlns:a="http://schemas.openxmlformats.org/drawingml/2006/main">
            <a:srgbClr val="C43B00"/>
          </a:solidFill>
          <a:ln xmlns:a="http://schemas.openxmlformats.org/drawingml/2006/main" w="0">
            <a:solidFill>
              <a:srgbClr val="C43B00"/>
            </a:solidFill>
            <a:prstDash val="solid"/>
          </a:ln>
        </p:spPr>
      </p:sp>
      <p:sp>
        <p:nvSpPr>
          <p:cNvPr id="26" name="TextBox 26">
            <a:extLst xmlns:a="http://schemas.openxmlformats.org/drawingml/2006/main">
              <a:ext uri="{FF2B5EF4-FFF2-40B4-BE49-F238E27FC236}">
                <a16:creationId xmlns:a16="http://schemas.microsoft.com/office/drawing/2014/main" id="{B16138C3-5E90-4A10-A8C7-7F0CBBDCB86B}"/>
              </a:ext>
            </a:extLst>
          </p:cNvPr>
          <p:cNvSpPr>
            <a:spLocks xmlns:a="http://schemas.openxmlformats.org/drawingml/2006/main" noGrp="1"/>
          </p:cNvSpPr>
          <p:nvPr/>
        </p:nvSpPr>
        <p:spPr>
          <a:xfrm xmlns:a="http://schemas.openxmlformats.org/drawingml/2006/main">
            <a:off x="7905750" y="1457325"/>
            <a:ext cx="514350" cy="2762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ctr">
            <a:spAutoFit/>
          </a:bodyPr>
          <a:lstStyle xmlns:a="http://schemas.openxmlformats.org/drawingml/2006/main"/>
          <a:p xmlns:a="http://schemas.openxmlformats.org/drawingml/2006/main">
            <a:pPr algn="ctr">
              <a:buNone/>
              <a:defRPr sz="1050" b="1">
                <a:solidFill>
                  <a:srgbClr val="FFFFFF"/>
                </a:solidFill>
              </a:defRPr>
            </a:pPr>
            <a:r>
              <a:rPr sz="1050" b="1">
                <a:solidFill>
                  <a:srgbClr val="FFFFFF"/>
                </a:solidFill>
                <a:latin typeface="+mn-lt"/>
                <a:ea typeface="+mn-lt"/>
                <a:cs typeface="+mn-lt"/>
              </a:rPr>
              <a:t>04</a:t>
            </a:r>
            <a:endParaRPr sz="1050" b="1">
              <a:solidFill>
                <a:srgbClr val="C43B00"/>
              </a:solidFill>
              <a:latin typeface="+mn-lt"/>
              <a:ea typeface="+mn-lt"/>
              <a:cs typeface="+mn-lt"/>
            </a:endParaRPr>
          </a:p>
        </p:txBody>
      </p:sp>
      <p:sp>
        <p:nvSpPr>
          <p:cNvPr id="27" name="TextBox 27">
            <a:extLst xmlns:a="http://schemas.openxmlformats.org/drawingml/2006/main">
              <a:ext uri="{FF2B5EF4-FFF2-40B4-BE49-F238E27FC236}">
                <a16:creationId xmlns:a16="http://schemas.microsoft.com/office/drawing/2014/main" id="{C6656A3D-A25F-48D0-B462-CB98794AC729}"/>
              </a:ext>
            </a:extLst>
          </p:cNvPr>
          <p:cNvSpPr>
            <a:spLocks xmlns:a="http://schemas.openxmlformats.org/drawingml/2006/main" noGrp="1"/>
          </p:cNvSpPr>
          <p:nvPr/>
        </p:nvSpPr>
        <p:spPr>
          <a:xfrm xmlns:a="http://schemas.openxmlformats.org/drawingml/2006/main">
            <a:off x="7362825" y="1981200"/>
            <a:ext cx="16002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ctr">
            <a:spAutoFit/>
          </a:bodyPr>
          <a:lstStyle xmlns:a="http://schemas.openxmlformats.org/drawingml/2006/main"/>
          <a:p xmlns:a="http://schemas.openxmlformats.org/drawingml/2006/main">
            <a:pPr algn="ctr">
              <a:buNone/>
              <a:defRPr sz="1315" b="1">
                <a:solidFill>
                  <a:srgbClr val="2C2927"/>
                </a:solidFill>
              </a:defRPr>
            </a:pPr>
            <a:r>
              <a:rPr sz="1315" b="1">
                <a:solidFill>
                  <a:srgbClr val="2C2927"/>
                </a:solidFill>
                <a:latin typeface="+mn-lt"/>
                <a:ea typeface="+mn-lt"/>
                <a:cs typeface="+mn-lt"/>
              </a:rPr>
              <a:t>MIX THE</a:t>
            </a:r>
            <a:endParaRPr sz="1350" b="1">
              <a:solidFill>
                <a:srgbClr val="2C2927"/>
              </a:solidFill>
              <a:latin typeface="+mn-lt"/>
              <a:ea typeface="+mn-lt"/>
              <a:cs typeface="+mn-lt"/>
            </a:endParaRPr>
          </a:p>
          <a:p xmlns:a="http://schemas.openxmlformats.org/drawingml/2006/main">
            <a:pPr algn="ctr">
              <a:buNone/>
              <a:defRPr sz="1315" b="1">
                <a:solidFill>
                  <a:srgbClr val="2C2927"/>
                </a:solidFill>
              </a:defRPr>
            </a:pPr>
            <a:r>
              <a:rPr sz="1315" b="1">
                <a:solidFill>
                  <a:srgbClr val="2C2927"/>
                </a:solidFill>
                <a:latin typeface="+mn-lt"/>
                <a:ea typeface="+mn-lt"/>
                <a:cs typeface="+mn-lt"/>
              </a:rPr>
              <a:t>BASIS BANK</a:t>
            </a:r>
            <a:endParaRPr sz="1350" b="1">
              <a:solidFill>
                <a:srgbClr val="2C2927"/>
              </a:solidFill>
              <a:latin typeface="+mn-lt"/>
              <a:ea typeface="+mn-lt"/>
              <a:cs typeface="+mn-lt"/>
            </a:endParaRPr>
          </a:p>
        </p:txBody>
      </p:sp>
      <p:sp>
        <p:nvSpPr>
          <p:cNvPr id="28" name="TextBox 28">
            <a:extLst xmlns:a="http://schemas.openxmlformats.org/drawingml/2006/main">
              <a:ext uri="{FF2B5EF4-FFF2-40B4-BE49-F238E27FC236}">
                <a16:creationId xmlns:a16="http://schemas.microsoft.com/office/drawing/2014/main" id="{3DE69DD7-9A8E-41B3-B6A7-4B324870E839}"/>
              </a:ext>
            </a:extLst>
          </p:cNvPr>
          <p:cNvSpPr>
            <a:spLocks xmlns:a="http://schemas.openxmlformats.org/drawingml/2006/main" noGrp="1"/>
          </p:cNvSpPr>
          <p:nvPr/>
        </p:nvSpPr>
        <p:spPr>
          <a:xfrm xmlns:a="http://schemas.openxmlformats.org/drawingml/2006/main">
            <a:off x="7311390" y="2720658"/>
            <a:ext cx="1703070" cy="74993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ctr">
            <a:spAutoFit/>
          </a:bodyPr>
          <a:lstStyle xmlns:a="http://schemas.openxmlformats.org/drawingml/2006/main"/>
          <a:p xmlns:a="http://schemas.openxmlformats.org/drawingml/2006/main">
            <a:pPr algn="ctr">
              <a:lnSpc>
                <a:spcPts val="1950"/>
              </a:lnSpc>
              <a:buNone/>
              <a:defRPr sz="1050" b="0">
                <a:solidFill>
                  <a:srgbClr val="5B5550"/>
                </a:solidFill>
                <a:latin typeface="Arial"/>
                <a:ea typeface="Arial"/>
                <a:cs typeface="Arial"/>
              </a:defRPr>
            </a:pPr>
            <a:r>
              <a:rPr sz="1050" b="1">
                <a:solidFill>
                  <a:srgbClr val="5B5550"/>
                </a:solidFill>
                <a:latin typeface="Arial"/>
                <a:ea typeface="Arial"/>
                <a:cs typeface="Arial"/>
              </a:rPr>
              <a:t>Mix shared basis rows into</a:t>
            </a:r>
            <a:endParaRPr sz="975" b="1">
              <a:solidFill>
                <a:srgbClr val="5B5550"/>
              </a:solidFill>
              <a:latin typeface="+mn-lt"/>
              <a:ea typeface="+mn-lt"/>
              <a:cs typeface="+mn-lt"/>
            </a:endParaRPr>
          </a:p>
          <a:p xmlns:a="http://schemas.openxmlformats.org/drawingml/2006/main">
            <a:pPr algn="ctr">
              <a:lnSpc>
                <a:spcPts val="1950"/>
              </a:lnSpc>
              <a:buNone/>
              <a:defRPr sz="1050" b="0">
                <a:solidFill>
                  <a:srgbClr val="5B5550"/>
                </a:solidFill>
                <a:latin typeface="Arial"/>
                <a:ea typeface="Arial"/>
                <a:cs typeface="Arial"/>
              </a:defRPr>
            </a:pPr>
            <a:r>
              <a:rPr sz="1050" b="1">
                <a:solidFill>
                  <a:srgbClr val="5B5550"/>
                </a:solidFill>
                <a:latin typeface="Arial"/>
                <a:ea typeface="Arial"/>
                <a:cs typeface="Arial"/>
              </a:rPr>
              <a:t>low-rank channel</a:t>
            </a:r>
            <a:endParaRPr sz="975" b="1">
              <a:solidFill>
                <a:srgbClr val="5B5550"/>
              </a:solidFill>
              <a:latin typeface="+mn-lt"/>
              <a:ea typeface="+mn-lt"/>
              <a:cs typeface="+mn-lt"/>
            </a:endParaRPr>
          </a:p>
          <a:p xmlns:a="http://schemas.openxmlformats.org/drawingml/2006/main">
            <a:pPr algn="ctr">
              <a:lnSpc>
                <a:spcPts val="1950"/>
              </a:lnSpc>
              <a:buNone/>
              <a:defRPr sz="1050" b="0">
                <a:solidFill>
                  <a:srgbClr val="5B5550"/>
                </a:solidFill>
                <a:latin typeface="Arial"/>
                <a:ea typeface="Arial"/>
                <a:cs typeface="Arial"/>
              </a:defRPr>
            </a:pPr>
            <a:r>
              <a:rPr sz="1050" b="1">
                <a:solidFill>
                  <a:srgbClr val="5B5550"/>
                </a:solidFill>
                <a:latin typeface="Arial"/>
                <a:ea typeface="Arial"/>
                <a:cs typeface="Arial"/>
              </a:rPr>
              <a:t>interaction evidence.</a:t>
            </a:r>
            <a:endParaRPr sz="975" b="1">
              <a:solidFill>
                <a:srgbClr val="5B5550"/>
              </a:solidFill>
              <a:latin typeface="+mn-lt"/>
              <a:ea typeface="+mn-lt"/>
              <a:cs typeface="+mn-lt"/>
            </a:endParaRPr>
          </a:p>
        </p:txBody>
      </p:sp>
      <p:sp>
        <p:nvSpPr>
          <p:cNvPr id="30" name="Rectangle 30">
            <a:extLst xmlns:a="http://schemas.openxmlformats.org/drawingml/2006/main">
              <a:ext uri="{FF2B5EF4-FFF2-40B4-BE49-F238E27FC236}">
                <a16:creationId xmlns:a16="http://schemas.microsoft.com/office/drawing/2014/main" id="{8598A2E7-3949-414F-8FBC-76C9388A77D1}"/>
              </a:ext>
            </a:extLst>
          </p:cNvPr>
          <p:cNvSpPr>
            <a:spLocks xmlns:a="http://schemas.openxmlformats.org/drawingml/2006/main" noGrp="1"/>
          </p:cNvSpPr>
          <p:nvPr/>
        </p:nvSpPr>
        <p:spPr>
          <a:xfrm xmlns:a="http://schemas.openxmlformats.org/drawingml/2006/main">
            <a:off x="9486900" y="1485900"/>
            <a:ext cx="1847850" cy="2095500"/>
          </a:xfrm>
          <a:prstGeom xmlns:a="http://schemas.openxmlformats.org/drawingml/2006/main" prst="rect">
            <a:avLst/>
          </a:prstGeom>
          <a:solidFill xmlns:a="http://schemas.openxmlformats.org/drawingml/2006/main">
            <a:srgbClr val="FFFDFC"/>
          </a:solidFill>
          <a:ln xmlns:a="http://schemas.openxmlformats.org/drawingml/2006/main" w="9525">
            <a:solidFill>
              <a:srgbClr val="D9CFC8"/>
            </a:solidFill>
            <a:prstDash val="solid"/>
          </a:ln>
        </p:spPr>
      </p:sp>
      <p:sp>
        <p:nvSpPr>
          <p:cNvPr id="31" name="Rectangle 31">
            <a:extLst xmlns:a="http://schemas.openxmlformats.org/drawingml/2006/main">
              <a:ext uri="{FF2B5EF4-FFF2-40B4-BE49-F238E27FC236}">
                <a16:creationId xmlns:a16="http://schemas.microsoft.com/office/drawing/2014/main" id="{B4EECD26-C7C0-4D23-B09E-B605AE7253F0}"/>
              </a:ext>
            </a:extLst>
          </p:cNvPr>
          <p:cNvSpPr>
            <a:spLocks xmlns:a="http://schemas.openxmlformats.org/drawingml/2006/main" noGrp="1"/>
          </p:cNvSpPr>
          <p:nvPr/>
        </p:nvSpPr>
        <p:spPr>
          <a:xfrm xmlns:a="http://schemas.openxmlformats.org/drawingml/2006/main">
            <a:off x="10153650" y="1438275"/>
            <a:ext cx="514350" cy="323850"/>
          </a:xfrm>
          <a:prstGeom xmlns:a="http://schemas.openxmlformats.org/drawingml/2006/main" prst="rect">
            <a:avLst/>
          </a:prstGeom>
          <a:solidFill xmlns:a="http://schemas.openxmlformats.org/drawingml/2006/main">
            <a:srgbClr val="C43B00"/>
          </a:solidFill>
          <a:ln xmlns:a="http://schemas.openxmlformats.org/drawingml/2006/main" w="0">
            <a:solidFill>
              <a:srgbClr val="C43B00"/>
            </a:solidFill>
            <a:prstDash val="solid"/>
          </a:ln>
        </p:spPr>
      </p:sp>
      <p:sp>
        <p:nvSpPr>
          <p:cNvPr id="32" name="TextBox 32">
            <a:extLst xmlns:a="http://schemas.openxmlformats.org/drawingml/2006/main">
              <a:ext uri="{FF2B5EF4-FFF2-40B4-BE49-F238E27FC236}">
                <a16:creationId xmlns:a16="http://schemas.microsoft.com/office/drawing/2014/main" id="{41C1E31A-7757-4586-BE5B-E6BDEB2EE1A4}"/>
              </a:ext>
            </a:extLst>
          </p:cNvPr>
          <p:cNvSpPr>
            <a:spLocks xmlns:a="http://schemas.openxmlformats.org/drawingml/2006/main" noGrp="1"/>
          </p:cNvSpPr>
          <p:nvPr/>
        </p:nvSpPr>
        <p:spPr>
          <a:xfrm xmlns:a="http://schemas.openxmlformats.org/drawingml/2006/main">
            <a:off x="10153650" y="1457325"/>
            <a:ext cx="514350" cy="2762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ctr">
            <a:spAutoFit/>
          </a:bodyPr>
          <a:lstStyle xmlns:a="http://schemas.openxmlformats.org/drawingml/2006/main"/>
          <a:p xmlns:a="http://schemas.openxmlformats.org/drawingml/2006/main">
            <a:pPr algn="ctr">
              <a:buNone/>
              <a:defRPr sz="1050" b="1">
                <a:solidFill>
                  <a:srgbClr val="FFFFFF"/>
                </a:solidFill>
              </a:defRPr>
            </a:pPr>
            <a:r>
              <a:rPr sz="1050" b="1">
                <a:solidFill>
                  <a:srgbClr val="FFFFFF"/>
                </a:solidFill>
                <a:latin typeface="+mn-lt"/>
                <a:ea typeface="+mn-lt"/>
                <a:cs typeface="+mn-lt"/>
              </a:rPr>
              <a:t>05</a:t>
            </a:r>
            <a:endParaRPr sz="1050" b="1">
              <a:solidFill>
                <a:srgbClr val="C43B00"/>
              </a:solidFill>
              <a:latin typeface="+mn-lt"/>
              <a:ea typeface="+mn-lt"/>
              <a:cs typeface="+mn-lt"/>
            </a:endParaRPr>
          </a:p>
        </p:txBody>
      </p:sp>
      <p:sp>
        <p:nvSpPr>
          <p:cNvPr id="33" name="TextBox 33">
            <a:extLst xmlns:a="http://schemas.openxmlformats.org/drawingml/2006/main">
              <a:ext uri="{FF2B5EF4-FFF2-40B4-BE49-F238E27FC236}">
                <a16:creationId xmlns:a16="http://schemas.microsoft.com/office/drawing/2014/main" id="{A1E2BA57-D3C1-4B0C-842F-7DD244D7CDF1}"/>
              </a:ext>
            </a:extLst>
          </p:cNvPr>
          <p:cNvSpPr>
            <a:spLocks xmlns:a="http://schemas.openxmlformats.org/drawingml/2006/main" noGrp="1"/>
          </p:cNvSpPr>
          <p:nvPr/>
        </p:nvSpPr>
        <p:spPr>
          <a:xfrm xmlns:a="http://schemas.openxmlformats.org/drawingml/2006/main">
            <a:off x="9610725" y="1981200"/>
            <a:ext cx="16002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ctr">
            <a:spAutoFit/>
          </a:bodyPr>
          <a:lstStyle xmlns:a="http://schemas.openxmlformats.org/drawingml/2006/main"/>
          <a:p xmlns:a="http://schemas.openxmlformats.org/drawingml/2006/main">
            <a:pPr algn="ctr">
              <a:buNone/>
              <a:defRPr sz="1315" b="1">
                <a:solidFill>
                  <a:srgbClr val="2C2927"/>
                </a:solidFill>
              </a:defRPr>
            </a:pPr>
            <a:r>
              <a:rPr sz="1315" b="1">
                <a:solidFill>
                  <a:srgbClr val="2C2927"/>
                </a:solidFill>
                <a:latin typeface="+mn-lt"/>
                <a:ea typeface="+mn-lt"/>
                <a:cs typeface="+mn-lt"/>
              </a:rPr>
              <a:t>SELECT SPARSE</a:t>
            </a:r>
            <a:endParaRPr sz="1350" b="1">
              <a:solidFill>
                <a:srgbClr val="2C2927"/>
              </a:solidFill>
              <a:latin typeface="+mn-lt"/>
              <a:ea typeface="+mn-lt"/>
              <a:cs typeface="+mn-lt"/>
            </a:endParaRPr>
          </a:p>
          <a:p xmlns:a="http://schemas.openxmlformats.org/drawingml/2006/main">
            <a:pPr algn="ctr">
              <a:buNone/>
              <a:defRPr sz="1315" b="1">
                <a:solidFill>
                  <a:srgbClr val="2C2927"/>
                </a:solidFill>
              </a:defRPr>
            </a:pPr>
            <a:r>
              <a:rPr sz="1315" b="1">
                <a:solidFill>
                  <a:srgbClr val="2C2927"/>
                </a:solidFill>
                <a:latin typeface="+mn-lt"/>
                <a:ea typeface="+mn-lt"/>
                <a:cs typeface="+mn-lt"/>
              </a:rPr>
              <a:t>SUPPORT</a:t>
            </a:r>
            <a:endParaRPr sz="1350" b="1">
              <a:solidFill>
                <a:srgbClr val="2C2927"/>
              </a:solidFill>
              <a:latin typeface="+mn-lt"/>
              <a:ea typeface="+mn-lt"/>
              <a:cs typeface="+mn-lt"/>
            </a:endParaRPr>
          </a:p>
        </p:txBody>
      </p:sp>
      <p:sp>
        <p:nvSpPr>
          <p:cNvPr id="34" name="TextBox 34">
            <a:extLst xmlns:a="http://schemas.openxmlformats.org/drawingml/2006/main">
              <a:ext uri="{FF2B5EF4-FFF2-40B4-BE49-F238E27FC236}">
                <a16:creationId xmlns:a16="http://schemas.microsoft.com/office/drawing/2014/main" id="{F9665541-2368-47F7-AB95-092716A954A4}"/>
              </a:ext>
            </a:extLst>
          </p:cNvPr>
          <p:cNvSpPr>
            <a:spLocks xmlns:a="http://schemas.openxmlformats.org/drawingml/2006/main" noGrp="1"/>
          </p:cNvSpPr>
          <p:nvPr/>
        </p:nvSpPr>
        <p:spPr>
          <a:xfrm xmlns:a="http://schemas.openxmlformats.org/drawingml/2006/main">
            <a:off x="9529128" y="2720658"/>
            <a:ext cx="1763395" cy="74993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ctr">
            <a:spAutoFit/>
          </a:bodyPr>
          <a:lstStyle xmlns:a="http://schemas.openxmlformats.org/drawingml/2006/main"/>
          <a:p xmlns:a="http://schemas.openxmlformats.org/drawingml/2006/main">
            <a:pPr algn="ctr">
              <a:lnSpc>
                <a:spcPts val="1950"/>
              </a:lnSpc>
              <a:buNone/>
              <a:defRPr sz="1050" b="0">
                <a:solidFill>
                  <a:srgbClr val="5B5550"/>
                </a:solidFill>
                <a:latin typeface="Arial"/>
                <a:ea typeface="Arial"/>
                <a:cs typeface="Arial"/>
              </a:defRPr>
            </a:pPr>
            <a:r>
              <a:rPr sz="1050" b="1">
                <a:solidFill>
                  <a:srgbClr val="5B5550"/>
                </a:solidFill>
                <a:latin typeface="Arial"/>
                <a:ea typeface="Arial"/>
                <a:cs typeface="Arial"/>
              </a:rPr>
              <a:t>Keep the strongest directed</a:t>
            </a:r>
            <a:endParaRPr sz="975" b="1">
              <a:solidFill>
                <a:srgbClr val="5B5550"/>
              </a:solidFill>
              <a:latin typeface="+mn-lt"/>
              <a:ea typeface="+mn-lt"/>
              <a:cs typeface="+mn-lt"/>
            </a:endParaRPr>
          </a:p>
          <a:p xmlns:a="http://schemas.openxmlformats.org/drawingml/2006/main">
            <a:pPr algn="ctr">
              <a:lnSpc>
                <a:spcPts val="1950"/>
              </a:lnSpc>
              <a:buNone/>
              <a:defRPr sz="1050" b="0">
                <a:solidFill>
                  <a:srgbClr val="5B5550"/>
                </a:solidFill>
                <a:latin typeface="Arial"/>
                <a:ea typeface="Arial"/>
                <a:cs typeface="Arial"/>
              </a:defRPr>
            </a:pPr>
            <a:r>
              <a:rPr sz="1050" b="1">
                <a:solidFill>
                  <a:srgbClr val="5B5550"/>
                </a:solidFill>
                <a:latin typeface="Arial"/>
                <a:ea typeface="Arial"/>
                <a:cs typeface="Arial"/>
              </a:rPr>
              <a:t>relations through row-wise</a:t>
            </a:r>
            <a:endParaRPr sz="975" b="1">
              <a:solidFill>
                <a:srgbClr val="5B5550"/>
              </a:solidFill>
              <a:latin typeface="+mn-lt"/>
              <a:ea typeface="+mn-lt"/>
              <a:cs typeface="+mn-lt"/>
            </a:endParaRPr>
          </a:p>
          <a:p xmlns:a="http://schemas.openxmlformats.org/drawingml/2006/main">
            <a:pPr algn="ctr">
              <a:lnSpc>
                <a:spcPts val="1950"/>
              </a:lnSpc>
              <a:buNone/>
              <a:defRPr sz="1050" b="0">
                <a:solidFill>
                  <a:srgbClr val="5B5550"/>
                </a:solidFill>
                <a:latin typeface="Arial"/>
                <a:ea typeface="Arial"/>
                <a:cs typeface="Arial"/>
              </a:defRPr>
            </a:pPr>
            <a:r>
              <a:rPr sz="1050" b="1">
                <a:solidFill>
                  <a:srgbClr val="5B5550"/>
                </a:solidFill>
                <a:latin typeface="Arial"/>
                <a:ea typeface="Arial"/>
                <a:cs typeface="Arial"/>
              </a:rPr>
              <a:t>Top-k selection.</a:t>
            </a:r>
            <a:endParaRPr sz="975" b="1">
              <a:solidFill>
                <a:srgbClr val="5B5550"/>
              </a:solidFill>
              <a:latin typeface="+mn-lt"/>
              <a:ea typeface="+mn-lt"/>
              <a:cs typeface="+mn-lt"/>
            </a:endParaRPr>
          </a:p>
        </p:txBody>
      </p:sp>
      <p:sp>
        <p:nvSpPr>
          <p:cNvPr id="37" name="Rectangle 37">
            <a:extLst xmlns:a="http://schemas.openxmlformats.org/drawingml/2006/main">
              <a:ext uri="{FF2B5EF4-FFF2-40B4-BE49-F238E27FC236}">
                <a16:creationId xmlns:a16="http://schemas.microsoft.com/office/drawing/2014/main" id="{6398F291-5448-4E66-ACB4-F3BC0D20115E}"/>
              </a:ext>
            </a:extLst>
          </p:cNvPr>
          <p:cNvSpPr>
            <a:spLocks xmlns:a="http://schemas.openxmlformats.org/drawingml/2006/main" noGrp="1"/>
          </p:cNvSpPr>
          <p:nvPr/>
        </p:nvSpPr>
        <p:spPr>
          <a:xfrm xmlns:a="http://schemas.openxmlformats.org/drawingml/2006/main">
            <a:off x="1028700" y="4038600"/>
            <a:ext cx="1013460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D9CFC8"/>
            </a:solidFill>
            <a:prstDash val="solid"/>
          </a:ln>
        </p:spPr>
      </p:sp>
      <p:sp>
        <p:nvSpPr>
          <p:cNvPr id="38" name="TextBox 38">
            <a:extLst xmlns:a="http://schemas.openxmlformats.org/drawingml/2006/main">
              <a:ext uri="{FF2B5EF4-FFF2-40B4-BE49-F238E27FC236}">
                <a16:creationId xmlns:a16="http://schemas.microsoft.com/office/drawing/2014/main" id="{E9D687FA-FCFC-4A08-A56C-937F1325E6A1}"/>
              </a:ext>
            </a:extLst>
          </p:cNvPr>
          <p:cNvSpPr>
            <a:spLocks xmlns:a="http://schemas.openxmlformats.org/drawingml/2006/main" noGrp="1"/>
          </p:cNvSpPr>
          <p:nvPr/>
        </p:nvSpPr>
        <p:spPr>
          <a:xfrm xmlns:a="http://schemas.openxmlformats.org/drawingml/2006/main">
            <a:off x="1247775" y="4171950"/>
            <a:ext cx="40957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ctr">
            <a:spAutoFit/>
          </a:bodyPr>
          <a:lstStyle xmlns:a="http://schemas.openxmlformats.org/drawingml/2006/main"/>
          <a:p xmlns:a="http://schemas.openxmlformats.org/drawingml/2006/main">
            <a:pPr algn="l">
              <a:buNone/>
              <a:defRPr sz="1050" b="1">
                <a:solidFill>
                  <a:srgbClr val="C43B00"/>
                </a:solidFill>
              </a:defRPr>
            </a:pPr>
            <a:r>
              <a:rPr sz="1050" b="1">
                <a:solidFill>
                  <a:srgbClr val="C43B00"/>
                </a:solidFill>
                <a:latin typeface="+mn-lt"/>
                <a:ea typeface="+mn-lt"/>
                <a:cs typeface="+mn-lt"/>
              </a:rPr>
              <a:t>CONTEXT-AWARE BASIS MIXING · EQUATION 8</a:t>
            </a:r>
            <a:endParaRPr sz="1050" b="1">
              <a:solidFill>
                <a:schemeClr val="accent1"/>
              </a:solidFill>
              <a:latin typeface="+mn-lt"/>
              <a:ea typeface="+mn-lt"/>
              <a:cs typeface="+mn-lt"/>
            </a:endParaRPr>
          </a:p>
        </p:txBody>
      </p:sp>
      <p:pic>
        <p:nvPicPr>
          <p:cNvPr id="79" name="Image 39"/>
          <p:cNvPicPr>
            <a:picLocks xmlns:a="http://schemas.openxmlformats.org/drawingml/2006/main" noChangeAspect="1"/>
          </p:cNvPicPr>
          <p:nvPr/>
        </p:nvPicPr>
        <p:blipFill>
          <a:blip xmlns:r="http://schemas.openxmlformats.org/officeDocument/2006/relationships" xmlns:a="http://schemas.openxmlformats.org/drawingml/2006/main" r:embed="R05fcb17dd8964baf"/>
          <a:stretch xmlns:a="http://schemas.openxmlformats.org/drawingml/2006/main">
            <a:fillRect l="0" t="0" r="0" b="0"/>
          </a:stretch>
        </p:blipFill>
        <p:spPr>
          <a:xfrm xmlns:a="http://schemas.openxmlformats.org/drawingml/2006/main">
            <a:off x="2857500" y="4362450"/>
            <a:ext cx="6477000" cy="723900"/>
          </a:xfrm>
          <a:prstGeom xmlns:a="http://schemas.openxmlformats.org/drawingml/2006/main" prst="rect">
            <a:avLst/>
          </a:prstGeom>
        </p:spPr>
      </p:pic>
      <p:sp>
        <p:nvSpPr>
          <p:cNvPr id="41" name="Rectangle 41">
            <a:extLst xmlns:a="http://schemas.openxmlformats.org/drawingml/2006/main">
              <a:ext uri="{FF2B5EF4-FFF2-40B4-BE49-F238E27FC236}">
                <a16:creationId xmlns:a16="http://schemas.microsoft.com/office/drawing/2014/main" id="{FB3E1400-15F3-4DAE-8918-5781127BE8E0}"/>
              </a:ext>
            </a:extLst>
          </p:cNvPr>
          <p:cNvSpPr>
            <a:spLocks xmlns:a="http://schemas.openxmlformats.org/drawingml/2006/main" noGrp="1"/>
          </p:cNvSpPr>
          <p:nvPr/>
        </p:nvSpPr>
        <p:spPr>
          <a:xfrm xmlns:a="http://schemas.openxmlformats.org/drawingml/2006/main">
            <a:off x="1200150" y="5334000"/>
            <a:ext cx="9791700" cy="762000"/>
          </a:xfrm>
          <a:prstGeom xmlns:a="http://schemas.openxmlformats.org/drawingml/2006/main" prst="rect">
            <a:avLst/>
          </a:prstGeom>
          <a:solidFill xmlns:a="http://schemas.openxmlformats.org/drawingml/2006/main">
            <a:srgbClr val="F4D7C8"/>
          </a:solidFill>
          <a:ln xmlns:a="http://schemas.openxmlformats.org/drawingml/2006/main" w="0">
            <a:solidFill>
              <a:srgbClr val="F4D7C8"/>
            </a:solidFill>
            <a:prstDash val="solid"/>
          </a:ln>
        </p:spPr>
      </p:sp>
      <p:sp>
        <p:nvSpPr>
          <p:cNvPr id="42" name="TextBox 42">
            <a:extLst xmlns:a="http://schemas.openxmlformats.org/drawingml/2006/main">
              <a:ext uri="{FF2B5EF4-FFF2-40B4-BE49-F238E27FC236}">
                <a16:creationId xmlns:a16="http://schemas.microsoft.com/office/drawing/2014/main" id="{F46EC25E-437F-4B64-B5F0-A5B3699A1338}"/>
              </a:ext>
            </a:extLst>
          </p:cNvPr>
          <p:cNvSpPr>
            <a:spLocks xmlns:a="http://schemas.openxmlformats.org/drawingml/2006/main" noGrp="1"/>
          </p:cNvSpPr>
          <p:nvPr/>
        </p:nvSpPr>
        <p:spPr>
          <a:xfrm xmlns:a="http://schemas.openxmlformats.org/drawingml/2006/main">
            <a:off x="1428750" y="5457825"/>
            <a:ext cx="23812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ctr">
            <a:spAutoFit/>
          </a:bodyPr>
          <a:lstStyle xmlns:a="http://schemas.openxmlformats.org/drawingml/2006/main"/>
          <a:p xmlns:a="http://schemas.openxmlformats.org/drawingml/2006/main">
            <a:pPr algn="l">
              <a:buNone/>
              <a:defRPr sz="1350" b="1">
                <a:solidFill>
                  <a:srgbClr val="C43B00"/>
                </a:solidFill>
              </a:defRPr>
            </a:pPr>
            <a:r>
              <a:rPr sz="1350" b="1">
                <a:solidFill>
                  <a:srgbClr val="C43B00"/>
                </a:solidFill>
                <a:latin typeface="+mn-lt"/>
                <a:ea typeface="+mn-lt"/>
                <a:cs typeface="+mn-lt"/>
              </a:rPr>
              <a:t>TOPOLOGY × INTENSITY</a:t>
            </a:r>
            <a:endParaRPr sz="1350" b="1">
              <a:solidFill>
                <a:schemeClr val="accent1"/>
              </a:solidFill>
              <a:latin typeface="+mn-lt"/>
              <a:ea typeface="+mn-lt"/>
              <a:cs typeface="+mn-lt"/>
            </a:endParaRPr>
          </a:p>
        </p:txBody>
      </p:sp>
      <p:sp>
        <p:nvSpPr>
          <p:cNvPr id="43" name="TextBox 43">
            <a:extLst xmlns:a="http://schemas.openxmlformats.org/drawingml/2006/main">
              <a:ext uri="{FF2B5EF4-FFF2-40B4-BE49-F238E27FC236}">
                <a16:creationId xmlns:a16="http://schemas.microsoft.com/office/drawing/2014/main" id="{CBD10B2B-E2A9-44D9-AEA6-EF2764A6698C}"/>
              </a:ext>
            </a:extLst>
          </p:cNvPr>
          <p:cNvSpPr>
            <a:spLocks xmlns:a="http://schemas.openxmlformats.org/drawingml/2006/main" noGrp="1"/>
          </p:cNvSpPr>
          <p:nvPr/>
        </p:nvSpPr>
        <p:spPr>
          <a:xfrm xmlns:a="http://schemas.openxmlformats.org/drawingml/2006/main">
            <a:off x="3810000" y="5410200"/>
            <a:ext cx="6858000" cy="571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ctr">
            <a:spAutoFit/>
          </a:bodyPr>
          <a:lstStyle xmlns:a="http://schemas.openxmlformats.org/drawingml/2006/main"/>
          <a:p xmlns:a="http://schemas.openxmlformats.org/drawingml/2006/main">
            <a:pPr algn="l">
              <a:lnSpc>
                <a:spcPts val="1950"/>
              </a:lnSpc>
              <a:buNone/>
              <a:defRPr sz="1275" b="0">
                <a:solidFill>
                  <a:srgbClr val="2C2927"/>
                </a:solidFill>
              </a:defRPr>
            </a:pPr>
            <a:r>
              <a:rPr sz="1275" b="0">
                <a:solidFill>
                  <a:srgbClr val="2C2927"/>
                </a:solidFill>
                <a:latin typeface="+mn-lt"/>
                <a:ea typeface="+mn-lt"/>
                <a:cs typeface="+mn-lt"/>
              </a:rPr>
              <a:t>The constrained mixer selects reliable edges;</a:t>
            </a:r>
            <a:endParaRPr sz="1240" b="0">
              <a:solidFill>
                <a:srgbClr val="2C2927"/>
              </a:solidFill>
              <a:latin typeface="+mn-lt"/>
              <a:ea typeface="+mn-lt"/>
              <a:cs typeface="+mn-lt"/>
            </a:endParaRPr>
          </a:p>
          <a:p xmlns:a="http://schemas.openxmlformats.org/drawingml/2006/main">
            <a:pPr algn="l">
              <a:lnSpc>
                <a:spcPts val="1950"/>
              </a:lnSpc>
              <a:buNone/>
              <a:defRPr sz="1275" b="0">
                <a:solidFill>
                  <a:srgbClr val="2C2927"/>
                </a:solidFill>
              </a:defRPr>
            </a:pPr>
            <a:r>
              <a:rPr sz="1275" b="0">
                <a:solidFill>
                  <a:srgbClr val="2C2927"/>
                </a:solidFill>
                <a:latin typeface="+mn-lt"/>
                <a:ea typeface="+mn-lt"/>
                <a:cs typeface="+mn-lt"/>
              </a:rPr>
              <a:t>a separate intensity branch weights only those connections.</a:t>
            </a:r>
            <a:endParaRPr sz="1240" b="0">
              <a:solidFill>
                <a:srgbClr val="2C2927"/>
              </a:solidFill>
              <a:latin typeface="+mn-lt"/>
              <a:ea typeface="+mn-lt"/>
              <a:cs typeface="+mn-lt"/>
            </a:endParaRPr>
          </a:p>
        </p:txBody>
      </p:sp>
      <p:sp>
        <p:nvSpPr>
          <p:cNvPr id="45" name="Line 45">
            <a:extLst xmlns:a="http://schemas.openxmlformats.org/drawingml/2006/main">
              <a:ext uri="{FF2B5EF4-FFF2-40B4-BE49-F238E27FC236}">
                <a16:creationId xmlns:a16="http://schemas.microsoft.com/office/drawing/2014/main" id="{FEC28780-2A43-43E6-AFBB-B3554FCDF1F7}"/>
              </a:ext>
            </a:extLst>
          </p:cNvPr>
          <p:cNvSpPr>
            <a:spLocks xmlns:a="http://schemas.openxmlformats.org/drawingml/2006/main" noGrp="1"/>
          </p:cNvSpPr>
          <p:nvPr/>
        </p:nvSpPr>
        <p:spPr>
          <a:xfrm xmlns:a="http://schemas.openxmlformats.org/drawingml/2006/main">
            <a:off x="495300" y="6362700"/>
            <a:ext cx="11201400" cy="9525"/>
          </a:xfrm>
          <a:custGeom xmlns:a="http://schemas.openxmlformats.org/drawingml/2006/main">
            <a:rect l="l" t="t" r="r" b="b"/>
            <a:pathLst>
              <a:path w="11201400" h="9525">
                <a:moveTo>
                  <a:pt x="0" y="0"/>
                </a:moveTo>
                <a:lnTo>
                  <a:pt x="11201400" y="0"/>
                </a:lnTo>
              </a:path>
            </a:pathLst>
          </a:custGeom>
          <a:noFill xmlns:a="http://schemas.openxmlformats.org/drawingml/2006/main"/>
          <a:ln xmlns:a="http://schemas.openxmlformats.org/drawingml/2006/main" w="9525">
            <a:solidFill>
              <a:schemeClr val="accent5"/>
            </a:solidFill>
          </a:ln>
        </p:spPr>
      </p:sp>
      <p:sp>
        <p:nvSpPr>
          <p:cNvPr id="46" name="TextBox 46">
            <a:extLst xmlns:a="http://schemas.openxmlformats.org/drawingml/2006/main">
              <a:ext uri="{FF2B5EF4-FFF2-40B4-BE49-F238E27FC236}">
                <a16:creationId xmlns:a16="http://schemas.microsoft.com/office/drawing/2014/main" id="{7B72EAA2-5EFB-45D2-A403-1D4B5E220BE4}"/>
              </a:ext>
            </a:extLst>
          </p:cNvPr>
          <p:cNvSpPr>
            <a:spLocks xmlns:a="http://schemas.openxmlformats.org/drawingml/2006/main" noGrp="1"/>
          </p:cNvSpPr>
          <p:nvPr/>
        </p:nvSpPr>
        <p:spPr>
          <a:xfrm xmlns:a="http://schemas.openxmlformats.org/drawingml/2006/main">
            <a:off x="489966" y="6497002"/>
            <a:ext cx="5930923" cy="205359"/>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defRPr sz="940" b="0">
                <a:solidFill>
                  <a:srgbClr val="6B625D"/>
                </a:solidFill>
              </a:defRPr>
            </a:pPr>
            <a:r>
              <a:rPr sz="940" b="0">
                <a:solidFill>
                  <a:srgbClr val="6B625D"/>
                </a:solidFill>
                <a:latin typeface="+mn-lt"/>
                <a:ea typeface="+mn-lt"/>
                <a:cs typeface="+mn-lt"/>
              </a:rPr>
              <a:t>Row-wise mixtures produce asymmetric, patch-specific directed graphs.</a:t>
            </a:r>
            <a:endParaRPr sz="1050">
              <a:solidFill>
                <a:srgbClr val="5E5A55"/>
              </a:solidFill>
              <a:latin typeface="+mn-lt"/>
              <a:ea typeface="+mn-lt"/>
              <a:cs typeface="+mn-lt"/>
            </a:endParaRPr>
          </a:p>
        </p:txBody>
      </p:sp>
      <p:sp>
        <p:nvSpPr>
          <p:cNvPr id="47" name="TextBox 47">
            <a:extLst xmlns:a="http://schemas.openxmlformats.org/drawingml/2006/main">
              <a:ext uri="{FF2B5EF4-FFF2-40B4-BE49-F238E27FC236}">
                <a16:creationId xmlns:a16="http://schemas.microsoft.com/office/drawing/2014/main" id="{4A090DCF-8F20-4A82-9FCC-CB3DF45CC22E}"/>
              </a:ext>
            </a:extLst>
          </p:cNvPr>
          <p:cNvSpPr>
            <a:spLocks xmlns:a="http://schemas.openxmlformats.org/drawingml/2006/main" noGrp="1"/>
          </p:cNvSpPr>
          <p:nvPr/>
        </p:nvSpPr>
        <p:spPr>
          <a:xfrm xmlns:a="http://schemas.openxmlformats.org/drawingml/2006/main">
            <a:off x="11528106" y="6497002"/>
            <a:ext cx="173928" cy="205359"/>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r">
              <a:buNone/>
            </a:pPr>
            <a:r>
              <a:rPr sz="1050" b="1">
                <a:solidFill>
                  <a:schemeClr val="accent1"/>
                </a:solidFill>
                <a:latin typeface="+mn-lt"/>
                <a:ea typeface="+mn-lt"/>
                <a:cs typeface="+mn-lt"/>
              </a:rPr>
              <a:t>05</a:t>
            </a:r>
            <a:endParaRPr sz="1050" b="1">
              <a:solidFill>
                <a:schemeClr val="accent1"/>
              </a:solidFill>
              <a:latin typeface="+mn-lt"/>
              <a:ea typeface="+mn-lt"/>
              <a:cs typeface="+mn-lt"/>
            </a:endParaRPr>
          </a:p>
        </p:txBody>
      </p:sp>
    </p:spTree>
    <p:extLst>
      <p:ext uri="{BB962C8B-B14F-4D97-AF65-F5344CB8AC3E}">
        <p14:creationId xmlns:p14="http://schemas.microsoft.com/office/powerpoint/2010/main" val="1981877737"/>
      </p:ext>
    </p:extLst>
  </p:cSld>
</p:sld>
</file>

<file path=ppt/slides/slide6.xml><?xml version="1.0" encoding="utf-8"?>
<p:sld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
        <p:nvSpPr>
          <p:cNvPr id="2" name="TextBox 2">
            <a:extLst xmlns:a="http://schemas.openxmlformats.org/drawingml/2006/main">
              <a:ext uri="{FF2B5EF4-FFF2-40B4-BE49-F238E27FC236}">
                <a16:creationId xmlns:a16="http://schemas.microsoft.com/office/drawing/2014/main" id="{EEB4689C-D4C4-4279-8997-6EF79598B443}"/>
              </a:ext>
            </a:extLst>
          </p:cNvPr>
          <p:cNvSpPr>
            <a:spLocks xmlns:a="http://schemas.openxmlformats.org/drawingml/2006/main" noGrp="1"/>
          </p:cNvSpPr>
          <p:nvPr/>
        </p:nvSpPr>
        <p:spPr>
          <a:xfrm xmlns:a="http://schemas.openxmlformats.org/drawingml/2006/main">
            <a:off x="481584" y="318135"/>
            <a:ext cx="9587082" cy="52806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2700" b="1">
                <a:solidFill>
                  <a:schemeClr val="dk1"/>
                </a:solidFill>
                <a:latin typeface="+mn-lt"/>
                <a:ea typeface="+mn-lt"/>
                <a:cs typeface="+mn-lt"/>
              </a:rPr>
              <a:t>ConDyGNet leads across model families</a:t>
            </a:r>
            <a:endParaRPr sz="2700" b="1">
              <a:solidFill>
                <a:schemeClr val="dk1"/>
              </a:solidFill>
              <a:latin typeface="+mn-lt"/>
              <a:ea typeface="+mn-lt"/>
              <a:cs typeface="+mn-lt"/>
            </a:endParaRPr>
          </a:p>
        </p:txBody>
      </p:sp>
      <p:sp>
        <p:nvSpPr>
          <p:cNvPr id="3" name="Line 3">
            <a:extLst xmlns:a="http://schemas.openxmlformats.org/drawingml/2006/main">
              <a:ext uri="{FF2B5EF4-FFF2-40B4-BE49-F238E27FC236}">
                <a16:creationId xmlns:a16="http://schemas.microsoft.com/office/drawing/2014/main" id="{A0ECAB0D-56B8-421F-8151-5D952B098415}"/>
              </a:ext>
            </a:extLst>
          </p:cNvPr>
          <p:cNvSpPr>
            <a:spLocks xmlns:a="http://schemas.openxmlformats.org/drawingml/2006/main" noGrp="1"/>
          </p:cNvSpPr>
          <p:nvPr/>
        </p:nvSpPr>
        <p:spPr>
          <a:xfrm xmlns:a="http://schemas.openxmlformats.org/drawingml/2006/main">
            <a:off x="495300" y="914400"/>
            <a:ext cx="11201400" cy="9525"/>
          </a:xfrm>
          <a:custGeom xmlns:a="http://schemas.openxmlformats.org/drawingml/2006/main">
            <a:rect l="l" t="t" r="r" b="b"/>
            <a:pathLst>
              <a:path w="11201400" h="9525">
                <a:moveTo>
                  <a:pt x="0" y="0"/>
                </a:moveTo>
                <a:lnTo>
                  <a:pt x="11201400" y="0"/>
                </a:lnTo>
              </a:path>
            </a:pathLst>
          </a:custGeom>
          <a:noFill xmlns:a="http://schemas.openxmlformats.org/drawingml/2006/main"/>
          <a:ln xmlns:a="http://schemas.openxmlformats.org/drawingml/2006/main" w="28575">
            <a:solidFill>
              <a:schemeClr val="accent1"/>
            </a:solidFill>
          </a:ln>
        </p:spPr>
      </p:sp>
      <p:sp>
        <p:nvSpPr>
          <p:cNvPr id="7" name="TextBox 7">
            <a:extLst xmlns:a="http://schemas.openxmlformats.org/drawingml/2006/main">
              <a:ext uri="{FF2B5EF4-FFF2-40B4-BE49-F238E27FC236}">
                <a16:creationId xmlns:a16="http://schemas.microsoft.com/office/drawing/2014/main" id="{4BE3CD57-A4ED-4087-9739-ECD44D039BBA}"/>
              </a:ext>
            </a:extLst>
          </p:cNvPr>
          <p:cNvSpPr>
            <a:spLocks xmlns:a="http://schemas.openxmlformats.org/drawingml/2006/main" noGrp="1"/>
          </p:cNvSpPr>
          <p:nvPr/>
        </p:nvSpPr>
        <p:spPr>
          <a:xfrm xmlns:a="http://schemas.openxmlformats.org/drawingml/2006/main">
            <a:off x="666750" y="1104900"/>
            <a:ext cx="8556625" cy="21526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defRPr sz="1275" b="0">
                <a:solidFill>
                  <a:srgbClr val="5B5550"/>
                </a:solidFill>
              </a:defRPr>
            </a:pPr>
            <a:r>
              <a:rPr sz="1400" b="0">
                <a:solidFill>
                  <a:srgbClr val="5B5550"/>
                </a:solidFill>
                <a:latin typeface="+mn-lt"/>
                <a:ea typeface="+mn-lt"/>
                <a:cs typeface="+mn-lt"/>
              </a:rPr>
              <a:t>10 methods spanning GNN, Transformer, MLP, CNN, and linear designs · mean over 8 datasets × 4 horizons</a:t>
            </a:r>
            <a:endParaRPr sz="1400" b="0">
              <a:solidFill>
                <a:srgbClr val="5B5550"/>
              </a:solidFill>
              <a:latin typeface="+mn-lt"/>
              <a:ea typeface="+mn-lt"/>
              <a:cs typeface="+mn-lt"/>
            </a:endParaRPr>
          </a:p>
        </p:txBody>
      </p:sp>
      <p:graphicFrame>
        <p:nvGraphicFramePr>
          <p:cNvPr id="39" name="benchmark-table"/>
          <p:cNvGraphicFramePr/>
          <p:nvPr/>
        </p:nvGraphicFramePr>
        <p:xfrm>
          <a:off xmlns:a="http://schemas.openxmlformats.org/drawingml/2006/main" x="666750" y="1581150"/>
          <a:ext xmlns:a="http://schemas.openxmlformats.org/drawingml/2006/main" cx="10858500" cy="3743330"/>
        </p:xfrm>
        <a:graphic xmlns:a="http://schemas.openxmlformats.org/drawingml/2006/main">
          <a:graphicData uri="http://schemas.openxmlformats.org/drawingml/2006/table">
            <a:tbl>
              <a:tblPr firstRow="1">
                <a:tableStyleId>{5C22544A-7EE6-4342-B048-85BDC9FD1C3A}</a:tableStyleId>
              </a:tblPr>
              <a:tblGrid>
                <a:gridCol w="2381250"/>
                <a:gridCol w="3619500"/>
                <a:gridCol w="2428875"/>
                <a:gridCol w="2428875"/>
              </a:tblGrid>
              <a:tr h="342900">
                <a:tc>
                  <a:txBody>
                    <a:bodyPr/>
                    <a:lstStyle/>
                    <a:p>
                      <a:pPr algn="l">
                        <a:buNone/>
                      </a:pPr>
                      <a:r>
                        <a:rPr sz="1200" b="1">
                          <a:solidFill>
                            <a:srgbClr val="FFFFFF"/>
                          </a:solidFill>
                          <a:latin typeface="Arial"/>
                          <a:ea typeface="Arial"/>
                          <a:cs typeface="Arial"/>
                        </a:rPr>
                        <a:t>Method</a:t>
                      </a:r>
                      <a:endParaRPr sz="1200" b="1">
                        <a:solidFill>
                          <a:srgbClr val="FFFFFF"/>
                        </a:solidFill>
                        <a:latin typeface="Arial"/>
                        <a:ea typeface="Arial"/>
                        <a:cs typeface="Arial"/>
                      </a:endParaRPr>
                    </a:p>
                  </a:txBody>
                  <a:tcPr marL="95250" marR="95250" marT="38100" marB="38100" anchor="ctr">
                    <a:lnL w="9525">
                      <a:solidFill>
                        <a:schemeClr val="accent5"/>
                      </a:solidFill>
                      <a:prstDash val="solid"/>
                    </a:lnL>
                    <a:lnR w="9525">
                      <a:solidFill>
                        <a:schemeClr val="accent5"/>
                      </a:solidFill>
                      <a:prstDash val="solid"/>
                    </a:lnR>
                    <a:lnT w="9525">
                      <a:solidFill>
                        <a:schemeClr val="accent5"/>
                      </a:solidFill>
                      <a:prstDash val="solid"/>
                    </a:lnT>
                    <a:lnB w="9525">
                      <a:solidFill>
                        <a:schemeClr val="accent5"/>
                      </a:solidFill>
                      <a:prstDash val="solid"/>
                    </a:lnB>
                    <a:solidFill>
                      <a:srgbClr val="C43B00"/>
                    </a:solidFill>
                  </a:tcPr>
                </a:tc>
                <a:tc>
                  <a:txBody>
                    <a:bodyPr/>
                    <a:lstStyle/>
                    <a:p>
                      <a:pPr algn="l">
                        <a:buNone/>
                      </a:pPr>
                      <a:r>
                        <a:rPr sz="1200" b="1">
                          <a:solidFill>
                            <a:srgbClr val="FFFFFF"/>
                          </a:solidFill>
                          <a:latin typeface="Arial"/>
                          <a:ea typeface="Arial"/>
                          <a:cs typeface="Arial"/>
                        </a:rPr>
                        <a:t>Architecture family · venue</a:t>
                      </a:r>
                      <a:endParaRPr sz="1200" b="1">
                        <a:solidFill>
                          <a:srgbClr val="FFFFFF"/>
                        </a:solidFill>
                        <a:latin typeface="Arial"/>
                        <a:ea typeface="Arial"/>
                        <a:cs typeface="Arial"/>
                      </a:endParaRPr>
                    </a:p>
                  </a:txBody>
                  <a:tcPr marL="95250" marR="95250" marT="38100" marB="38100" anchor="ctr">
                    <a:lnL w="9525">
                      <a:solidFill>
                        <a:schemeClr val="accent5"/>
                      </a:solidFill>
                      <a:prstDash val="solid"/>
                    </a:lnL>
                    <a:lnR w="9525">
                      <a:solidFill>
                        <a:schemeClr val="accent5"/>
                      </a:solidFill>
                      <a:prstDash val="solid"/>
                    </a:lnR>
                    <a:lnT w="9525">
                      <a:solidFill>
                        <a:schemeClr val="accent5"/>
                      </a:solidFill>
                      <a:prstDash val="solid"/>
                    </a:lnT>
                    <a:lnB w="9525">
                      <a:solidFill>
                        <a:schemeClr val="accent5"/>
                      </a:solidFill>
                      <a:prstDash val="solid"/>
                    </a:lnB>
                    <a:solidFill>
                      <a:srgbClr val="C43B00"/>
                    </a:solidFill>
                  </a:tcPr>
                </a:tc>
                <a:tc>
                  <a:txBody>
                    <a:bodyPr/>
                    <a:lstStyle/>
                    <a:p>
                      <a:pPr algn="ctr">
                        <a:buNone/>
                      </a:pPr>
                      <a:r>
                        <a:rPr sz="1200" b="1">
                          <a:solidFill>
                            <a:srgbClr val="FFFFFF"/>
                          </a:solidFill>
                          <a:latin typeface="Arial"/>
                          <a:ea typeface="Arial"/>
                          <a:cs typeface="Arial"/>
                        </a:rPr>
                        <a:t>Mean MSE</a:t>
                      </a:r>
                      <a:endParaRPr sz="1200" b="1">
                        <a:solidFill>
                          <a:srgbClr val="FFFFFF"/>
                        </a:solidFill>
                        <a:latin typeface="Arial"/>
                        <a:ea typeface="Arial"/>
                        <a:cs typeface="Arial"/>
                      </a:endParaRPr>
                    </a:p>
                  </a:txBody>
                  <a:tcPr marL="95250" marR="95250" marT="38100" marB="38100" anchor="ctr">
                    <a:lnL w="9525">
                      <a:solidFill>
                        <a:schemeClr val="accent5"/>
                      </a:solidFill>
                      <a:prstDash val="solid"/>
                    </a:lnL>
                    <a:lnR w="9525">
                      <a:solidFill>
                        <a:schemeClr val="accent5"/>
                      </a:solidFill>
                      <a:prstDash val="solid"/>
                    </a:lnR>
                    <a:lnT w="9525">
                      <a:solidFill>
                        <a:schemeClr val="accent5"/>
                      </a:solidFill>
                      <a:prstDash val="solid"/>
                    </a:lnT>
                    <a:lnB w="9525">
                      <a:solidFill>
                        <a:schemeClr val="accent5"/>
                      </a:solidFill>
                      <a:prstDash val="solid"/>
                    </a:lnB>
                    <a:solidFill>
                      <a:srgbClr val="C43B00"/>
                    </a:solidFill>
                  </a:tcPr>
                </a:tc>
                <a:tc>
                  <a:txBody>
                    <a:bodyPr/>
                    <a:lstStyle/>
                    <a:p>
                      <a:pPr algn="ctr">
                        <a:buNone/>
                      </a:pPr>
                      <a:r>
                        <a:rPr sz="1200" b="1">
                          <a:solidFill>
                            <a:srgbClr val="FFFFFF"/>
                          </a:solidFill>
                        </a:rPr>
                        <a:t>Mean MAE</a:t>
                      </a:r>
                      <a:endParaRPr sz="1200" b="1">
                        <a:solidFill>
                          <a:srgbClr val="FFFFFF"/>
                        </a:solidFill>
                      </a:endParaRPr>
                    </a:p>
                  </a:txBody>
                  <a:tcPr marL="95250" marR="95250" marT="38100" marB="38100" anchor="ctr">
                    <a:solidFill>
                      <a:srgbClr val="C43B00"/>
                    </a:solidFill>
                  </a:tcPr>
                </a:tc>
              </a:tr>
              <a:tr h="340043">
                <a:tc>
                  <a:txBody>
                    <a:bodyPr/>
                    <a:lstStyle/>
                    <a:p>
                      <a:pPr algn="l">
                        <a:buNone/>
                      </a:pPr>
                      <a:r>
                        <a:rPr sz="1200" b="1">
                          <a:solidFill>
                            <a:srgbClr val="8B2D06"/>
                          </a:solidFill>
                          <a:latin typeface="Arial"/>
                          <a:ea typeface="Arial"/>
                          <a:cs typeface="Arial"/>
                        </a:rPr>
                        <a:t>ConDyGNet</a:t>
                      </a:r>
                      <a:endParaRPr sz="1200" b="1">
                        <a:solidFill>
                          <a:srgbClr val="8B2D06"/>
                        </a:solidFill>
                        <a:latin typeface="Arial"/>
                        <a:ea typeface="Arial"/>
                        <a:cs typeface="Arial"/>
                      </a:endParaRPr>
                    </a:p>
                  </a:txBody>
                  <a:tcPr marL="95250" marR="95250" marT="38100" marB="38100" anchor="ctr">
                    <a:lnL w="9525">
                      <a:solidFill>
                        <a:schemeClr val="accent5"/>
                      </a:solidFill>
                      <a:prstDash val="solid"/>
                    </a:lnL>
                    <a:lnR w="9525">
                      <a:solidFill>
                        <a:schemeClr val="accent5"/>
                      </a:solidFill>
                      <a:prstDash val="solid"/>
                    </a:lnR>
                    <a:lnT w="9525">
                      <a:solidFill>
                        <a:schemeClr val="accent5"/>
                      </a:solidFill>
                      <a:prstDash val="solid"/>
                    </a:lnT>
                    <a:lnB w="9525">
                      <a:solidFill>
                        <a:schemeClr val="accent5"/>
                      </a:solidFill>
                      <a:prstDash val="solid"/>
                    </a:lnB>
                    <a:solidFill>
                      <a:srgbClr val="F4D7C8"/>
                    </a:solidFill>
                  </a:tcPr>
                </a:tc>
                <a:tc>
                  <a:txBody>
                    <a:bodyPr/>
                    <a:lstStyle/>
                    <a:p>
                      <a:pPr algn="l">
                        <a:buNone/>
                      </a:pPr>
                      <a:r>
                        <a:rPr sz="1200" b="1">
                          <a:solidFill>
                            <a:srgbClr val="8B2D06"/>
                          </a:solidFill>
                          <a:latin typeface="Arial"/>
                          <a:ea typeface="Arial"/>
                          <a:cs typeface="Arial"/>
                        </a:rPr>
                        <a:t>GNN + Transformer · IJCAI-ECAI 2026</a:t>
                      </a:r>
                      <a:endParaRPr sz="1200" b="1">
                        <a:solidFill>
                          <a:srgbClr val="8B2D06"/>
                        </a:solidFill>
                        <a:latin typeface="Arial"/>
                        <a:ea typeface="Arial"/>
                        <a:cs typeface="Arial"/>
                      </a:endParaRPr>
                    </a:p>
                  </a:txBody>
                  <a:tcPr marL="95250" marR="95250" marT="38100" marB="38100" anchor="ctr">
                    <a:lnL w="9525">
                      <a:solidFill>
                        <a:schemeClr val="accent5"/>
                      </a:solidFill>
                      <a:prstDash val="solid"/>
                    </a:lnL>
                    <a:lnR w="9525">
                      <a:solidFill>
                        <a:schemeClr val="accent5"/>
                      </a:solidFill>
                      <a:prstDash val="solid"/>
                    </a:lnR>
                    <a:lnT w="9525">
                      <a:solidFill>
                        <a:schemeClr val="accent5"/>
                      </a:solidFill>
                      <a:prstDash val="solid"/>
                    </a:lnT>
                    <a:lnB w="9525">
                      <a:solidFill>
                        <a:schemeClr val="accent5"/>
                      </a:solidFill>
                      <a:prstDash val="solid"/>
                    </a:lnB>
                    <a:solidFill>
                      <a:srgbClr val="F4D7C8"/>
                    </a:solidFill>
                  </a:tcPr>
                </a:tc>
                <a:tc>
                  <a:txBody>
                    <a:bodyPr/>
                    <a:lstStyle/>
                    <a:p>
                      <a:pPr algn="ctr">
                        <a:buNone/>
                      </a:pPr>
                      <a:r>
                        <a:rPr sz="1200" b="1">
                          <a:solidFill>
                            <a:srgbClr val="8B2D06"/>
                          </a:solidFill>
                          <a:latin typeface="Arial"/>
                          <a:ea typeface="Arial"/>
                          <a:cs typeface="Arial"/>
                        </a:rPr>
                        <a:t>0.3057</a:t>
                      </a:r>
                      <a:endParaRPr sz="1200" b="1">
                        <a:solidFill>
                          <a:srgbClr val="8B2D06"/>
                        </a:solidFill>
                        <a:latin typeface="Arial"/>
                        <a:ea typeface="Arial"/>
                        <a:cs typeface="Arial"/>
                      </a:endParaRPr>
                    </a:p>
                  </a:txBody>
                  <a:tcPr marL="95250" marR="95250" marT="38100" marB="38100" anchor="ctr">
                    <a:lnL w="9525">
                      <a:solidFill>
                        <a:schemeClr val="accent5"/>
                      </a:solidFill>
                      <a:prstDash val="solid"/>
                    </a:lnL>
                    <a:lnR w="9525">
                      <a:solidFill>
                        <a:schemeClr val="accent5"/>
                      </a:solidFill>
                      <a:prstDash val="solid"/>
                    </a:lnR>
                    <a:lnT w="9525">
                      <a:solidFill>
                        <a:schemeClr val="accent5"/>
                      </a:solidFill>
                      <a:prstDash val="solid"/>
                    </a:lnT>
                    <a:lnB w="9525">
                      <a:solidFill>
                        <a:schemeClr val="accent5"/>
                      </a:solidFill>
                      <a:prstDash val="solid"/>
                    </a:lnB>
                    <a:solidFill>
                      <a:srgbClr val="F4D7C8"/>
                    </a:solidFill>
                  </a:tcPr>
                </a:tc>
                <a:tc>
                  <a:txBody>
                    <a:bodyPr/>
                    <a:lstStyle/>
                    <a:p>
                      <a:pPr algn="ctr">
                        <a:buNone/>
                      </a:pPr>
                      <a:r>
                        <a:rPr sz="1200" b="1">
                          <a:solidFill>
                            <a:srgbClr val="8B2D06"/>
                          </a:solidFill>
                        </a:rPr>
                        <a:t>0.3133</a:t>
                      </a:r>
                      <a:endParaRPr sz="1200" b="1">
                        <a:solidFill>
                          <a:srgbClr val="8B2D06"/>
                        </a:solidFill>
                      </a:endParaRPr>
                    </a:p>
                  </a:txBody>
                  <a:tcPr marL="95250" marR="95250" marT="38100" marB="38100" anchor="ctr">
                    <a:solidFill>
                      <a:srgbClr val="F4D7C8"/>
                    </a:solidFill>
                  </a:tcPr>
                </a:tc>
              </a:tr>
              <a:tr h="340043">
                <a:tc>
                  <a:txBody>
                    <a:bodyPr/>
                    <a:lstStyle/>
                    <a:p>
                      <a:pPr algn="l">
                        <a:buNone/>
                      </a:pPr>
                      <a:r>
                        <a:rPr sz="1200" b="0">
                          <a:solidFill>
                            <a:srgbClr val="2C2927"/>
                          </a:solidFill>
                          <a:latin typeface="Arial"/>
                          <a:ea typeface="Arial"/>
                          <a:cs typeface="Arial"/>
                        </a:rPr>
                        <a:t>TimeFilter</a:t>
                      </a:r>
                      <a:endParaRPr sz="1200" b="0">
                        <a:solidFill>
                          <a:srgbClr val="2C2927"/>
                        </a:solidFill>
                        <a:latin typeface="Arial"/>
                        <a:ea typeface="Arial"/>
                        <a:cs typeface="Arial"/>
                      </a:endParaRPr>
                    </a:p>
                  </a:txBody>
                  <a:tcPr marL="95250" marR="95250" marT="38100" marB="38100" anchor="ctr">
                    <a:lnL w="9525">
                      <a:solidFill>
                        <a:schemeClr val="accent5"/>
                      </a:solidFill>
                      <a:prstDash val="solid"/>
                    </a:lnL>
                    <a:lnR w="9525">
                      <a:solidFill>
                        <a:schemeClr val="accent5"/>
                      </a:solidFill>
                      <a:prstDash val="solid"/>
                    </a:lnR>
                    <a:lnT w="9525">
                      <a:solidFill>
                        <a:schemeClr val="accent5"/>
                      </a:solidFill>
                      <a:prstDash val="solid"/>
                    </a:lnT>
                    <a:lnB w="9525">
                      <a:solidFill>
                        <a:schemeClr val="accent5"/>
                      </a:solidFill>
                      <a:prstDash val="solid"/>
                    </a:lnB>
                    <a:solidFill>
                      <a:srgbClr val="FBF7F3"/>
                    </a:solidFill>
                  </a:tcPr>
                </a:tc>
                <a:tc>
                  <a:txBody>
                    <a:bodyPr/>
                    <a:lstStyle/>
                    <a:p>
                      <a:pPr algn="l">
                        <a:buNone/>
                      </a:pPr>
                      <a:r>
                        <a:rPr sz="1200" b="0">
                          <a:solidFill>
                            <a:srgbClr val="2C2927"/>
                          </a:solidFill>
                          <a:latin typeface="Arial"/>
                          <a:ea typeface="Arial"/>
                          <a:cs typeface="Arial"/>
                        </a:rPr>
                        <a:t>GNN · ICML 2025</a:t>
                      </a:r>
                      <a:endParaRPr sz="1200" b="0">
                        <a:solidFill>
                          <a:srgbClr val="2C2927"/>
                        </a:solidFill>
                        <a:latin typeface="Arial"/>
                        <a:ea typeface="Arial"/>
                        <a:cs typeface="Arial"/>
                      </a:endParaRPr>
                    </a:p>
                  </a:txBody>
                  <a:tcPr marL="95250" marR="95250" marT="38100" marB="38100" anchor="ctr">
                    <a:lnL w="9525">
                      <a:solidFill>
                        <a:schemeClr val="accent5"/>
                      </a:solidFill>
                      <a:prstDash val="solid"/>
                    </a:lnL>
                    <a:lnR w="9525">
                      <a:solidFill>
                        <a:schemeClr val="accent5"/>
                      </a:solidFill>
                      <a:prstDash val="solid"/>
                    </a:lnR>
                    <a:lnT w="9525">
                      <a:solidFill>
                        <a:schemeClr val="accent5"/>
                      </a:solidFill>
                      <a:prstDash val="solid"/>
                    </a:lnT>
                    <a:lnB w="9525">
                      <a:solidFill>
                        <a:schemeClr val="accent5"/>
                      </a:solidFill>
                      <a:prstDash val="solid"/>
                    </a:lnB>
                    <a:solidFill>
                      <a:srgbClr val="FBF7F3"/>
                    </a:solidFill>
                  </a:tcPr>
                </a:tc>
                <a:tc>
                  <a:txBody>
                    <a:bodyPr/>
                    <a:lstStyle/>
                    <a:p>
                      <a:pPr algn="ctr">
                        <a:buNone/>
                      </a:pPr>
                      <a:r>
                        <a:rPr sz="1200" b="0">
                          <a:solidFill>
                            <a:srgbClr val="2C2927"/>
                          </a:solidFill>
                          <a:latin typeface="Arial"/>
                          <a:ea typeface="Arial"/>
                          <a:cs typeface="Arial"/>
                        </a:rPr>
                        <a:t>0.3076</a:t>
                      </a:r>
                      <a:endParaRPr sz="1200" b="0">
                        <a:solidFill>
                          <a:srgbClr val="2C2927"/>
                        </a:solidFill>
                        <a:latin typeface="Arial"/>
                        <a:ea typeface="Arial"/>
                        <a:cs typeface="Arial"/>
                      </a:endParaRPr>
                    </a:p>
                  </a:txBody>
                  <a:tcPr marL="95250" marR="95250" marT="38100" marB="38100" anchor="ctr">
                    <a:lnL w="9525">
                      <a:solidFill>
                        <a:schemeClr val="accent5"/>
                      </a:solidFill>
                      <a:prstDash val="solid"/>
                    </a:lnL>
                    <a:lnR w="9525">
                      <a:solidFill>
                        <a:schemeClr val="accent5"/>
                      </a:solidFill>
                      <a:prstDash val="solid"/>
                    </a:lnR>
                    <a:lnT w="9525">
                      <a:solidFill>
                        <a:schemeClr val="accent5"/>
                      </a:solidFill>
                      <a:prstDash val="solid"/>
                    </a:lnT>
                    <a:lnB w="9525">
                      <a:solidFill>
                        <a:schemeClr val="accent5"/>
                      </a:solidFill>
                      <a:prstDash val="solid"/>
                    </a:lnB>
                    <a:solidFill>
                      <a:srgbClr val="FBF7F3"/>
                    </a:solidFill>
                  </a:tcPr>
                </a:tc>
                <a:tc>
                  <a:txBody>
                    <a:bodyPr/>
                    <a:lstStyle/>
                    <a:p>
                      <a:pPr algn="ctr">
                        <a:buNone/>
                      </a:pPr>
                      <a:r>
                        <a:rPr sz="1200" b="0">
                          <a:solidFill>
                            <a:srgbClr val="2C2927"/>
                          </a:solidFill>
                        </a:rPr>
                        <a:t>0.3227</a:t>
                      </a:r>
                      <a:endParaRPr sz="1200" b="0">
                        <a:solidFill>
                          <a:srgbClr val="2C2927"/>
                        </a:solidFill>
                      </a:endParaRPr>
                    </a:p>
                  </a:txBody>
                  <a:tcPr marL="95250" marR="95250" marT="38100" marB="38100" anchor="ctr">
                    <a:solidFill>
                      <a:srgbClr val="FBF7F3"/>
                    </a:solidFill>
                  </a:tcPr>
                </a:tc>
              </a:tr>
              <a:tr h="340043">
                <a:tc>
                  <a:txBody>
                    <a:bodyPr/>
                    <a:lstStyle/>
                    <a:p>
                      <a:pPr algn="l">
                        <a:buNone/>
                      </a:pPr>
                      <a:r>
                        <a:rPr sz="1200" b="0">
                          <a:solidFill>
                            <a:srgbClr val="2C2927"/>
                          </a:solidFill>
                          <a:latin typeface="Arial"/>
                          <a:ea typeface="Arial"/>
                          <a:cs typeface="Arial"/>
                        </a:rPr>
                        <a:t>SOFTS</a:t>
                      </a:r>
                      <a:endParaRPr sz="1200" b="0">
                        <a:solidFill>
                          <a:srgbClr val="2C2927"/>
                        </a:solidFill>
                        <a:latin typeface="Arial"/>
                        <a:ea typeface="Arial"/>
                        <a:cs typeface="Arial"/>
                      </a:endParaRPr>
                    </a:p>
                  </a:txBody>
                  <a:tcPr marL="95250" marR="95250" marT="38100" marB="38100" anchor="ctr">
                    <a:lnL w="9525">
                      <a:solidFill>
                        <a:schemeClr val="accent5"/>
                      </a:solidFill>
                      <a:prstDash val="solid"/>
                    </a:lnL>
                    <a:lnR w="9525">
                      <a:solidFill>
                        <a:schemeClr val="accent5"/>
                      </a:solidFill>
                      <a:prstDash val="solid"/>
                    </a:lnR>
                    <a:lnT w="9525">
                      <a:solidFill>
                        <a:schemeClr val="accent5"/>
                      </a:solidFill>
                      <a:prstDash val="solid"/>
                    </a:lnT>
                    <a:lnB w="9525">
                      <a:solidFill>
                        <a:schemeClr val="accent5"/>
                      </a:solidFill>
                      <a:prstDash val="solid"/>
                    </a:lnB>
                    <a:solidFill>
                      <a:srgbClr val="FFFFFF"/>
                    </a:solidFill>
                  </a:tcPr>
                </a:tc>
                <a:tc>
                  <a:txBody>
                    <a:bodyPr/>
                    <a:lstStyle/>
                    <a:p>
                      <a:pPr algn="l">
                        <a:buNone/>
                      </a:pPr>
                      <a:r>
                        <a:rPr sz="1200" b="0">
                          <a:solidFill>
                            <a:srgbClr val="2C2927"/>
                          </a:solidFill>
                          <a:latin typeface="Arial"/>
                          <a:ea typeface="Arial"/>
                          <a:cs typeface="Arial"/>
                        </a:rPr>
                        <a:t>MLP · NeurIPS 2024</a:t>
                      </a:r>
                      <a:endParaRPr sz="1200" b="0">
                        <a:solidFill>
                          <a:srgbClr val="2C2927"/>
                        </a:solidFill>
                        <a:latin typeface="Arial"/>
                        <a:ea typeface="Arial"/>
                        <a:cs typeface="Arial"/>
                      </a:endParaRPr>
                    </a:p>
                  </a:txBody>
                  <a:tcPr marL="95250" marR="95250" marT="38100" marB="38100" anchor="ctr">
                    <a:lnL w="9525">
                      <a:solidFill>
                        <a:schemeClr val="accent5"/>
                      </a:solidFill>
                      <a:prstDash val="solid"/>
                    </a:lnL>
                    <a:lnR w="9525">
                      <a:solidFill>
                        <a:schemeClr val="accent5"/>
                      </a:solidFill>
                      <a:prstDash val="solid"/>
                    </a:lnR>
                    <a:lnT w="9525">
                      <a:solidFill>
                        <a:schemeClr val="accent5"/>
                      </a:solidFill>
                      <a:prstDash val="solid"/>
                    </a:lnT>
                    <a:lnB w="9525">
                      <a:solidFill>
                        <a:schemeClr val="accent5"/>
                      </a:solidFill>
                      <a:prstDash val="solid"/>
                    </a:lnB>
                    <a:solidFill>
                      <a:srgbClr val="FFFFFF"/>
                    </a:solidFill>
                  </a:tcPr>
                </a:tc>
                <a:tc>
                  <a:txBody>
                    <a:bodyPr/>
                    <a:lstStyle/>
                    <a:p>
                      <a:pPr algn="ctr">
                        <a:buNone/>
                      </a:pPr>
                      <a:r>
                        <a:rPr sz="1200" b="0">
                          <a:solidFill>
                            <a:srgbClr val="2C2927"/>
                          </a:solidFill>
                          <a:latin typeface="Arial"/>
                          <a:ea typeface="Arial"/>
                          <a:cs typeface="Arial"/>
                        </a:rPr>
                        <a:t>0.3212</a:t>
                      </a:r>
                      <a:endParaRPr sz="1200" b="0">
                        <a:solidFill>
                          <a:srgbClr val="2C2927"/>
                        </a:solidFill>
                        <a:latin typeface="Arial"/>
                        <a:ea typeface="Arial"/>
                        <a:cs typeface="Arial"/>
                      </a:endParaRPr>
                    </a:p>
                  </a:txBody>
                  <a:tcPr marL="95250" marR="95250" marT="38100" marB="38100" anchor="ctr">
                    <a:lnL w="9525">
                      <a:solidFill>
                        <a:schemeClr val="accent5"/>
                      </a:solidFill>
                      <a:prstDash val="solid"/>
                    </a:lnL>
                    <a:lnR w="9525">
                      <a:solidFill>
                        <a:schemeClr val="accent5"/>
                      </a:solidFill>
                      <a:prstDash val="solid"/>
                    </a:lnR>
                    <a:lnT w="9525">
                      <a:solidFill>
                        <a:schemeClr val="accent5"/>
                      </a:solidFill>
                      <a:prstDash val="solid"/>
                    </a:lnT>
                    <a:lnB w="9525">
                      <a:solidFill>
                        <a:schemeClr val="accent5"/>
                      </a:solidFill>
                      <a:prstDash val="solid"/>
                    </a:lnB>
                    <a:solidFill>
                      <a:srgbClr val="FFFFFF"/>
                    </a:solidFill>
                  </a:tcPr>
                </a:tc>
                <a:tc>
                  <a:txBody>
                    <a:bodyPr/>
                    <a:lstStyle/>
                    <a:p>
                      <a:pPr algn="ctr">
                        <a:buNone/>
                      </a:pPr>
                      <a:r>
                        <a:rPr sz="1200" b="0">
                          <a:solidFill>
                            <a:srgbClr val="2C2927"/>
                          </a:solidFill>
                        </a:rPr>
                        <a:t>0.3299</a:t>
                      </a:r>
                      <a:endParaRPr sz="1200" b="0">
                        <a:solidFill>
                          <a:srgbClr val="2C2927"/>
                        </a:solidFill>
                      </a:endParaRPr>
                    </a:p>
                  </a:txBody>
                  <a:tcPr marL="95250" marR="95250" marT="38100" marB="38100" anchor="ctr">
                    <a:solidFill>
                      <a:srgbClr val="FFFFFF"/>
                    </a:solidFill>
                  </a:tcPr>
                </a:tc>
              </a:tr>
              <a:tr h="340043">
                <a:tc>
                  <a:txBody>
                    <a:bodyPr/>
                    <a:lstStyle/>
                    <a:p>
                      <a:pPr algn="l">
                        <a:buNone/>
                      </a:pPr>
                      <a:r>
                        <a:rPr sz="1200" b="0">
                          <a:solidFill>
                            <a:srgbClr val="2C2927"/>
                          </a:solidFill>
                          <a:latin typeface="Arial"/>
                          <a:ea typeface="Arial"/>
                          <a:cs typeface="Arial"/>
                        </a:rPr>
                        <a:t>TimeXer</a:t>
                      </a:r>
                      <a:endParaRPr sz="1200" b="0">
                        <a:solidFill>
                          <a:srgbClr val="2C2927"/>
                        </a:solidFill>
                        <a:latin typeface="Arial"/>
                        <a:ea typeface="Arial"/>
                        <a:cs typeface="Arial"/>
                      </a:endParaRPr>
                    </a:p>
                  </a:txBody>
                  <a:tcPr marL="95250" marR="95250" marT="38100" marB="38100" anchor="ctr">
                    <a:lnL w="9525">
                      <a:solidFill>
                        <a:schemeClr val="accent5"/>
                      </a:solidFill>
                      <a:prstDash val="solid"/>
                    </a:lnL>
                    <a:lnR w="9525">
                      <a:solidFill>
                        <a:schemeClr val="accent5"/>
                      </a:solidFill>
                      <a:prstDash val="solid"/>
                    </a:lnR>
                    <a:lnT w="9525">
                      <a:solidFill>
                        <a:schemeClr val="accent5"/>
                      </a:solidFill>
                      <a:prstDash val="solid"/>
                    </a:lnT>
                    <a:lnB w="9525">
                      <a:solidFill>
                        <a:schemeClr val="accent5"/>
                      </a:solidFill>
                      <a:prstDash val="solid"/>
                    </a:lnB>
                    <a:solidFill>
                      <a:srgbClr val="FBF7F3"/>
                    </a:solidFill>
                  </a:tcPr>
                </a:tc>
                <a:tc>
                  <a:txBody>
                    <a:bodyPr/>
                    <a:lstStyle/>
                    <a:p>
                      <a:pPr algn="l">
                        <a:buNone/>
                      </a:pPr>
                      <a:r>
                        <a:rPr sz="1200" b="0">
                          <a:solidFill>
                            <a:srgbClr val="2C2927"/>
                          </a:solidFill>
                          <a:latin typeface="Arial"/>
                          <a:ea typeface="Arial"/>
                          <a:cs typeface="Arial"/>
                        </a:rPr>
                        <a:t>Transformer · NeurIPS 2024</a:t>
                      </a:r>
                      <a:endParaRPr sz="1200" b="0">
                        <a:solidFill>
                          <a:srgbClr val="2C2927"/>
                        </a:solidFill>
                        <a:latin typeface="Arial"/>
                        <a:ea typeface="Arial"/>
                        <a:cs typeface="Arial"/>
                      </a:endParaRPr>
                    </a:p>
                  </a:txBody>
                  <a:tcPr marL="95250" marR="95250" marT="38100" marB="38100" anchor="ctr">
                    <a:lnL w="9525">
                      <a:solidFill>
                        <a:schemeClr val="accent5"/>
                      </a:solidFill>
                      <a:prstDash val="solid"/>
                    </a:lnL>
                    <a:lnR w="9525">
                      <a:solidFill>
                        <a:schemeClr val="accent5"/>
                      </a:solidFill>
                      <a:prstDash val="solid"/>
                    </a:lnR>
                    <a:lnT w="9525">
                      <a:solidFill>
                        <a:schemeClr val="accent5"/>
                      </a:solidFill>
                      <a:prstDash val="solid"/>
                    </a:lnT>
                    <a:lnB w="9525">
                      <a:solidFill>
                        <a:schemeClr val="accent5"/>
                      </a:solidFill>
                      <a:prstDash val="solid"/>
                    </a:lnB>
                    <a:solidFill>
                      <a:srgbClr val="FBF7F3"/>
                    </a:solidFill>
                  </a:tcPr>
                </a:tc>
                <a:tc>
                  <a:txBody>
                    <a:bodyPr/>
                    <a:lstStyle/>
                    <a:p>
                      <a:pPr algn="ctr">
                        <a:buNone/>
                      </a:pPr>
                      <a:r>
                        <a:rPr sz="1200" b="0">
                          <a:solidFill>
                            <a:srgbClr val="2C2927"/>
                          </a:solidFill>
                          <a:latin typeface="Arial"/>
                          <a:ea typeface="Arial"/>
                          <a:cs typeface="Arial"/>
                        </a:rPr>
                        <a:t>0.3219</a:t>
                      </a:r>
                      <a:endParaRPr sz="1200" b="0">
                        <a:solidFill>
                          <a:srgbClr val="2C2927"/>
                        </a:solidFill>
                        <a:latin typeface="Arial"/>
                        <a:ea typeface="Arial"/>
                        <a:cs typeface="Arial"/>
                      </a:endParaRPr>
                    </a:p>
                  </a:txBody>
                  <a:tcPr marL="95250" marR="95250" marT="38100" marB="38100" anchor="ctr">
                    <a:lnL w="9525">
                      <a:solidFill>
                        <a:schemeClr val="accent5"/>
                      </a:solidFill>
                      <a:prstDash val="solid"/>
                    </a:lnL>
                    <a:lnR w="9525">
                      <a:solidFill>
                        <a:schemeClr val="accent5"/>
                      </a:solidFill>
                      <a:prstDash val="solid"/>
                    </a:lnR>
                    <a:lnT w="9525">
                      <a:solidFill>
                        <a:schemeClr val="accent5"/>
                      </a:solidFill>
                      <a:prstDash val="solid"/>
                    </a:lnT>
                    <a:lnB w="9525">
                      <a:solidFill>
                        <a:schemeClr val="accent5"/>
                      </a:solidFill>
                      <a:prstDash val="solid"/>
                    </a:lnB>
                    <a:solidFill>
                      <a:srgbClr val="FBF7F3"/>
                    </a:solidFill>
                  </a:tcPr>
                </a:tc>
                <a:tc>
                  <a:txBody>
                    <a:bodyPr/>
                    <a:lstStyle/>
                    <a:p>
                      <a:pPr algn="ctr">
                        <a:buNone/>
                      </a:pPr>
                      <a:r>
                        <a:rPr sz="1200" b="0">
                          <a:solidFill>
                            <a:srgbClr val="2C2927"/>
                          </a:solidFill>
                        </a:rPr>
                        <a:t>0.3351</a:t>
                      </a:r>
                      <a:endParaRPr sz="1200" b="0">
                        <a:solidFill>
                          <a:srgbClr val="2C2927"/>
                        </a:solidFill>
                      </a:endParaRPr>
                    </a:p>
                  </a:txBody>
                  <a:tcPr marL="95250" marR="95250" marT="38100" marB="38100" anchor="ctr">
                    <a:solidFill>
                      <a:srgbClr val="FBF7F3"/>
                    </a:solidFill>
                  </a:tcPr>
                </a:tc>
              </a:tr>
              <a:tr h="340043">
                <a:tc>
                  <a:txBody>
                    <a:bodyPr/>
                    <a:lstStyle/>
                    <a:p>
                      <a:pPr algn="l">
                        <a:buNone/>
                      </a:pPr>
                      <a:r>
                        <a:rPr sz="1200" b="0">
                          <a:solidFill>
                            <a:srgbClr val="2C2927"/>
                          </a:solidFill>
                          <a:latin typeface="Arial"/>
                          <a:ea typeface="Arial"/>
                          <a:cs typeface="Arial"/>
                        </a:rPr>
                        <a:t>DUET</a:t>
                      </a:r>
                      <a:endParaRPr sz="1200" b="0">
                        <a:solidFill>
                          <a:srgbClr val="2C2927"/>
                        </a:solidFill>
                        <a:latin typeface="Arial"/>
                        <a:ea typeface="Arial"/>
                        <a:cs typeface="Arial"/>
                      </a:endParaRPr>
                    </a:p>
                  </a:txBody>
                  <a:tcPr marL="95250" marR="95250" marT="38100" marB="38100" anchor="ctr">
                    <a:lnL w="9525">
                      <a:solidFill>
                        <a:schemeClr val="accent5"/>
                      </a:solidFill>
                      <a:prstDash val="solid"/>
                    </a:lnL>
                    <a:lnR w="9525">
                      <a:solidFill>
                        <a:schemeClr val="accent5"/>
                      </a:solidFill>
                      <a:prstDash val="solid"/>
                    </a:lnR>
                    <a:lnT w="9525">
                      <a:solidFill>
                        <a:schemeClr val="accent5"/>
                      </a:solidFill>
                      <a:prstDash val="solid"/>
                    </a:lnT>
                    <a:lnB w="9525">
                      <a:solidFill>
                        <a:schemeClr val="accent5"/>
                      </a:solidFill>
                      <a:prstDash val="solid"/>
                    </a:lnB>
                    <a:solidFill>
                      <a:srgbClr val="FFFFFF"/>
                    </a:solidFill>
                  </a:tcPr>
                </a:tc>
                <a:tc>
                  <a:txBody>
                    <a:bodyPr/>
                    <a:lstStyle/>
                    <a:p>
                      <a:pPr algn="l">
                        <a:buNone/>
                      </a:pPr>
                      <a:r>
                        <a:rPr sz="1200" b="0">
                          <a:solidFill>
                            <a:srgbClr val="2C2927"/>
                          </a:solidFill>
                          <a:latin typeface="Arial"/>
                          <a:ea typeface="Arial"/>
                          <a:cs typeface="Arial"/>
                        </a:rPr>
                        <a:t>MLP · KDD 2025</a:t>
                      </a:r>
                      <a:endParaRPr sz="1200" b="0">
                        <a:solidFill>
                          <a:srgbClr val="2C2927"/>
                        </a:solidFill>
                        <a:latin typeface="Arial"/>
                        <a:ea typeface="Arial"/>
                        <a:cs typeface="Arial"/>
                      </a:endParaRPr>
                    </a:p>
                  </a:txBody>
                  <a:tcPr marL="95250" marR="95250" marT="38100" marB="38100" anchor="ctr">
                    <a:lnL w="9525">
                      <a:solidFill>
                        <a:schemeClr val="accent5"/>
                      </a:solidFill>
                      <a:prstDash val="solid"/>
                    </a:lnL>
                    <a:lnR w="9525">
                      <a:solidFill>
                        <a:schemeClr val="accent5"/>
                      </a:solidFill>
                      <a:prstDash val="solid"/>
                    </a:lnR>
                    <a:lnT w="9525">
                      <a:solidFill>
                        <a:schemeClr val="accent5"/>
                      </a:solidFill>
                      <a:prstDash val="solid"/>
                    </a:lnT>
                    <a:lnB w="9525">
                      <a:solidFill>
                        <a:schemeClr val="accent5"/>
                      </a:solidFill>
                      <a:prstDash val="solid"/>
                    </a:lnB>
                    <a:solidFill>
                      <a:srgbClr val="FFFFFF"/>
                    </a:solidFill>
                  </a:tcPr>
                </a:tc>
                <a:tc>
                  <a:txBody>
                    <a:bodyPr/>
                    <a:lstStyle/>
                    <a:p>
                      <a:pPr algn="ctr">
                        <a:buNone/>
                      </a:pPr>
                      <a:r>
                        <a:rPr sz="1200" b="0">
                          <a:solidFill>
                            <a:srgbClr val="2C2927"/>
                          </a:solidFill>
                          <a:latin typeface="Arial"/>
                          <a:ea typeface="Arial"/>
                          <a:cs typeface="Arial"/>
                        </a:rPr>
                        <a:t>0.3244</a:t>
                      </a:r>
                      <a:endParaRPr sz="1200" b="0">
                        <a:solidFill>
                          <a:srgbClr val="2C2927"/>
                        </a:solidFill>
                        <a:latin typeface="Arial"/>
                        <a:ea typeface="Arial"/>
                        <a:cs typeface="Arial"/>
                      </a:endParaRPr>
                    </a:p>
                  </a:txBody>
                  <a:tcPr marL="95250" marR="95250" marT="38100" marB="38100" anchor="ctr">
                    <a:lnL w="9525">
                      <a:solidFill>
                        <a:schemeClr val="accent5"/>
                      </a:solidFill>
                      <a:prstDash val="solid"/>
                    </a:lnL>
                    <a:lnR w="9525">
                      <a:solidFill>
                        <a:schemeClr val="accent5"/>
                      </a:solidFill>
                      <a:prstDash val="solid"/>
                    </a:lnR>
                    <a:lnT w="9525">
                      <a:solidFill>
                        <a:schemeClr val="accent5"/>
                      </a:solidFill>
                      <a:prstDash val="solid"/>
                    </a:lnT>
                    <a:lnB w="9525">
                      <a:solidFill>
                        <a:schemeClr val="accent5"/>
                      </a:solidFill>
                      <a:prstDash val="solid"/>
                    </a:lnB>
                    <a:solidFill>
                      <a:srgbClr val="FFFFFF"/>
                    </a:solidFill>
                  </a:tcPr>
                </a:tc>
                <a:tc>
                  <a:txBody>
                    <a:bodyPr/>
                    <a:lstStyle/>
                    <a:p>
                      <a:pPr algn="ctr">
                        <a:buNone/>
                      </a:pPr>
                      <a:r>
                        <a:rPr sz="1200" b="0">
                          <a:solidFill>
                            <a:srgbClr val="2C2927"/>
                          </a:solidFill>
                        </a:rPr>
                        <a:t>0.3229</a:t>
                      </a:r>
                      <a:endParaRPr sz="1200" b="0">
                        <a:solidFill>
                          <a:srgbClr val="2C2927"/>
                        </a:solidFill>
                      </a:endParaRPr>
                    </a:p>
                  </a:txBody>
                  <a:tcPr marL="95250" marR="95250" marT="38100" marB="38100" anchor="ctr">
                    <a:solidFill>
                      <a:srgbClr val="FFFFFF"/>
                    </a:solidFill>
                  </a:tcPr>
                </a:tc>
              </a:tr>
              <a:tr h="340043">
                <a:tc>
                  <a:txBody>
                    <a:bodyPr/>
                    <a:lstStyle/>
                    <a:p>
                      <a:pPr algn="l">
                        <a:buNone/>
                      </a:pPr>
                      <a:r>
                        <a:rPr sz="1200" b="0">
                          <a:solidFill>
                            <a:srgbClr val="2C2927"/>
                          </a:solidFill>
                          <a:latin typeface="Arial"/>
                          <a:ea typeface="Arial"/>
                          <a:cs typeface="Arial"/>
                        </a:rPr>
                        <a:t>iTransformer</a:t>
                      </a:r>
                      <a:endParaRPr sz="1200" b="0">
                        <a:solidFill>
                          <a:srgbClr val="2C2927"/>
                        </a:solidFill>
                        <a:latin typeface="Arial"/>
                        <a:ea typeface="Arial"/>
                        <a:cs typeface="Arial"/>
                      </a:endParaRPr>
                    </a:p>
                  </a:txBody>
                  <a:tcPr marL="95250" marR="95250" marT="38100" marB="38100" anchor="ctr">
                    <a:lnL w="9525">
                      <a:solidFill>
                        <a:schemeClr val="accent5"/>
                      </a:solidFill>
                      <a:prstDash val="solid"/>
                    </a:lnL>
                    <a:lnR w="9525">
                      <a:solidFill>
                        <a:schemeClr val="accent5"/>
                      </a:solidFill>
                      <a:prstDash val="solid"/>
                    </a:lnR>
                    <a:lnT w="9525">
                      <a:solidFill>
                        <a:schemeClr val="accent5"/>
                      </a:solidFill>
                      <a:prstDash val="solid"/>
                    </a:lnT>
                    <a:lnB w="9525">
                      <a:solidFill>
                        <a:schemeClr val="accent5"/>
                      </a:solidFill>
                      <a:prstDash val="solid"/>
                    </a:lnB>
                    <a:solidFill>
                      <a:srgbClr val="FBF7F3"/>
                    </a:solidFill>
                  </a:tcPr>
                </a:tc>
                <a:tc>
                  <a:txBody>
                    <a:bodyPr/>
                    <a:lstStyle/>
                    <a:p>
                      <a:pPr algn="l">
                        <a:buNone/>
                      </a:pPr>
                      <a:r>
                        <a:rPr sz="1200" b="0">
                          <a:solidFill>
                            <a:srgbClr val="2C2927"/>
                          </a:solidFill>
                          <a:latin typeface="Arial"/>
                          <a:ea typeface="Arial"/>
                          <a:cs typeface="Arial"/>
                        </a:rPr>
                        <a:t>Transformer · ICLR 2024</a:t>
                      </a:r>
                      <a:endParaRPr sz="1200" b="0">
                        <a:solidFill>
                          <a:srgbClr val="2C2927"/>
                        </a:solidFill>
                        <a:latin typeface="Arial"/>
                        <a:ea typeface="Arial"/>
                        <a:cs typeface="Arial"/>
                      </a:endParaRPr>
                    </a:p>
                  </a:txBody>
                  <a:tcPr marL="95250" marR="95250" marT="38100" marB="38100" anchor="ctr">
                    <a:lnL w="9525">
                      <a:solidFill>
                        <a:schemeClr val="accent5"/>
                      </a:solidFill>
                      <a:prstDash val="solid"/>
                    </a:lnL>
                    <a:lnR w="9525">
                      <a:solidFill>
                        <a:schemeClr val="accent5"/>
                      </a:solidFill>
                      <a:prstDash val="solid"/>
                    </a:lnR>
                    <a:lnT w="9525">
                      <a:solidFill>
                        <a:schemeClr val="accent5"/>
                      </a:solidFill>
                      <a:prstDash val="solid"/>
                    </a:lnT>
                    <a:lnB w="9525">
                      <a:solidFill>
                        <a:schemeClr val="accent5"/>
                      </a:solidFill>
                      <a:prstDash val="solid"/>
                    </a:lnB>
                    <a:solidFill>
                      <a:srgbClr val="FBF7F3"/>
                    </a:solidFill>
                  </a:tcPr>
                </a:tc>
                <a:tc>
                  <a:txBody>
                    <a:bodyPr/>
                    <a:lstStyle/>
                    <a:p>
                      <a:pPr algn="ctr">
                        <a:buNone/>
                      </a:pPr>
                      <a:r>
                        <a:rPr sz="1200" b="0">
                          <a:solidFill>
                            <a:srgbClr val="2C2927"/>
                          </a:solidFill>
                          <a:latin typeface="Arial"/>
                          <a:ea typeface="Arial"/>
                          <a:cs typeface="Arial"/>
                        </a:rPr>
                        <a:t>0.3284</a:t>
                      </a:r>
                      <a:endParaRPr sz="1200" b="0">
                        <a:solidFill>
                          <a:srgbClr val="2C2927"/>
                        </a:solidFill>
                        <a:latin typeface="Arial"/>
                        <a:ea typeface="Arial"/>
                        <a:cs typeface="Arial"/>
                      </a:endParaRPr>
                    </a:p>
                  </a:txBody>
                  <a:tcPr marL="95250" marR="95250" marT="38100" marB="38100" anchor="ctr">
                    <a:lnL w="9525">
                      <a:solidFill>
                        <a:schemeClr val="accent5"/>
                      </a:solidFill>
                      <a:prstDash val="solid"/>
                    </a:lnL>
                    <a:lnR w="9525">
                      <a:solidFill>
                        <a:schemeClr val="accent5"/>
                      </a:solidFill>
                      <a:prstDash val="solid"/>
                    </a:lnR>
                    <a:lnT w="9525">
                      <a:solidFill>
                        <a:schemeClr val="accent5"/>
                      </a:solidFill>
                      <a:prstDash val="solid"/>
                    </a:lnT>
                    <a:lnB w="9525">
                      <a:solidFill>
                        <a:schemeClr val="accent5"/>
                      </a:solidFill>
                      <a:prstDash val="solid"/>
                    </a:lnB>
                    <a:solidFill>
                      <a:srgbClr val="FBF7F3"/>
                    </a:solidFill>
                  </a:tcPr>
                </a:tc>
                <a:tc>
                  <a:txBody>
                    <a:bodyPr/>
                    <a:lstStyle/>
                    <a:p>
                      <a:pPr algn="ctr">
                        <a:buNone/>
                      </a:pPr>
                      <a:r>
                        <a:rPr sz="1200" b="0">
                          <a:solidFill>
                            <a:srgbClr val="2C2927"/>
                          </a:solidFill>
                        </a:rPr>
                        <a:t>0.3358</a:t>
                      </a:r>
                      <a:endParaRPr sz="1200" b="0">
                        <a:solidFill>
                          <a:srgbClr val="2C2927"/>
                        </a:solidFill>
                      </a:endParaRPr>
                    </a:p>
                  </a:txBody>
                  <a:tcPr marL="95250" marR="95250" marT="38100" marB="38100" anchor="ctr">
                    <a:solidFill>
                      <a:srgbClr val="FBF7F3"/>
                    </a:solidFill>
                  </a:tcPr>
                </a:tc>
              </a:tr>
              <a:tr h="340043">
                <a:tc>
                  <a:txBody>
                    <a:bodyPr/>
                    <a:lstStyle/>
                    <a:p>
                      <a:pPr algn="l">
                        <a:buNone/>
                      </a:pPr>
                      <a:r>
                        <a:rPr sz="1200" b="0">
                          <a:solidFill>
                            <a:srgbClr val="2C2927"/>
                          </a:solidFill>
                          <a:latin typeface="Arial"/>
                          <a:ea typeface="Arial"/>
                          <a:cs typeface="Arial"/>
                        </a:rPr>
                        <a:t>PatchTST</a:t>
                      </a:r>
                      <a:endParaRPr sz="1200" b="0">
                        <a:solidFill>
                          <a:srgbClr val="2C2927"/>
                        </a:solidFill>
                        <a:latin typeface="Arial"/>
                        <a:ea typeface="Arial"/>
                        <a:cs typeface="Arial"/>
                      </a:endParaRPr>
                    </a:p>
                  </a:txBody>
                  <a:tcPr marL="95250" marR="95250" marT="38100" marB="38100" anchor="ctr">
                    <a:lnL w="9525">
                      <a:solidFill>
                        <a:schemeClr val="accent5"/>
                      </a:solidFill>
                      <a:prstDash val="solid"/>
                    </a:lnL>
                    <a:lnR w="9525">
                      <a:solidFill>
                        <a:schemeClr val="accent5"/>
                      </a:solidFill>
                      <a:prstDash val="solid"/>
                    </a:lnR>
                    <a:lnT w="9525">
                      <a:solidFill>
                        <a:schemeClr val="accent5"/>
                      </a:solidFill>
                      <a:prstDash val="solid"/>
                    </a:lnT>
                    <a:lnB w="9525">
                      <a:solidFill>
                        <a:schemeClr val="accent5"/>
                      </a:solidFill>
                      <a:prstDash val="solid"/>
                    </a:lnB>
                    <a:solidFill>
                      <a:srgbClr val="FFFFFF"/>
                    </a:solidFill>
                  </a:tcPr>
                </a:tc>
                <a:tc>
                  <a:txBody>
                    <a:bodyPr/>
                    <a:lstStyle/>
                    <a:p>
                      <a:pPr algn="l">
                        <a:buNone/>
                      </a:pPr>
                      <a:r>
                        <a:rPr sz="1200" b="0">
                          <a:solidFill>
                            <a:srgbClr val="2C2927"/>
                          </a:solidFill>
                          <a:latin typeface="Arial"/>
                          <a:ea typeface="Arial"/>
                          <a:cs typeface="Arial"/>
                        </a:rPr>
                        <a:t>Transformer · ICLR 2023</a:t>
                      </a:r>
                      <a:endParaRPr sz="1200" b="0">
                        <a:solidFill>
                          <a:srgbClr val="2C2927"/>
                        </a:solidFill>
                        <a:latin typeface="Arial"/>
                        <a:ea typeface="Arial"/>
                        <a:cs typeface="Arial"/>
                      </a:endParaRPr>
                    </a:p>
                  </a:txBody>
                  <a:tcPr marL="95250" marR="95250" marT="38100" marB="38100" anchor="ctr">
                    <a:lnL w="9525">
                      <a:solidFill>
                        <a:schemeClr val="accent5"/>
                      </a:solidFill>
                      <a:prstDash val="solid"/>
                    </a:lnL>
                    <a:lnR w="9525">
                      <a:solidFill>
                        <a:schemeClr val="accent5"/>
                      </a:solidFill>
                      <a:prstDash val="solid"/>
                    </a:lnR>
                    <a:lnT w="9525">
                      <a:solidFill>
                        <a:schemeClr val="accent5"/>
                      </a:solidFill>
                      <a:prstDash val="solid"/>
                    </a:lnT>
                    <a:lnB w="9525">
                      <a:solidFill>
                        <a:schemeClr val="accent5"/>
                      </a:solidFill>
                      <a:prstDash val="solid"/>
                    </a:lnB>
                    <a:solidFill>
                      <a:srgbClr val="FFFFFF"/>
                    </a:solidFill>
                  </a:tcPr>
                </a:tc>
                <a:tc>
                  <a:txBody>
                    <a:bodyPr/>
                    <a:lstStyle/>
                    <a:p>
                      <a:pPr algn="ctr">
                        <a:buNone/>
                      </a:pPr>
                      <a:r>
                        <a:rPr sz="1200" b="0">
                          <a:solidFill>
                            <a:srgbClr val="2C2927"/>
                          </a:solidFill>
                          <a:latin typeface="Arial"/>
                          <a:ea typeface="Arial"/>
                          <a:cs typeface="Arial"/>
                        </a:rPr>
                        <a:t>0.3529</a:t>
                      </a:r>
                      <a:endParaRPr sz="1200" b="0">
                        <a:solidFill>
                          <a:srgbClr val="2C2927"/>
                        </a:solidFill>
                        <a:latin typeface="Arial"/>
                        <a:ea typeface="Arial"/>
                        <a:cs typeface="Arial"/>
                      </a:endParaRPr>
                    </a:p>
                  </a:txBody>
                  <a:tcPr marL="95250" marR="95250" marT="38100" marB="38100" anchor="ctr">
                    <a:lnL w="9525">
                      <a:solidFill>
                        <a:schemeClr val="accent5"/>
                      </a:solidFill>
                      <a:prstDash val="solid"/>
                    </a:lnL>
                    <a:lnR w="9525">
                      <a:solidFill>
                        <a:schemeClr val="accent5"/>
                      </a:solidFill>
                      <a:prstDash val="solid"/>
                    </a:lnR>
                    <a:lnT w="9525">
                      <a:solidFill>
                        <a:schemeClr val="accent5"/>
                      </a:solidFill>
                      <a:prstDash val="solid"/>
                    </a:lnT>
                    <a:lnB w="9525">
                      <a:solidFill>
                        <a:schemeClr val="accent5"/>
                      </a:solidFill>
                      <a:prstDash val="solid"/>
                    </a:lnB>
                    <a:solidFill>
                      <a:srgbClr val="FFFFFF"/>
                    </a:solidFill>
                  </a:tcPr>
                </a:tc>
                <a:tc>
                  <a:txBody>
                    <a:bodyPr/>
                    <a:lstStyle/>
                    <a:p>
                      <a:pPr algn="ctr">
                        <a:buNone/>
                      </a:pPr>
                      <a:r>
                        <a:rPr sz="1200" b="0">
                          <a:solidFill>
                            <a:srgbClr val="2C2927"/>
                          </a:solidFill>
                        </a:rPr>
                        <a:t>0.3549</a:t>
                      </a:r>
                      <a:endParaRPr sz="1200" b="0">
                        <a:solidFill>
                          <a:srgbClr val="2C2927"/>
                        </a:solidFill>
                      </a:endParaRPr>
                    </a:p>
                  </a:txBody>
                  <a:tcPr marL="95250" marR="95250" marT="38100" marB="38100" anchor="ctr">
                    <a:solidFill>
                      <a:srgbClr val="FFFFFF"/>
                    </a:solidFill>
                  </a:tcPr>
                </a:tc>
              </a:tr>
              <a:tr h="340043">
                <a:tc>
                  <a:txBody>
                    <a:bodyPr/>
                    <a:lstStyle/>
                    <a:p>
                      <a:pPr algn="l">
                        <a:buNone/>
                      </a:pPr>
                      <a:r>
                        <a:rPr sz="1200" b="0">
                          <a:solidFill>
                            <a:srgbClr val="2C2927"/>
                          </a:solidFill>
                          <a:latin typeface="Arial"/>
                          <a:ea typeface="Arial"/>
                          <a:cs typeface="Arial"/>
                        </a:rPr>
                        <a:t>MSGNet</a:t>
                      </a:r>
                      <a:endParaRPr sz="1200" b="0">
                        <a:solidFill>
                          <a:srgbClr val="2C2927"/>
                        </a:solidFill>
                        <a:latin typeface="Arial"/>
                        <a:ea typeface="Arial"/>
                        <a:cs typeface="Arial"/>
                      </a:endParaRPr>
                    </a:p>
                  </a:txBody>
                  <a:tcPr marL="95250" marR="95250" marT="38100" marB="38100" anchor="ctr">
                    <a:lnL w="9525">
                      <a:solidFill>
                        <a:schemeClr val="accent5"/>
                      </a:solidFill>
                      <a:prstDash val="solid"/>
                    </a:lnL>
                    <a:lnR w="9525">
                      <a:solidFill>
                        <a:schemeClr val="accent5"/>
                      </a:solidFill>
                      <a:prstDash val="solid"/>
                    </a:lnR>
                    <a:lnT w="9525">
                      <a:solidFill>
                        <a:schemeClr val="accent5"/>
                      </a:solidFill>
                      <a:prstDash val="solid"/>
                    </a:lnT>
                    <a:lnB w="9525">
                      <a:solidFill>
                        <a:schemeClr val="accent5"/>
                      </a:solidFill>
                      <a:prstDash val="solid"/>
                    </a:lnB>
                    <a:solidFill>
                      <a:srgbClr val="FBF7F3"/>
                    </a:solidFill>
                  </a:tcPr>
                </a:tc>
                <a:tc>
                  <a:txBody>
                    <a:bodyPr/>
                    <a:lstStyle/>
                    <a:p>
                      <a:pPr algn="l">
                        <a:buNone/>
                      </a:pPr>
                      <a:r>
                        <a:rPr sz="1200" b="0">
                          <a:solidFill>
                            <a:srgbClr val="2C2927"/>
                          </a:solidFill>
                          <a:latin typeface="Arial"/>
                          <a:ea typeface="Arial"/>
                          <a:cs typeface="Arial"/>
                        </a:rPr>
                        <a:t>GNN · AAAI 2024</a:t>
                      </a:r>
                      <a:endParaRPr sz="1200" b="0">
                        <a:solidFill>
                          <a:srgbClr val="2C2927"/>
                        </a:solidFill>
                        <a:latin typeface="Arial"/>
                        <a:ea typeface="Arial"/>
                        <a:cs typeface="Arial"/>
                      </a:endParaRPr>
                    </a:p>
                  </a:txBody>
                  <a:tcPr marL="95250" marR="95250" marT="38100" marB="38100" anchor="ctr">
                    <a:lnL w="9525">
                      <a:solidFill>
                        <a:schemeClr val="accent5"/>
                      </a:solidFill>
                      <a:prstDash val="solid"/>
                    </a:lnL>
                    <a:lnR w="9525">
                      <a:solidFill>
                        <a:schemeClr val="accent5"/>
                      </a:solidFill>
                      <a:prstDash val="solid"/>
                    </a:lnR>
                    <a:lnT w="9525">
                      <a:solidFill>
                        <a:schemeClr val="accent5"/>
                      </a:solidFill>
                      <a:prstDash val="solid"/>
                    </a:lnT>
                    <a:lnB w="9525">
                      <a:solidFill>
                        <a:schemeClr val="accent5"/>
                      </a:solidFill>
                      <a:prstDash val="solid"/>
                    </a:lnB>
                    <a:solidFill>
                      <a:srgbClr val="FBF7F3"/>
                    </a:solidFill>
                  </a:tcPr>
                </a:tc>
                <a:tc>
                  <a:txBody>
                    <a:bodyPr/>
                    <a:lstStyle/>
                    <a:p>
                      <a:pPr algn="ctr">
                        <a:buNone/>
                      </a:pPr>
                      <a:r>
                        <a:rPr sz="1200" b="0">
                          <a:solidFill>
                            <a:srgbClr val="2C2927"/>
                          </a:solidFill>
                          <a:latin typeface="Arial"/>
                          <a:ea typeface="Arial"/>
                          <a:cs typeface="Arial"/>
                        </a:rPr>
                        <a:t>0.3598</a:t>
                      </a:r>
                      <a:endParaRPr sz="1200" b="0">
                        <a:solidFill>
                          <a:srgbClr val="2C2927"/>
                        </a:solidFill>
                        <a:latin typeface="Arial"/>
                        <a:ea typeface="Arial"/>
                        <a:cs typeface="Arial"/>
                      </a:endParaRPr>
                    </a:p>
                  </a:txBody>
                  <a:tcPr marL="95250" marR="95250" marT="38100" marB="38100" anchor="ctr">
                    <a:lnL w="9525">
                      <a:solidFill>
                        <a:schemeClr val="accent5"/>
                      </a:solidFill>
                      <a:prstDash val="solid"/>
                    </a:lnL>
                    <a:lnR w="9525">
                      <a:solidFill>
                        <a:schemeClr val="accent5"/>
                      </a:solidFill>
                      <a:prstDash val="solid"/>
                    </a:lnR>
                    <a:lnT w="9525">
                      <a:solidFill>
                        <a:schemeClr val="accent5"/>
                      </a:solidFill>
                      <a:prstDash val="solid"/>
                    </a:lnT>
                    <a:lnB w="9525">
                      <a:solidFill>
                        <a:schemeClr val="accent5"/>
                      </a:solidFill>
                      <a:prstDash val="solid"/>
                    </a:lnB>
                    <a:solidFill>
                      <a:srgbClr val="FBF7F3"/>
                    </a:solidFill>
                  </a:tcPr>
                </a:tc>
                <a:tc>
                  <a:txBody>
                    <a:bodyPr/>
                    <a:lstStyle/>
                    <a:p>
                      <a:pPr algn="ctr">
                        <a:buNone/>
                      </a:pPr>
                      <a:r>
                        <a:rPr sz="1200" b="0">
                          <a:solidFill>
                            <a:srgbClr val="2C2927"/>
                          </a:solidFill>
                        </a:rPr>
                        <a:t>0.3557</a:t>
                      </a:r>
                      <a:endParaRPr sz="1200" b="0">
                        <a:solidFill>
                          <a:srgbClr val="2C2927"/>
                        </a:solidFill>
                      </a:endParaRPr>
                    </a:p>
                  </a:txBody>
                  <a:tcPr marL="95250" marR="95250" marT="38100" marB="38100" anchor="ctr">
                    <a:solidFill>
                      <a:srgbClr val="FBF7F3"/>
                    </a:solidFill>
                  </a:tcPr>
                </a:tc>
              </a:tr>
              <a:tr h="340043">
                <a:tc>
                  <a:txBody>
                    <a:bodyPr/>
                    <a:lstStyle/>
                    <a:p>
                      <a:pPr algn="l">
                        <a:buNone/>
                      </a:pPr>
                      <a:r>
                        <a:rPr sz="1200" b="0">
                          <a:solidFill>
                            <a:srgbClr val="2C2927"/>
                          </a:solidFill>
                          <a:latin typeface="Arial"/>
                          <a:ea typeface="Arial"/>
                          <a:cs typeface="Arial"/>
                        </a:rPr>
                        <a:t>TimesNet</a:t>
                      </a:r>
                      <a:endParaRPr sz="1200" b="0">
                        <a:solidFill>
                          <a:srgbClr val="2C2927"/>
                        </a:solidFill>
                        <a:latin typeface="Arial"/>
                        <a:ea typeface="Arial"/>
                        <a:cs typeface="Arial"/>
                      </a:endParaRPr>
                    </a:p>
                  </a:txBody>
                  <a:tcPr marL="95250" marR="95250" marT="38100" marB="38100" anchor="ctr">
                    <a:lnL w="9525">
                      <a:solidFill>
                        <a:schemeClr val="accent5"/>
                      </a:solidFill>
                      <a:prstDash val="solid"/>
                    </a:lnL>
                    <a:lnR w="9525">
                      <a:solidFill>
                        <a:schemeClr val="accent5"/>
                      </a:solidFill>
                      <a:prstDash val="solid"/>
                    </a:lnR>
                    <a:lnT w="9525">
                      <a:solidFill>
                        <a:schemeClr val="accent5"/>
                      </a:solidFill>
                      <a:prstDash val="solid"/>
                    </a:lnT>
                    <a:lnB w="9525">
                      <a:solidFill>
                        <a:schemeClr val="accent5"/>
                      </a:solidFill>
                      <a:prstDash val="solid"/>
                    </a:lnB>
                    <a:solidFill>
                      <a:srgbClr val="FFFFFF"/>
                    </a:solidFill>
                  </a:tcPr>
                </a:tc>
                <a:tc>
                  <a:txBody>
                    <a:bodyPr/>
                    <a:lstStyle/>
                    <a:p>
                      <a:pPr algn="l">
                        <a:buNone/>
                      </a:pPr>
                      <a:r>
                        <a:rPr sz="1200" b="0">
                          <a:solidFill>
                            <a:srgbClr val="2C2927"/>
                          </a:solidFill>
                          <a:latin typeface="Arial"/>
                          <a:ea typeface="Arial"/>
                          <a:cs typeface="Arial"/>
                        </a:rPr>
                        <a:t>CNN · ICLR 2023</a:t>
                      </a:r>
                      <a:endParaRPr sz="1200" b="0">
                        <a:solidFill>
                          <a:srgbClr val="2C2927"/>
                        </a:solidFill>
                        <a:latin typeface="Arial"/>
                        <a:ea typeface="Arial"/>
                        <a:cs typeface="Arial"/>
                      </a:endParaRPr>
                    </a:p>
                  </a:txBody>
                  <a:tcPr marL="95250" marR="95250" marT="38100" marB="38100" anchor="ctr">
                    <a:lnL w="9525">
                      <a:solidFill>
                        <a:schemeClr val="accent5"/>
                      </a:solidFill>
                      <a:prstDash val="solid"/>
                    </a:lnL>
                    <a:lnR w="9525">
                      <a:solidFill>
                        <a:schemeClr val="accent5"/>
                      </a:solidFill>
                      <a:prstDash val="solid"/>
                    </a:lnR>
                    <a:lnT w="9525">
                      <a:solidFill>
                        <a:schemeClr val="accent5"/>
                      </a:solidFill>
                      <a:prstDash val="solid"/>
                    </a:lnT>
                    <a:lnB w="9525">
                      <a:solidFill>
                        <a:schemeClr val="accent5"/>
                      </a:solidFill>
                      <a:prstDash val="solid"/>
                    </a:lnB>
                    <a:solidFill>
                      <a:srgbClr val="FFFFFF"/>
                    </a:solidFill>
                  </a:tcPr>
                </a:tc>
                <a:tc>
                  <a:txBody>
                    <a:bodyPr/>
                    <a:lstStyle/>
                    <a:p>
                      <a:pPr algn="ctr">
                        <a:buNone/>
                      </a:pPr>
                      <a:r>
                        <a:rPr sz="1200" b="0">
                          <a:solidFill>
                            <a:srgbClr val="2C2927"/>
                          </a:solidFill>
                          <a:latin typeface="Arial"/>
                          <a:ea typeface="Arial"/>
                          <a:cs typeface="Arial"/>
                        </a:rPr>
                        <a:t>0.3669</a:t>
                      </a:r>
                      <a:endParaRPr sz="1200" b="0">
                        <a:solidFill>
                          <a:srgbClr val="2C2927"/>
                        </a:solidFill>
                        <a:latin typeface="Arial"/>
                        <a:ea typeface="Arial"/>
                        <a:cs typeface="Arial"/>
                      </a:endParaRPr>
                    </a:p>
                  </a:txBody>
                  <a:tcPr marL="95250" marR="95250" marT="38100" marB="38100" anchor="ctr">
                    <a:lnL w="9525">
                      <a:solidFill>
                        <a:schemeClr val="accent5"/>
                      </a:solidFill>
                      <a:prstDash val="solid"/>
                    </a:lnL>
                    <a:lnR w="9525">
                      <a:solidFill>
                        <a:schemeClr val="accent5"/>
                      </a:solidFill>
                      <a:prstDash val="solid"/>
                    </a:lnR>
                    <a:lnT w="9525">
                      <a:solidFill>
                        <a:schemeClr val="accent5"/>
                      </a:solidFill>
                      <a:prstDash val="solid"/>
                    </a:lnT>
                    <a:lnB w="9525">
                      <a:solidFill>
                        <a:schemeClr val="accent5"/>
                      </a:solidFill>
                      <a:prstDash val="solid"/>
                    </a:lnB>
                    <a:solidFill>
                      <a:srgbClr val="FFFFFF"/>
                    </a:solidFill>
                  </a:tcPr>
                </a:tc>
                <a:tc>
                  <a:txBody>
                    <a:bodyPr/>
                    <a:lstStyle/>
                    <a:p>
                      <a:pPr algn="ctr">
                        <a:buNone/>
                      </a:pPr>
                      <a:r>
                        <a:rPr sz="1200" b="0">
                          <a:solidFill>
                            <a:srgbClr val="2C2927"/>
                          </a:solidFill>
                        </a:rPr>
                        <a:t>0.3565</a:t>
                      </a:r>
                      <a:endParaRPr sz="1200" b="0">
                        <a:solidFill>
                          <a:srgbClr val="2C2927"/>
                        </a:solidFill>
                      </a:endParaRPr>
                    </a:p>
                  </a:txBody>
                  <a:tcPr marL="95250" marR="95250" marT="38100" marB="38100" anchor="ctr">
                    <a:solidFill>
                      <a:srgbClr val="FFFFFF"/>
                    </a:solidFill>
                  </a:tcPr>
                </a:tc>
              </a:tr>
              <a:tr h="340043">
                <a:tc>
                  <a:txBody>
                    <a:bodyPr/>
                    <a:lstStyle/>
                    <a:p>
                      <a:pPr algn="l">
                        <a:buNone/>
                      </a:pPr>
                      <a:r>
                        <a:rPr sz="1200" b="0">
                          <a:solidFill>
                            <a:srgbClr val="2C2927"/>
                          </a:solidFill>
                          <a:latin typeface="Arial"/>
                          <a:ea typeface="Arial"/>
                          <a:cs typeface="Arial"/>
                        </a:rPr>
                        <a:t>DLinear</a:t>
                      </a:r>
                      <a:endParaRPr sz="1200" b="0">
                        <a:solidFill>
                          <a:srgbClr val="2C2927"/>
                        </a:solidFill>
                        <a:latin typeface="Arial"/>
                        <a:ea typeface="Arial"/>
                        <a:cs typeface="Arial"/>
                      </a:endParaRPr>
                    </a:p>
                  </a:txBody>
                  <a:tcPr marL="95250" marR="95250" marT="38100" marB="38100" anchor="ctr">
                    <a:lnL w="9525">
                      <a:solidFill>
                        <a:schemeClr val="accent5"/>
                      </a:solidFill>
                      <a:prstDash val="solid"/>
                    </a:lnL>
                    <a:lnR w="9525">
                      <a:solidFill>
                        <a:schemeClr val="accent5"/>
                      </a:solidFill>
                      <a:prstDash val="solid"/>
                    </a:lnR>
                    <a:lnT w="9525">
                      <a:solidFill>
                        <a:schemeClr val="accent5"/>
                      </a:solidFill>
                      <a:prstDash val="solid"/>
                    </a:lnT>
                    <a:lnB w="9525">
                      <a:solidFill>
                        <a:schemeClr val="accent5"/>
                      </a:solidFill>
                      <a:prstDash val="solid"/>
                    </a:lnB>
                    <a:solidFill>
                      <a:srgbClr val="FBF7F3"/>
                    </a:solidFill>
                  </a:tcPr>
                </a:tc>
                <a:tc>
                  <a:txBody>
                    <a:bodyPr/>
                    <a:lstStyle/>
                    <a:p>
                      <a:pPr algn="l">
                        <a:buNone/>
                      </a:pPr>
                      <a:r>
                        <a:rPr sz="1200" b="0">
                          <a:solidFill>
                            <a:srgbClr val="2C2927"/>
                          </a:solidFill>
                          <a:latin typeface="Arial"/>
                          <a:ea typeface="Arial"/>
                          <a:cs typeface="Arial"/>
                        </a:rPr>
                        <a:t>Linear · AAAI 2023</a:t>
                      </a:r>
                      <a:endParaRPr sz="1200" b="0">
                        <a:solidFill>
                          <a:srgbClr val="2C2927"/>
                        </a:solidFill>
                        <a:latin typeface="Arial"/>
                        <a:ea typeface="Arial"/>
                        <a:cs typeface="Arial"/>
                      </a:endParaRPr>
                    </a:p>
                  </a:txBody>
                  <a:tcPr marL="95250" marR="95250" marT="38100" marB="38100" anchor="ctr">
                    <a:lnL w="9525">
                      <a:solidFill>
                        <a:schemeClr val="accent5"/>
                      </a:solidFill>
                      <a:prstDash val="solid"/>
                    </a:lnL>
                    <a:lnR w="9525">
                      <a:solidFill>
                        <a:schemeClr val="accent5"/>
                      </a:solidFill>
                      <a:prstDash val="solid"/>
                    </a:lnR>
                    <a:lnT w="9525">
                      <a:solidFill>
                        <a:schemeClr val="accent5"/>
                      </a:solidFill>
                      <a:prstDash val="solid"/>
                    </a:lnT>
                    <a:lnB w="9525">
                      <a:solidFill>
                        <a:schemeClr val="accent5"/>
                      </a:solidFill>
                      <a:prstDash val="solid"/>
                    </a:lnB>
                    <a:solidFill>
                      <a:srgbClr val="FBF7F3"/>
                    </a:solidFill>
                  </a:tcPr>
                </a:tc>
                <a:tc>
                  <a:txBody>
                    <a:bodyPr/>
                    <a:lstStyle/>
                    <a:p>
                      <a:pPr algn="ctr">
                        <a:buNone/>
                      </a:pPr>
                      <a:r>
                        <a:rPr sz="1200" b="0">
                          <a:solidFill>
                            <a:srgbClr val="2C2927"/>
                          </a:solidFill>
                          <a:latin typeface="Arial"/>
                          <a:ea typeface="Arial"/>
                          <a:cs typeface="Arial"/>
                        </a:rPr>
                        <a:t>0.3998</a:t>
                      </a:r>
                      <a:endParaRPr sz="1200" b="0">
                        <a:solidFill>
                          <a:srgbClr val="2C2927"/>
                        </a:solidFill>
                        <a:latin typeface="Arial"/>
                        <a:ea typeface="Arial"/>
                        <a:cs typeface="Arial"/>
                      </a:endParaRPr>
                    </a:p>
                  </a:txBody>
                  <a:tcPr marL="95250" marR="95250" marT="38100" marB="38100" anchor="ctr">
                    <a:lnL w="9525">
                      <a:solidFill>
                        <a:schemeClr val="accent5"/>
                      </a:solidFill>
                      <a:prstDash val="solid"/>
                    </a:lnL>
                    <a:lnR w="9525">
                      <a:solidFill>
                        <a:schemeClr val="accent5"/>
                      </a:solidFill>
                      <a:prstDash val="solid"/>
                    </a:lnR>
                    <a:lnT w="9525">
                      <a:solidFill>
                        <a:schemeClr val="accent5"/>
                      </a:solidFill>
                      <a:prstDash val="solid"/>
                    </a:lnT>
                    <a:lnB w="9525">
                      <a:solidFill>
                        <a:schemeClr val="accent5"/>
                      </a:solidFill>
                      <a:prstDash val="solid"/>
                    </a:lnB>
                    <a:solidFill>
                      <a:srgbClr val="FBF7F3"/>
                    </a:solidFill>
                  </a:tcPr>
                </a:tc>
                <a:tc>
                  <a:txBody>
                    <a:bodyPr/>
                    <a:lstStyle/>
                    <a:p>
                      <a:pPr algn="ctr">
                        <a:buNone/>
                      </a:pPr>
                      <a:r>
                        <a:rPr sz="1200" b="0">
                          <a:solidFill>
                            <a:srgbClr val="2C2927"/>
                          </a:solidFill>
                        </a:rPr>
                        <a:t>0.3970</a:t>
                      </a:r>
                      <a:endParaRPr sz="1200" b="0">
                        <a:solidFill>
                          <a:srgbClr val="2C2927"/>
                        </a:solidFill>
                      </a:endParaRPr>
                    </a:p>
                  </a:txBody>
                  <a:tcPr marL="95250" marR="95250" marT="38100" marB="38100" anchor="ctr">
                    <a:solidFill>
                      <a:srgbClr val="FBF7F3"/>
                    </a:solidFill>
                  </a:tcPr>
                </a:tc>
              </a:tr>
            </a:tbl>
          </a:graphicData>
        </a:graphic>
      </p:graphicFrame>
      <p:sp>
        <p:nvSpPr>
          <p:cNvPr id="15" name="TextBox 15">
            <a:extLst xmlns:a="http://schemas.openxmlformats.org/drawingml/2006/main">
              <a:ext uri="{FF2B5EF4-FFF2-40B4-BE49-F238E27FC236}">
                <a16:creationId xmlns:a16="http://schemas.microsoft.com/office/drawing/2014/main" id="{00D1E4C7-C582-4FD5-80B9-FE3179A41D4C}"/>
              </a:ext>
            </a:extLst>
          </p:cNvPr>
          <p:cNvSpPr>
            <a:spLocks xmlns:a="http://schemas.openxmlformats.org/drawingml/2006/main" noGrp="1"/>
          </p:cNvSpPr>
          <p:nvPr/>
        </p:nvSpPr>
        <p:spPr>
          <a:xfrm xmlns:a="http://schemas.openxmlformats.org/drawingml/2006/main">
            <a:off x="666750" y="5562600"/>
            <a:ext cx="1640205" cy="21526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defRPr sz="975" b="1">
                <a:solidFill>
                  <a:srgbClr val="C43B00"/>
                </a:solidFill>
              </a:defRPr>
            </a:pPr>
            <a:r>
              <a:rPr sz="1400" b="1">
                <a:solidFill>
                  <a:srgbClr val="C43B00"/>
                </a:solidFill>
                <a:latin typeface="+mn-lt"/>
                <a:ea typeface="+mn-lt"/>
                <a:cs typeface="+mn-lt"/>
              </a:rPr>
              <a:t>LOWER IS BETTER</a:t>
            </a:r>
            <a:endParaRPr sz="1400" b="1">
              <a:solidFill>
                <a:srgbClr val="C43B00"/>
              </a:solidFill>
              <a:latin typeface="+mn-lt"/>
              <a:ea typeface="+mn-lt"/>
              <a:cs typeface="+mn-lt"/>
            </a:endParaRPr>
          </a:p>
        </p:txBody>
      </p:sp>
      <p:sp>
        <p:nvSpPr>
          <p:cNvPr id="16" name="TextBox 16">
            <a:extLst xmlns:a="http://schemas.openxmlformats.org/drawingml/2006/main">
              <a:ext uri="{FF2B5EF4-FFF2-40B4-BE49-F238E27FC236}">
                <a16:creationId xmlns:a16="http://schemas.microsoft.com/office/drawing/2014/main" id="{8720F38C-57EB-4549-A5D3-07D8C8125AA4}"/>
              </a:ext>
            </a:extLst>
          </p:cNvPr>
          <p:cNvSpPr>
            <a:spLocks xmlns:a="http://schemas.openxmlformats.org/drawingml/2006/main" noGrp="1"/>
          </p:cNvSpPr>
          <p:nvPr/>
        </p:nvSpPr>
        <p:spPr>
          <a:xfrm xmlns:a="http://schemas.openxmlformats.org/drawingml/2006/main">
            <a:off x="2409825" y="5562600"/>
            <a:ext cx="94869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defRPr sz="1275" b="1">
                <a:solidFill>
                  <a:srgbClr val="2C2927"/>
                </a:solidFill>
              </a:defRPr>
            </a:pPr>
            <a:r>
              <a:rPr sz="1275" b="1">
                <a:solidFill>
                  <a:srgbClr val="2C2927"/>
                </a:solidFill>
                <a:latin typeface="+mn-lt"/>
                <a:ea typeface="+mn-lt"/>
                <a:cs typeface="+mn-lt"/>
              </a:rPr>
              <a:t>ConDyGNet ranks first even against baselines built from different modeling families.</a:t>
            </a:r>
            <a:endParaRPr sz="1275" b="1">
              <a:solidFill>
                <a:srgbClr val="2C2927"/>
              </a:solidFill>
              <a:latin typeface="+mn-lt"/>
              <a:ea typeface="+mn-lt"/>
              <a:cs typeface="+mn-lt"/>
            </a:endParaRPr>
          </a:p>
        </p:txBody>
      </p:sp>
      <p:sp>
        <p:nvSpPr>
          <p:cNvPr id="19" name="Line 19">
            <a:extLst xmlns:a="http://schemas.openxmlformats.org/drawingml/2006/main">
              <a:ext uri="{FF2B5EF4-FFF2-40B4-BE49-F238E27FC236}">
                <a16:creationId xmlns:a16="http://schemas.microsoft.com/office/drawing/2014/main" id="{82E5DAF8-78A1-4F9C-86D0-54ECCF5695A1}"/>
              </a:ext>
            </a:extLst>
          </p:cNvPr>
          <p:cNvSpPr>
            <a:spLocks xmlns:a="http://schemas.openxmlformats.org/drawingml/2006/main" noGrp="1"/>
          </p:cNvSpPr>
          <p:nvPr/>
        </p:nvSpPr>
        <p:spPr>
          <a:xfrm xmlns:a="http://schemas.openxmlformats.org/drawingml/2006/main">
            <a:off x="495300" y="6362700"/>
            <a:ext cx="11201400" cy="9525"/>
          </a:xfrm>
          <a:custGeom xmlns:a="http://schemas.openxmlformats.org/drawingml/2006/main">
            <a:rect l="l" t="t" r="r" b="b"/>
            <a:pathLst>
              <a:path w="11201400" h="9525">
                <a:moveTo>
                  <a:pt x="0" y="0"/>
                </a:moveTo>
                <a:lnTo>
                  <a:pt x="11201400" y="0"/>
                </a:lnTo>
              </a:path>
            </a:pathLst>
          </a:custGeom>
          <a:noFill xmlns:a="http://schemas.openxmlformats.org/drawingml/2006/main"/>
          <a:ln xmlns:a="http://schemas.openxmlformats.org/drawingml/2006/main" w="9525">
            <a:solidFill>
              <a:schemeClr val="accent5"/>
            </a:solidFill>
          </a:ln>
        </p:spPr>
      </p:sp>
      <p:sp>
        <p:nvSpPr>
          <p:cNvPr id="21" name="TextBox 21">
            <a:extLst xmlns:a="http://schemas.openxmlformats.org/drawingml/2006/main">
              <a:ext uri="{FF2B5EF4-FFF2-40B4-BE49-F238E27FC236}">
                <a16:creationId xmlns:a16="http://schemas.microsoft.com/office/drawing/2014/main" id="{9130BC0D-372E-4210-9F69-4EA2EFB6E860}"/>
              </a:ext>
            </a:extLst>
          </p:cNvPr>
          <p:cNvSpPr>
            <a:spLocks xmlns:a="http://schemas.openxmlformats.org/drawingml/2006/main" noGrp="1"/>
          </p:cNvSpPr>
          <p:nvPr/>
        </p:nvSpPr>
        <p:spPr>
          <a:xfrm xmlns:a="http://schemas.openxmlformats.org/drawingml/2006/main">
            <a:off x="11528106" y="6497002"/>
            <a:ext cx="173928" cy="205359"/>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r">
              <a:buNone/>
            </a:pPr>
            <a:r>
              <a:rPr sz="1050" b="1">
                <a:solidFill>
                  <a:schemeClr val="accent1"/>
                </a:solidFill>
                <a:latin typeface="+mn-lt"/>
                <a:ea typeface="+mn-lt"/>
                <a:cs typeface="+mn-lt"/>
              </a:rPr>
              <a:t>06</a:t>
            </a:r>
            <a:endParaRPr sz="1050" b="1">
              <a:solidFill>
                <a:schemeClr val="accent1"/>
              </a:solidFill>
              <a:latin typeface="+mn-lt"/>
              <a:ea typeface="+mn-lt"/>
              <a:cs typeface="+mn-lt"/>
            </a:endParaRPr>
          </a:p>
        </p:txBody>
      </p:sp>
      <p:sp>
        <p:nvSpPr>
          <p:cNvPr id="23" name="benchmark-table-right-edge">
            <a:extLst xmlns:a="http://schemas.openxmlformats.org/drawingml/2006/main">
              <a:ext uri="{FF2B5EF4-FFF2-40B4-BE49-F238E27FC236}">
                <a16:creationId xmlns:a16="http://schemas.microsoft.com/office/drawing/2014/main" id="{3A598BF2-82E7-45F6-9A9C-BCA40548F69F}"/>
              </a:ext>
            </a:extLst>
          </p:cNvPr>
          <p:cNvSpPr>
            <a:spLocks xmlns:a="http://schemas.openxmlformats.org/drawingml/2006/main" noGrp="1"/>
          </p:cNvSpPr>
          <p:nvPr/>
        </p:nvSpPr>
        <p:spPr>
          <a:xfrm xmlns:a="http://schemas.openxmlformats.org/drawingml/2006/main">
            <a:off x="11525250" y="1581150"/>
            <a:ext cx="0" cy="3743325"/>
          </a:xfrm>
          <a:prstGeom xmlns:a="http://schemas.openxmlformats.org/drawingml/2006/main" prst="line">
            <a:avLst/>
          </a:prstGeom>
          <a:noFill xmlns:a="http://schemas.openxmlformats.org/drawingml/2006/main"/>
          <a:ln xmlns:a="http://schemas.openxmlformats.org/drawingml/2006/main" w="9525">
            <a:solidFill>
              <a:srgbClr val="D9CFC8"/>
            </a:solidFill>
            <a:prstDash val="solid"/>
          </a:ln>
        </p:spPr>
      </p:sp>
      <p:sp>
        <p:nvSpPr>
          <p:cNvPr id="24" name="benchmark-table-last-column-row-1">
            <a:extLst xmlns:a="http://schemas.openxmlformats.org/drawingml/2006/main">
              <a:ext uri="{FF2B5EF4-FFF2-40B4-BE49-F238E27FC236}">
                <a16:creationId xmlns:a16="http://schemas.microsoft.com/office/drawing/2014/main" id="{7A29146A-0945-4F49-BD49-AC9FBCCCF54D}"/>
              </a:ext>
            </a:extLst>
          </p:cNvPr>
          <p:cNvSpPr>
            <a:spLocks xmlns:a="http://schemas.openxmlformats.org/drawingml/2006/main" noGrp="1"/>
          </p:cNvSpPr>
          <p:nvPr/>
        </p:nvSpPr>
        <p:spPr>
          <a:xfrm xmlns:a="http://schemas.openxmlformats.org/drawingml/2006/main">
            <a:off x="9096375" y="1924050"/>
            <a:ext cx="2428875" cy="0"/>
          </a:xfrm>
          <a:prstGeom xmlns:a="http://schemas.openxmlformats.org/drawingml/2006/main" prst="line">
            <a:avLst/>
          </a:prstGeom>
          <a:noFill xmlns:a="http://schemas.openxmlformats.org/drawingml/2006/main"/>
          <a:ln xmlns:a="http://schemas.openxmlformats.org/drawingml/2006/main" w="9525">
            <a:solidFill>
              <a:srgbClr val="D9CFC8"/>
            </a:solidFill>
            <a:prstDash val="solid"/>
          </a:ln>
        </p:spPr>
      </p:sp>
      <p:sp>
        <p:nvSpPr>
          <p:cNvPr id="25" name="benchmark-table-last-column-row-2">
            <a:extLst xmlns:a="http://schemas.openxmlformats.org/drawingml/2006/main">
              <a:ext uri="{FF2B5EF4-FFF2-40B4-BE49-F238E27FC236}">
                <a16:creationId xmlns:a16="http://schemas.microsoft.com/office/drawing/2014/main" id="{4B2AD8BF-27B1-4813-8374-D8010C081AB6}"/>
              </a:ext>
            </a:extLst>
          </p:cNvPr>
          <p:cNvSpPr>
            <a:spLocks xmlns:a="http://schemas.openxmlformats.org/drawingml/2006/main" noGrp="1"/>
          </p:cNvSpPr>
          <p:nvPr/>
        </p:nvSpPr>
        <p:spPr>
          <a:xfrm xmlns:a="http://schemas.openxmlformats.org/drawingml/2006/main">
            <a:off x="9096375" y="2264093"/>
            <a:ext cx="2428875" cy="0"/>
          </a:xfrm>
          <a:prstGeom xmlns:a="http://schemas.openxmlformats.org/drawingml/2006/main" prst="line">
            <a:avLst/>
          </a:prstGeom>
          <a:noFill xmlns:a="http://schemas.openxmlformats.org/drawingml/2006/main"/>
          <a:ln xmlns:a="http://schemas.openxmlformats.org/drawingml/2006/main" w="9525">
            <a:solidFill>
              <a:srgbClr val="D9CFC8"/>
            </a:solidFill>
            <a:prstDash val="solid"/>
          </a:ln>
        </p:spPr>
      </p:sp>
      <p:sp>
        <p:nvSpPr>
          <p:cNvPr id="26" name="benchmark-table-last-column-row-3">
            <a:extLst xmlns:a="http://schemas.openxmlformats.org/drawingml/2006/main">
              <a:ext uri="{FF2B5EF4-FFF2-40B4-BE49-F238E27FC236}">
                <a16:creationId xmlns:a16="http://schemas.microsoft.com/office/drawing/2014/main" id="{36FDE6CA-A63B-4815-8797-FAB1F8C9C075}"/>
              </a:ext>
            </a:extLst>
          </p:cNvPr>
          <p:cNvSpPr>
            <a:spLocks xmlns:a="http://schemas.openxmlformats.org/drawingml/2006/main" noGrp="1"/>
          </p:cNvSpPr>
          <p:nvPr/>
        </p:nvSpPr>
        <p:spPr>
          <a:xfrm xmlns:a="http://schemas.openxmlformats.org/drawingml/2006/main">
            <a:off x="9096375" y="2604135"/>
            <a:ext cx="2428875" cy="0"/>
          </a:xfrm>
          <a:prstGeom xmlns:a="http://schemas.openxmlformats.org/drawingml/2006/main" prst="line">
            <a:avLst/>
          </a:prstGeom>
          <a:noFill xmlns:a="http://schemas.openxmlformats.org/drawingml/2006/main"/>
          <a:ln xmlns:a="http://schemas.openxmlformats.org/drawingml/2006/main" w="9525">
            <a:solidFill>
              <a:srgbClr val="D9CFC8"/>
            </a:solidFill>
            <a:prstDash val="solid"/>
          </a:ln>
        </p:spPr>
      </p:sp>
      <p:sp>
        <p:nvSpPr>
          <p:cNvPr id="27" name="benchmark-table-last-column-row-4">
            <a:extLst xmlns:a="http://schemas.openxmlformats.org/drawingml/2006/main">
              <a:ext uri="{FF2B5EF4-FFF2-40B4-BE49-F238E27FC236}">
                <a16:creationId xmlns:a16="http://schemas.microsoft.com/office/drawing/2014/main" id="{7CD9859F-3781-48E1-B424-C2101186C6D9}"/>
              </a:ext>
            </a:extLst>
          </p:cNvPr>
          <p:cNvSpPr>
            <a:spLocks xmlns:a="http://schemas.openxmlformats.org/drawingml/2006/main" noGrp="1"/>
          </p:cNvSpPr>
          <p:nvPr/>
        </p:nvSpPr>
        <p:spPr>
          <a:xfrm xmlns:a="http://schemas.openxmlformats.org/drawingml/2006/main">
            <a:off x="9096375" y="2944178"/>
            <a:ext cx="2428875" cy="0"/>
          </a:xfrm>
          <a:prstGeom xmlns:a="http://schemas.openxmlformats.org/drawingml/2006/main" prst="line">
            <a:avLst/>
          </a:prstGeom>
          <a:noFill xmlns:a="http://schemas.openxmlformats.org/drawingml/2006/main"/>
          <a:ln xmlns:a="http://schemas.openxmlformats.org/drawingml/2006/main" w="9525">
            <a:solidFill>
              <a:srgbClr val="D9CFC8"/>
            </a:solidFill>
            <a:prstDash val="solid"/>
          </a:ln>
        </p:spPr>
      </p:sp>
      <p:sp>
        <p:nvSpPr>
          <p:cNvPr id="28" name="benchmark-table-last-column-row-5">
            <a:extLst xmlns:a="http://schemas.openxmlformats.org/drawingml/2006/main">
              <a:ext uri="{FF2B5EF4-FFF2-40B4-BE49-F238E27FC236}">
                <a16:creationId xmlns:a16="http://schemas.microsoft.com/office/drawing/2014/main" id="{0AE0F35D-B693-4A16-A97D-6A08B3B8FCBC}"/>
              </a:ext>
            </a:extLst>
          </p:cNvPr>
          <p:cNvSpPr>
            <a:spLocks xmlns:a="http://schemas.openxmlformats.org/drawingml/2006/main" noGrp="1"/>
          </p:cNvSpPr>
          <p:nvPr/>
        </p:nvSpPr>
        <p:spPr>
          <a:xfrm xmlns:a="http://schemas.openxmlformats.org/drawingml/2006/main">
            <a:off x="9096375" y="3284220"/>
            <a:ext cx="2428875" cy="0"/>
          </a:xfrm>
          <a:prstGeom xmlns:a="http://schemas.openxmlformats.org/drawingml/2006/main" prst="line">
            <a:avLst/>
          </a:prstGeom>
          <a:noFill xmlns:a="http://schemas.openxmlformats.org/drawingml/2006/main"/>
          <a:ln xmlns:a="http://schemas.openxmlformats.org/drawingml/2006/main" w="9525">
            <a:solidFill>
              <a:srgbClr val="D9CFC8"/>
            </a:solidFill>
            <a:prstDash val="solid"/>
          </a:ln>
        </p:spPr>
      </p:sp>
      <p:sp>
        <p:nvSpPr>
          <p:cNvPr id="29" name="benchmark-table-last-column-row-6">
            <a:extLst xmlns:a="http://schemas.openxmlformats.org/drawingml/2006/main">
              <a:ext uri="{FF2B5EF4-FFF2-40B4-BE49-F238E27FC236}">
                <a16:creationId xmlns:a16="http://schemas.microsoft.com/office/drawing/2014/main" id="{94F4D229-129B-4873-8ED5-2967B51E22C2}"/>
              </a:ext>
            </a:extLst>
          </p:cNvPr>
          <p:cNvSpPr>
            <a:spLocks xmlns:a="http://schemas.openxmlformats.org/drawingml/2006/main" noGrp="1"/>
          </p:cNvSpPr>
          <p:nvPr/>
        </p:nvSpPr>
        <p:spPr>
          <a:xfrm xmlns:a="http://schemas.openxmlformats.org/drawingml/2006/main">
            <a:off x="9096375" y="3624263"/>
            <a:ext cx="2428875" cy="0"/>
          </a:xfrm>
          <a:prstGeom xmlns:a="http://schemas.openxmlformats.org/drawingml/2006/main" prst="line">
            <a:avLst/>
          </a:prstGeom>
          <a:noFill xmlns:a="http://schemas.openxmlformats.org/drawingml/2006/main"/>
          <a:ln xmlns:a="http://schemas.openxmlformats.org/drawingml/2006/main" w="9525">
            <a:solidFill>
              <a:srgbClr val="D9CFC8"/>
            </a:solidFill>
            <a:prstDash val="solid"/>
          </a:ln>
        </p:spPr>
      </p:sp>
      <p:sp>
        <p:nvSpPr>
          <p:cNvPr id="30" name="benchmark-table-last-column-row-7">
            <a:extLst xmlns:a="http://schemas.openxmlformats.org/drawingml/2006/main">
              <a:ext uri="{FF2B5EF4-FFF2-40B4-BE49-F238E27FC236}">
                <a16:creationId xmlns:a16="http://schemas.microsoft.com/office/drawing/2014/main" id="{4ABA79A3-E6C0-476E-AD73-4690FFD89E1F}"/>
              </a:ext>
            </a:extLst>
          </p:cNvPr>
          <p:cNvSpPr>
            <a:spLocks xmlns:a="http://schemas.openxmlformats.org/drawingml/2006/main" noGrp="1"/>
          </p:cNvSpPr>
          <p:nvPr/>
        </p:nvSpPr>
        <p:spPr>
          <a:xfrm xmlns:a="http://schemas.openxmlformats.org/drawingml/2006/main">
            <a:off x="9096375" y="3964305"/>
            <a:ext cx="2428875" cy="0"/>
          </a:xfrm>
          <a:prstGeom xmlns:a="http://schemas.openxmlformats.org/drawingml/2006/main" prst="line">
            <a:avLst/>
          </a:prstGeom>
          <a:noFill xmlns:a="http://schemas.openxmlformats.org/drawingml/2006/main"/>
          <a:ln xmlns:a="http://schemas.openxmlformats.org/drawingml/2006/main" w="9525">
            <a:solidFill>
              <a:srgbClr val="D9CFC8"/>
            </a:solidFill>
            <a:prstDash val="solid"/>
          </a:ln>
        </p:spPr>
      </p:sp>
      <p:sp>
        <p:nvSpPr>
          <p:cNvPr id="31" name="benchmark-table-last-column-row-8">
            <a:extLst xmlns:a="http://schemas.openxmlformats.org/drawingml/2006/main">
              <a:ext uri="{FF2B5EF4-FFF2-40B4-BE49-F238E27FC236}">
                <a16:creationId xmlns:a16="http://schemas.microsoft.com/office/drawing/2014/main" id="{404FC00F-AD72-473C-AAA2-1865A9BAA309}"/>
              </a:ext>
            </a:extLst>
          </p:cNvPr>
          <p:cNvSpPr>
            <a:spLocks xmlns:a="http://schemas.openxmlformats.org/drawingml/2006/main" noGrp="1"/>
          </p:cNvSpPr>
          <p:nvPr/>
        </p:nvSpPr>
        <p:spPr>
          <a:xfrm xmlns:a="http://schemas.openxmlformats.org/drawingml/2006/main">
            <a:off x="9096375" y="4304348"/>
            <a:ext cx="2428875" cy="0"/>
          </a:xfrm>
          <a:prstGeom xmlns:a="http://schemas.openxmlformats.org/drawingml/2006/main" prst="line">
            <a:avLst/>
          </a:prstGeom>
          <a:noFill xmlns:a="http://schemas.openxmlformats.org/drawingml/2006/main"/>
          <a:ln xmlns:a="http://schemas.openxmlformats.org/drawingml/2006/main" w="9525">
            <a:solidFill>
              <a:srgbClr val="D9CFC8"/>
            </a:solidFill>
            <a:prstDash val="solid"/>
          </a:ln>
        </p:spPr>
      </p:sp>
      <p:sp>
        <p:nvSpPr>
          <p:cNvPr id="32" name="benchmark-table-last-column-row-9">
            <a:extLst xmlns:a="http://schemas.openxmlformats.org/drawingml/2006/main">
              <a:ext uri="{FF2B5EF4-FFF2-40B4-BE49-F238E27FC236}">
                <a16:creationId xmlns:a16="http://schemas.microsoft.com/office/drawing/2014/main" id="{6CDA0347-C928-451F-9517-ACA78EED8112}"/>
              </a:ext>
            </a:extLst>
          </p:cNvPr>
          <p:cNvSpPr>
            <a:spLocks xmlns:a="http://schemas.openxmlformats.org/drawingml/2006/main" noGrp="1"/>
          </p:cNvSpPr>
          <p:nvPr/>
        </p:nvSpPr>
        <p:spPr>
          <a:xfrm xmlns:a="http://schemas.openxmlformats.org/drawingml/2006/main">
            <a:off x="9096375" y="4644390"/>
            <a:ext cx="2428875" cy="0"/>
          </a:xfrm>
          <a:prstGeom xmlns:a="http://schemas.openxmlformats.org/drawingml/2006/main" prst="line">
            <a:avLst/>
          </a:prstGeom>
          <a:noFill xmlns:a="http://schemas.openxmlformats.org/drawingml/2006/main"/>
          <a:ln xmlns:a="http://schemas.openxmlformats.org/drawingml/2006/main" w="9525">
            <a:solidFill>
              <a:srgbClr val="D9CFC8"/>
            </a:solidFill>
            <a:prstDash val="solid"/>
          </a:ln>
        </p:spPr>
      </p:sp>
      <p:sp>
        <p:nvSpPr>
          <p:cNvPr id="33" name="benchmark-table-last-column-row-10">
            <a:extLst xmlns:a="http://schemas.openxmlformats.org/drawingml/2006/main">
              <a:ext uri="{FF2B5EF4-FFF2-40B4-BE49-F238E27FC236}">
                <a16:creationId xmlns:a16="http://schemas.microsoft.com/office/drawing/2014/main" id="{10488F07-8CC6-48D8-A854-5173E765856F}"/>
              </a:ext>
            </a:extLst>
          </p:cNvPr>
          <p:cNvSpPr>
            <a:spLocks xmlns:a="http://schemas.openxmlformats.org/drawingml/2006/main" noGrp="1"/>
          </p:cNvSpPr>
          <p:nvPr/>
        </p:nvSpPr>
        <p:spPr>
          <a:xfrm xmlns:a="http://schemas.openxmlformats.org/drawingml/2006/main">
            <a:off x="9096375" y="4984433"/>
            <a:ext cx="2428875" cy="0"/>
          </a:xfrm>
          <a:prstGeom xmlns:a="http://schemas.openxmlformats.org/drawingml/2006/main" prst="line">
            <a:avLst/>
          </a:prstGeom>
          <a:noFill xmlns:a="http://schemas.openxmlformats.org/drawingml/2006/main"/>
          <a:ln xmlns:a="http://schemas.openxmlformats.org/drawingml/2006/main" w="9525">
            <a:solidFill>
              <a:srgbClr val="D9CFC8"/>
            </a:solidFill>
            <a:prstDash val="solid"/>
          </a:ln>
        </p:spPr>
      </p:sp>
      <p:sp>
        <p:nvSpPr>
          <p:cNvPr id="34" name="benchmark-table-last-column-row-11">
            <a:extLst xmlns:a="http://schemas.openxmlformats.org/drawingml/2006/main">
              <a:ext uri="{FF2B5EF4-FFF2-40B4-BE49-F238E27FC236}">
                <a16:creationId xmlns:a16="http://schemas.microsoft.com/office/drawing/2014/main" id="{DC572EE1-628D-48F0-9E70-5165EFFB5785}"/>
              </a:ext>
            </a:extLst>
          </p:cNvPr>
          <p:cNvSpPr>
            <a:spLocks xmlns:a="http://schemas.openxmlformats.org/drawingml/2006/main" noGrp="1"/>
          </p:cNvSpPr>
          <p:nvPr/>
        </p:nvSpPr>
        <p:spPr>
          <a:xfrm xmlns:a="http://schemas.openxmlformats.org/drawingml/2006/main">
            <a:off x="9096375" y="5324475"/>
            <a:ext cx="2428875" cy="0"/>
          </a:xfrm>
          <a:prstGeom xmlns:a="http://schemas.openxmlformats.org/drawingml/2006/main" prst="line">
            <a:avLst/>
          </a:prstGeom>
          <a:noFill xmlns:a="http://schemas.openxmlformats.org/drawingml/2006/main"/>
          <a:ln xmlns:a="http://schemas.openxmlformats.org/drawingml/2006/main" w="9525">
            <a:solidFill>
              <a:srgbClr val="D9CFC8"/>
            </a:solidFill>
            <a:prstDash val="solid"/>
          </a:ln>
        </p:spPr>
      </p:sp>
    </p:spTree>
    <p:extLst>
      <p:ext uri="{BB962C8B-B14F-4D97-AF65-F5344CB8AC3E}">
        <p14:creationId xmlns:p14="http://schemas.microsoft.com/office/powerpoint/2010/main" val="310027412"/>
      </p:ext>
    </p:extLst>
  </p:cSld>
</p:sld>
</file>

<file path=ppt/slides/slide7.xml><?xml version="1.0" encoding="utf-8"?>
<p:sld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
        <p:nvSpPr>
          <p:cNvPr id="2" name="TextBox 2">
            <a:extLst xmlns:a="http://schemas.openxmlformats.org/drawingml/2006/main">
              <a:ext uri="{FF2B5EF4-FFF2-40B4-BE49-F238E27FC236}">
                <a16:creationId xmlns:a16="http://schemas.microsoft.com/office/drawing/2014/main" id="{5C74BE2D-0805-4DA5-A826-402B25D7BBE5}"/>
              </a:ext>
            </a:extLst>
          </p:cNvPr>
          <p:cNvSpPr>
            <a:spLocks xmlns:a="http://schemas.openxmlformats.org/drawingml/2006/main" noGrp="1"/>
          </p:cNvSpPr>
          <p:nvPr/>
        </p:nvSpPr>
        <p:spPr>
          <a:xfrm xmlns:a="http://schemas.openxmlformats.org/drawingml/2006/main">
            <a:off x="481584" y="318135"/>
            <a:ext cx="9503694" cy="52806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2700" b="1">
                <a:solidFill>
                  <a:schemeClr val="dk1"/>
                </a:solidFill>
                <a:latin typeface="+mn-lt"/>
                <a:ea typeface="+mn-lt"/>
                <a:cs typeface="+mn-lt"/>
              </a:rPr>
              <a:t>Three experiments support constrained, selective adaptation</a:t>
            </a:r>
            <a:endParaRPr sz="2700" b="1">
              <a:solidFill>
                <a:schemeClr val="dk1"/>
              </a:solidFill>
              <a:latin typeface="+mn-lt"/>
              <a:ea typeface="+mn-lt"/>
              <a:cs typeface="+mn-lt"/>
            </a:endParaRPr>
          </a:p>
        </p:txBody>
      </p:sp>
      <p:sp>
        <p:nvSpPr>
          <p:cNvPr id="3" name="Line 3">
            <a:extLst xmlns:a="http://schemas.openxmlformats.org/drawingml/2006/main">
              <a:ext uri="{FF2B5EF4-FFF2-40B4-BE49-F238E27FC236}">
                <a16:creationId xmlns:a16="http://schemas.microsoft.com/office/drawing/2014/main" id="{C382D1E9-0B89-4143-AB79-2EAD41A9BC0B}"/>
              </a:ext>
            </a:extLst>
          </p:cNvPr>
          <p:cNvSpPr>
            <a:spLocks xmlns:a="http://schemas.openxmlformats.org/drawingml/2006/main" noGrp="1"/>
          </p:cNvSpPr>
          <p:nvPr/>
        </p:nvSpPr>
        <p:spPr>
          <a:xfrm xmlns:a="http://schemas.openxmlformats.org/drawingml/2006/main">
            <a:off x="495300" y="914400"/>
            <a:ext cx="11201400" cy="9525"/>
          </a:xfrm>
          <a:custGeom xmlns:a="http://schemas.openxmlformats.org/drawingml/2006/main">
            <a:rect l="l" t="t" r="r" b="b"/>
            <a:pathLst>
              <a:path w="11201400" h="9525">
                <a:moveTo>
                  <a:pt x="0" y="0"/>
                </a:moveTo>
                <a:lnTo>
                  <a:pt x="11201400" y="0"/>
                </a:lnTo>
              </a:path>
            </a:pathLst>
          </a:custGeom>
          <a:noFill xmlns:a="http://schemas.openxmlformats.org/drawingml/2006/main"/>
          <a:ln xmlns:a="http://schemas.openxmlformats.org/drawingml/2006/main" w="28575">
            <a:solidFill>
              <a:schemeClr val="accent1"/>
            </a:solidFill>
          </a:ln>
        </p:spPr>
      </p:sp>
      <p:sp>
        <p:nvSpPr>
          <p:cNvPr id="5" name="TextBox 5">
            <a:extLst xmlns:a="http://schemas.openxmlformats.org/drawingml/2006/main">
              <a:ext uri="{FF2B5EF4-FFF2-40B4-BE49-F238E27FC236}">
                <a16:creationId xmlns:a16="http://schemas.microsoft.com/office/drawing/2014/main" id="{7D874DE3-679A-4509-8BF9-3D7607B43487}"/>
              </a:ext>
            </a:extLst>
          </p:cNvPr>
          <p:cNvSpPr>
            <a:spLocks xmlns:a="http://schemas.openxmlformats.org/drawingml/2006/main" noGrp="1"/>
          </p:cNvSpPr>
          <p:nvPr/>
        </p:nvSpPr>
        <p:spPr>
          <a:xfrm xmlns:a="http://schemas.openxmlformats.org/drawingml/2006/main">
            <a:off x="488442" y="1168718"/>
            <a:ext cx="4764346"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defRPr sz="1050" b="1">
                <a:solidFill>
                  <a:srgbClr val="C43B00"/>
                </a:solidFill>
              </a:defRPr>
            </a:pPr>
            <a:r>
              <a:rPr sz="1050" b="1">
                <a:solidFill>
                  <a:srgbClr val="C43B00"/>
                </a:solidFill>
                <a:latin typeface="+mn-lt"/>
                <a:ea typeface="+mn-lt"/>
                <a:cs typeface="+mn-lt"/>
              </a:rPr>
              <a:t>01 · MISSING-BLOCK ROBUSTNESS</a:t>
            </a:r>
            <a:endParaRPr sz="1050" b="1">
              <a:solidFill>
                <a:srgbClr val="C43B00"/>
              </a:solidFill>
              <a:latin typeface="+mn-lt"/>
              <a:ea typeface="+mn-lt"/>
              <a:cs typeface="+mn-lt"/>
            </a:endParaRPr>
          </a:p>
        </p:txBody>
      </p:sp>
      <p:sp>
        <p:nvSpPr>
          <p:cNvPr id="8" name="Rectangle 8">
            <a:extLst xmlns:a="http://schemas.openxmlformats.org/drawingml/2006/main">
              <a:ext uri="{FF2B5EF4-FFF2-40B4-BE49-F238E27FC236}">
                <a16:creationId xmlns:a16="http://schemas.microsoft.com/office/drawing/2014/main" id="{6F9838D4-A5AF-4AF6-B5EE-F5D6FA5909E0}"/>
              </a:ext>
            </a:extLst>
          </p:cNvPr>
          <p:cNvSpPr>
            <a:spLocks xmlns:a="http://schemas.openxmlformats.org/drawingml/2006/main" noGrp="1"/>
          </p:cNvSpPr>
          <p:nvPr/>
        </p:nvSpPr>
        <p:spPr>
          <a:xfrm xmlns:a="http://schemas.openxmlformats.org/drawingml/2006/main">
            <a:off x="495300" y="4533900"/>
            <a:ext cx="6572250" cy="1562100"/>
          </a:xfrm>
          <a:prstGeom xmlns:a="http://schemas.openxmlformats.org/drawingml/2006/main" prst="rect">
            <a:avLst/>
          </a:prstGeom>
          <a:solidFill xmlns:a="http://schemas.openxmlformats.org/drawingml/2006/main">
            <a:srgbClr val="F4D7C8"/>
          </a:solidFill>
          <a:ln xmlns:a="http://schemas.openxmlformats.org/drawingml/2006/main" w="9525">
            <a:solidFill>
              <a:srgbClr val="E7C4B2"/>
            </a:solidFill>
            <a:prstDash val="solid"/>
          </a:ln>
        </p:spPr>
      </p:sp>
      <p:sp>
        <p:nvSpPr>
          <p:cNvPr id="9" name="Rectangle 9">
            <a:extLst xmlns:a="http://schemas.openxmlformats.org/drawingml/2006/main">
              <a:ext uri="{FF2B5EF4-FFF2-40B4-BE49-F238E27FC236}">
                <a16:creationId xmlns:a16="http://schemas.microsoft.com/office/drawing/2014/main" id="{83566C22-5BC2-434C-8A18-BA345D70FF92}"/>
              </a:ext>
            </a:extLst>
          </p:cNvPr>
          <p:cNvSpPr>
            <a:spLocks xmlns:a="http://schemas.openxmlformats.org/drawingml/2006/main" noGrp="1"/>
          </p:cNvSpPr>
          <p:nvPr/>
        </p:nvSpPr>
        <p:spPr>
          <a:xfrm xmlns:a="http://schemas.openxmlformats.org/drawingml/2006/main">
            <a:off x="495300" y="4533900"/>
            <a:ext cx="76200" cy="1562100"/>
          </a:xfrm>
          <a:prstGeom xmlns:a="http://schemas.openxmlformats.org/drawingml/2006/main" prst="rect">
            <a:avLst/>
          </a:prstGeom>
          <a:solidFill xmlns:a="http://schemas.openxmlformats.org/drawingml/2006/main">
            <a:srgbClr val="C43B00"/>
          </a:solidFill>
          <a:ln xmlns:a="http://schemas.openxmlformats.org/drawingml/2006/main" w="0">
            <a:solidFill>
              <a:srgbClr val="C43B00"/>
            </a:solidFill>
            <a:prstDash val="solid"/>
          </a:ln>
        </p:spPr>
      </p:sp>
      <p:sp>
        <p:nvSpPr>
          <p:cNvPr id="10" name="TextBox 10">
            <a:extLst xmlns:a="http://schemas.openxmlformats.org/drawingml/2006/main">
              <a:ext uri="{FF2B5EF4-FFF2-40B4-BE49-F238E27FC236}">
                <a16:creationId xmlns:a16="http://schemas.microsoft.com/office/drawing/2014/main" id="{00C8FF01-3734-4943-9060-9C13CC9C4D55}"/>
              </a:ext>
            </a:extLst>
          </p:cNvPr>
          <p:cNvSpPr>
            <a:spLocks xmlns:a="http://schemas.openxmlformats.org/drawingml/2006/main" noGrp="1"/>
          </p:cNvSpPr>
          <p:nvPr/>
        </p:nvSpPr>
        <p:spPr>
          <a:xfrm xmlns:a="http://schemas.openxmlformats.org/drawingml/2006/main">
            <a:off x="736092" y="4731068"/>
            <a:ext cx="3007850"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defRPr sz="1050" b="1">
                <a:solidFill>
                  <a:srgbClr val="C43B00"/>
                </a:solidFill>
              </a:defRPr>
            </a:pPr>
            <a:r>
              <a:rPr sz="1050" b="1">
                <a:solidFill>
                  <a:srgbClr val="C43B00"/>
                </a:solidFill>
                <a:latin typeface="+mn-lt"/>
                <a:ea typeface="+mn-lt"/>
                <a:cs typeface="+mn-lt"/>
              </a:rPr>
              <a:t>ROBUST UNDER CORRUPTION</a:t>
            </a:r>
            <a:endParaRPr sz="1050" b="1">
              <a:solidFill>
                <a:srgbClr val="C43B00"/>
              </a:solidFill>
              <a:latin typeface="+mn-lt"/>
              <a:ea typeface="+mn-lt"/>
              <a:cs typeface="+mn-lt"/>
            </a:endParaRPr>
          </a:p>
        </p:txBody>
      </p:sp>
      <p:sp>
        <p:nvSpPr>
          <p:cNvPr id="11" name="TextBox 11">
            <a:extLst xmlns:a="http://schemas.openxmlformats.org/drawingml/2006/main">
              <a:ext uri="{FF2B5EF4-FFF2-40B4-BE49-F238E27FC236}">
                <a16:creationId xmlns:a16="http://schemas.microsoft.com/office/drawing/2014/main" id="{B4841B27-04E5-4581-9E25-71A4CF1CB33C}"/>
              </a:ext>
            </a:extLst>
          </p:cNvPr>
          <p:cNvSpPr>
            <a:spLocks xmlns:a="http://schemas.openxmlformats.org/drawingml/2006/main" noGrp="1"/>
          </p:cNvSpPr>
          <p:nvPr/>
        </p:nvSpPr>
        <p:spPr>
          <a:xfrm xmlns:a="http://schemas.openxmlformats.org/drawingml/2006/main">
            <a:off x="734568" y="5060632"/>
            <a:ext cx="5747956" cy="93230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lnSpc>
                <a:spcPts val="2400"/>
              </a:lnSpc>
              <a:buNone/>
              <a:defRPr sz="1350" b="1">
                <a:solidFill>
                  <a:srgbClr val="2C2927"/>
                </a:solidFill>
              </a:defRPr>
            </a:pPr>
            <a:r>
              <a:rPr sz="1350" b="1">
                <a:solidFill>
                  <a:srgbClr val="2C2927"/>
                </a:solidFill>
                <a:latin typeface="+mn-lt"/>
                <a:ea typeface="+mn-lt"/>
                <a:cs typeface="+mn-lt"/>
              </a:rPr>
              <a:t>ConDyGNet degrades more slowly than TimeFilter and MSGNet.</a:t>
            </a:r>
            <a:endParaRPr sz="1350" b="1">
              <a:solidFill>
                <a:srgbClr val="2C2927"/>
              </a:solidFill>
              <a:latin typeface="+mn-lt"/>
              <a:ea typeface="+mn-lt"/>
              <a:cs typeface="+mn-lt"/>
            </a:endParaRPr>
          </a:p>
          <a:p xmlns:a="http://schemas.openxmlformats.org/drawingml/2006/main">
            <a:pPr algn="l">
              <a:lnSpc>
                <a:spcPts val="2400"/>
              </a:lnSpc>
              <a:buNone/>
              <a:defRPr sz="1350" b="1">
                <a:solidFill>
                  <a:srgbClr val="2C2927"/>
                </a:solidFill>
              </a:defRPr>
            </a:pPr>
            <a:r>
              <a:rPr sz="1350" b="1">
                <a:solidFill>
                  <a:srgbClr val="2C2927"/>
                </a:solidFill>
                <a:latin typeface="+mn-lt"/>
                <a:ea typeface="+mn-lt"/>
                <a:cs typeface="+mn-lt"/>
              </a:rPr>
              <a:t>Together, the three studies support adaptation inside</a:t>
            </a:r>
            <a:endParaRPr sz="1350" b="1">
              <a:solidFill>
                <a:srgbClr val="2C2927"/>
              </a:solidFill>
              <a:latin typeface="+mn-lt"/>
              <a:ea typeface="+mn-lt"/>
              <a:cs typeface="+mn-lt"/>
            </a:endParaRPr>
          </a:p>
          <a:p xmlns:a="http://schemas.openxmlformats.org/drawingml/2006/main">
            <a:pPr algn="l">
              <a:lnSpc>
                <a:spcPts val="2400"/>
              </a:lnSpc>
              <a:buNone/>
              <a:defRPr sz="1350" b="1">
                <a:solidFill>
                  <a:srgbClr val="2C2927"/>
                </a:solidFill>
              </a:defRPr>
            </a:pPr>
            <a:r>
              <a:rPr sz="1350" b="1">
                <a:solidFill>
                  <a:srgbClr val="2C2927"/>
                </a:solidFill>
                <a:latin typeface="+mn-lt"/>
                <a:ea typeface="+mn-lt"/>
                <a:cs typeface="+mn-lt"/>
              </a:rPr>
              <a:t>a compact structural subspace.</a:t>
            </a:r>
            <a:endParaRPr sz="1350" b="1">
              <a:solidFill>
                <a:srgbClr val="2C2927"/>
              </a:solidFill>
              <a:latin typeface="+mn-lt"/>
              <a:ea typeface="+mn-lt"/>
              <a:cs typeface="+mn-lt"/>
            </a:endParaRPr>
          </a:p>
        </p:txBody>
      </p:sp>
      <p:sp>
        <p:nvSpPr>
          <p:cNvPr id="13" name="TextBox 13">
            <a:extLst xmlns:a="http://schemas.openxmlformats.org/drawingml/2006/main">
              <a:ext uri="{FF2B5EF4-FFF2-40B4-BE49-F238E27FC236}">
                <a16:creationId xmlns:a16="http://schemas.microsoft.com/office/drawing/2014/main" id="{A1A771E0-DC90-463C-9458-6F97E591BEE3}"/>
              </a:ext>
            </a:extLst>
          </p:cNvPr>
          <p:cNvSpPr>
            <a:spLocks xmlns:a="http://schemas.openxmlformats.org/drawingml/2006/main" noGrp="1"/>
          </p:cNvSpPr>
          <p:nvPr/>
        </p:nvSpPr>
        <p:spPr>
          <a:xfrm xmlns:a="http://schemas.openxmlformats.org/drawingml/2006/main">
            <a:off x="7328154" y="1184910"/>
            <a:ext cx="2270394"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defRPr sz="1050" b="1">
                <a:solidFill>
                  <a:srgbClr val="C43B00"/>
                </a:solidFill>
              </a:defRPr>
            </a:pPr>
            <a:r>
              <a:rPr sz="1050" b="1">
                <a:solidFill>
                  <a:srgbClr val="C43B00"/>
                </a:solidFill>
                <a:latin typeface="+mn-lt"/>
                <a:ea typeface="+mn-lt"/>
                <a:cs typeface="+mn-lt"/>
              </a:rPr>
              <a:t>02 · RANK CONTROLS CAPACITY</a:t>
            </a:r>
            <a:endParaRPr sz="1050" b="1">
              <a:solidFill>
                <a:srgbClr val="C43B00"/>
              </a:solidFill>
              <a:latin typeface="+mn-lt"/>
              <a:ea typeface="+mn-lt"/>
              <a:cs typeface="+mn-lt"/>
            </a:endParaRPr>
          </a:p>
        </p:txBody>
      </p:sp>
      <p:sp>
        <p:nvSpPr>
          <p:cNvPr id="14" name="Rectangle 14">
            <a:extLst xmlns:a="http://schemas.openxmlformats.org/drawingml/2006/main">
              <a:ext uri="{FF2B5EF4-FFF2-40B4-BE49-F238E27FC236}">
                <a16:creationId xmlns:a16="http://schemas.microsoft.com/office/drawing/2014/main" id="{B764D558-2725-4ED5-8ED1-E7E1AF32466A}"/>
              </a:ext>
            </a:extLst>
          </p:cNvPr>
          <p:cNvSpPr>
            <a:spLocks xmlns:a="http://schemas.openxmlformats.org/drawingml/2006/main" noGrp="1"/>
          </p:cNvSpPr>
          <p:nvPr/>
        </p:nvSpPr>
        <p:spPr>
          <a:xfrm xmlns:a="http://schemas.openxmlformats.org/drawingml/2006/main">
            <a:off x="7334250" y="1428750"/>
            <a:ext cx="4362450" cy="1752600"/>
          </a:xfrm>
          <a:prstGeom xmlns:a="http://schemas.openxmlformats.org/drawingml/2006/main" prst="rect">
            <a:avLst/>
          </a:prstGeom>
          <a:solidFill xmlns:a="http://schemas.openxmlformats.org/drawingml/2006/main">
            <a:srgbClr val="FFFFFF"/>
          </a:solidFill>
          <a:ln xmlns:a="http://schemas.openxmlformats.org/drawingml/2006/main" w="9525">
            <a:solidFill>
              <a:schemeClr val="accent5"/>
            </a:solidFill>
          </a:ln>
        </p:spPr>
      </p:sp>
      <p:pic>
        <p:nvPicPr>
          <p:cNvPr id="37" name="Image 15"/>
          <p:cNvPicPr>
            <a:picLocks xmlns:a="http://schemas.openxmlformats.org/drawingml/2006/main" noChangeAspect="1"/>
          </p:cNvPicPr>
          <p:nvPr/>
        </p:nvPicPr>
        <p:blipFill>
          <a:blip xmlns:r="http://schemas.openxmlformats.org/officeDocument/2006/relationships" xmlns:a="http://schemas.openxmlformats.org/drawingml/2006/main" r:embed="R38f08e9dc0b14873"/>
          <a:stretch xmlns:a="http://schemas.openxmlformats.org/drawingml/2006/main">
            <a:fillRect l="0" t="0" r="0" b="0"/>
          </a:stretch>
        </p:blipFill>
        <p:spPr>
          <a:xfrm xmlns:a="http://schemas.openxmlformats.org/drawingml/2006/main">
            <a:off x="7583225" y="1524000"/>
            <a:ext cx="3864500" cy="1562100"/>
          </a:xfrm>
          <a:prstGeom xmlns:a="http://schemas.openxmlformats.org/drawingml/2006/main" prst="rect">
            <a:avLst/>
          </a:prstGeom>
        </p:spPr>
      </p:pic>
      <p:sp>
        <p:nvSpPr>
          <p:cNvPr id="16" name="TextBox 16">
            <a:extLst xmlns:a="http://schemas.openxmlformats.org/drawingml/2006/main">
              <a:ext uri="{FF2B5EF4-FFF2-40B4-BE49-F238E27FC236}">
                <a16:creationId xmlns:a16="http://schemas.microsoft.com/office/drawing/2014/main" id="{8DBE1AFF-F04E-4FD3-A162-C6460BCEBA41}"/>
              </a:ext>
            </a:extLst>
          </p:cNvPr>
          <p:cNvSpPr>
            <a:spLocks xmlns:a="http://schemas.openxmlformats.org/drawingml/2006/main" noGrp="1"/>
          </p:cNvSpPr>
          <p:nvPr/>
        </p:nvSpPr>
        <p:spPr>
          <a:xfrm xmlns:a="http://schemas.openxmlformats.org/drawingml/2006/main">
            <a:off x="7328154" y="3280410"/>
            <a:ext cx="3919614"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defRPr sz="1200" b="0">
                <a:solidFill>
                  <a:srgbClr val="37322F"/>
                </a:solidFill>
              </a:defRPr>
            </a:pPr>
            <a:r>
              <a:rPr sz="1200" b="0">
                <a:solidFill>
                  <a:srgbClr val="37322F"/>
                </a:solidFill>
                <a:latin typeface="+mn-lt"/>
                <a:ea typeface="+mn-lt"/>
                <a:cs typeface="+mn-lt"/>
              </a:rPr>
              <a:t>R ≈ 16 balances fit and noisy degrees of freedom.</a:t>
            </a:r>
            <a:endParaRPr sz="1200" b="0">
              <a:solidFill>
                <a:srgbClr val="37322F"/>
              </a:solidFill>
              <a:latin typeface="+mn-lt"/>
              <a:ea typeface="+mn-lt"/>
              <a:cs typeface="+mn-lt"/>
            </a:endParaRPr>
          </a:p>
        </p:txBody>
      </p:sp>
      <p:sp>
        <p:nvSpPr>
          <p:cNvPr id="18" name="TextBox 18">
            <a:extLst xmlns:a="http://schemas.openxmlformats.org/drawingml/2006/main">
              <a:ext uri="{FF2B5EF4-FFF2-40B4-BE49-F238E27FC236}">
                <a16:creationId xmlns:a16="http://schemas.microsoft.com/office/drawing/2014/main" id="{B4511E0F-4513-4F64-BD26-AF6D6F08240F}"/>
              </a:ext>
            </a:extLst>
          </p:cNvPr>
          <p:cNvSpPr>
            <a:spLocks xmlns:a="http://schemas.openxmlformats.org/drawingml/2006/main" noGrp="1"/>
          </p:cNvSpPr>
          <p:nvPr/>
        </p:nvSpPr>
        <p:spPr>
          <a:xfrm xmlns:a="http://schemas.openxmlformats.org/drawingml/2006/main">
            <a:off x="7328154" y="3699510"/>
            <a:ext cx="2324161" cy="23469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defRPr sz="1050" b="1">
                <a:solidFill>
                  <a:srgbClr val="C43B00"/>
                </a:solidFill>
              </a:defRPr>
            </a:pPr>
            <a:r>
              <a:rPr sz="1050" b="1">
                <a:solidFill>
                  <a:srgbClr val="C43B00"/>
                </a:solidFill>
                <a:latin typeface="+mn-lt"/>
                <a:ea typeface="+mn-lt"/>
                <a:cs typeface="+mn-lt"/>
              </a:rPr>
              <a:t>03 · ROUTING REMAINS SELECTIVE</a:t>
            </a:r>
            <a:endParaRPr sz="1050" b="1">
              <a:solidFill>
                <a:srgbClr val="C43B00"/>
              </a:solidFill>
              <a:latin typeface="+mn-lt"/>
              <a:ea typeface="+mn-lt"/>
              <a:cs typeface="+mn-lt"/>
            </a:endParaRPr>
          </a:p>
        </p:txBody>
      </p:sp>
      <p:sp>
        <p:nvSpPr>
          <p:cNvPr id="19" name="Rectangle 19">
            <a:extLst xmlns:a="http://schemas.openxmlformats.org/drawingml/2006/main">
              <a:ext uri="{FF2B5EF4-FFF2-40B4-BE49-F238E27FC236}">
                <a16:creationId xmlns:a16="http://schemas.microsoft.com/office/drawing/2014/main" id="{C0C3B7FF-A81A-4EFC-91DA-D8B39826DD73}"/>
              </a:ext>
            </a:extLst>
          </p:cNvPr>
          <p:cNvSpPr>
            <a:spLocks xmlns:a="http://schemas.openxmlformats.org/drawingml/2006/main" noGrp="1"/>
          </p:cNvSpPr>
          <p:nvPr/>
        </p:nvSpPr>
        <p:spPr>
          <a:xfrm xmlns:a="http://schemas.openxmlformats.org/drawingml/2006/main">
            <a:off x="7334250" y="3943350"/>
            <a:ext cx="4362450" cy="2190750"/>
          </a:xfrm>
          <a:prstGeom xmlns:a="http://schemas.openxmlformats.org/drawingml/2006/main" prst="rect">
            <a:avLst/>
          </a:prstGeom>
          <a:solidFill xmlns:a="http://schemas.openxmlformats.org/drawingml/2006/main">
            <a:srgbClr val="FFFFFF"/>
          </a:solidFill>
          <a:ln xmlns:a="http://schemas.openxmlformats.org/drawingml/2006/main" w="9525">
            <a:solidFill>
              <a:schemeClr val="accent5"/>
            </a:solidFill>
          </a:ln>
        </p:spPr>
      </p:sp>
      <p:pic>
        <p:nvPicPr>
          <p:cNvPr id="41" name="Image 20"/>
          <p:cNvPicPr>
            <a:picLocks xmlns:a="http://schemas.openxmlformats.org/drawingml/2006/main" noChangeAspect="1"/>
          </p:cNvPicPr>
          <p:nvPr/>
        </p:nvPicPr>
        <p:blipFill>
          <a:blip xmlns:r="http://schemas.openxmlformats.org/officeDocument/2006/relationships" xmlns:a="http://schemas.openxmlformats.org/drawingml/2006/main" r:embed="R47eae2ad1ee74321"/>
          <a:stretch xmlns:a="http://schemas.openxmlformats.org/drawingml/2006/main">
            <a:fillRect l="0" t="0" r="0" b="0"/>
          </a:stretch>
        </p:blipFill>
        <p:spPr>
          <a:xfrm xmlns:a="http://schemas.openxmlformats.org/drawingml/2006/main">
            <a:off x="7686795" y="4038600"/>
            <a:ext cx="3657361" cy="2000250"/>
          </a:xfrm>
          <a:prstGeom xmlns:a="http://schemas.openxmlformats.org/drawingml/2006/main" prst="rect">
            <a:avLst/>
          </a:prstGeom>
        </p:spPr>
      </p:pic>
      <p:sp>
        <p:nvSpPr>
          <p:cNvPr id="22" name="Line 22">
            <a:extLst xmlns:a="http://schemas.openxmlformats.org/drawingml/2006/main">
              <a:ext uri="{FF2B5EF4-FFF2-40B4-BE49-F238E27FC236}">
                <a16:creationId xmlns:a16="http://schemas.microsoft.com/office/drawing/2014/main" id="{85636B02-A0C4-4641-95B0-E0AB7CECDE53}"/>
              </a:ext>
            </a:extLst>
          </p:cNvPr>
          <p:cNvSpPr>
            <a:spLocks xmlns:a="http://schemas.openxmlformats.org/drawingml/2006/main" noGrp="1"/>
          </p:cNvSpPr>
          <p:nvPr/>
        </p:nvSpPr>
        <p:spPr>
          <a:xfrm xmlns:a="http://schemas.openxmlformats.org/drawingml/2006/main">
            <a:off x="495300" y="6362700"/>
            <a:ext cx="11201400" cy="9525"/>
          </a:xfrm>
          <a:custGeom xmlns:a="http://schemas.openxmlformats.org/drawingml/2006/main">
            <a:rect l="l" t="t" r="r" b="b"/>
            <a:pathLst>
              <a:path w="11201400" h="9525">
                <a:moveTo>
                  <a:pt x="0" y="0"/>
                </a:moveTo>
                <a:lnTo>
                  <a:pt x="11201400" y="0"/>
                </a:lnTo>
              </a:path>
            </a:pathLst>
          </a:custGeom>
          <a:noFill xmlns:a="http://schemas.openxmlformats.org/drawingml/2006/main"/>
          <a:ln xmlns:a="http://schemas.openxmlformats.org/drawingml/2006/main" w="9525">
            <a:solidFill>
              <a:schemeClr val="accent5"/>
            </a:solidFill>
          </a:ln>
        </p:spPr>
      </p:sp>
      <p:sp>
        <p:nvSpPr>
          <p:cNvPr id="24" name="TextBox 24">
            <a:extLst xmlns:a="http://schemas.openxmlformats.org/drawingml/2006/main">
              <a:ext uri="{FF2B5EF4-FFF2-40B4-BE49-F238E27FC236}">
                <a16:creationId xmlns:a16="http://schemas.microsoft.com/office/drawing/2014/main" id="{23ECCFC3-B384-4489-8B81-AB4A56D61BCD}"/>
              </a:ext>
            </a:extLst>
          </p:cNvPr>
          <p:cNvSpPr>
            <a:spLocks xmlns:a="http://schemas.openxmlformats.org/drawingml/2006/main" noGrp="1"/>
          </p:cNvSpPr>
          <p:nvPr/>
        </p:nvSpPr>
        <p:spPr>
          <a:xfrm xmlns:a="http://schemas.openxmlformats.org/drawingml/2006/main">
            <a:off x="11528106" y="6497002"/>
            <a:ext cx="173928" cy="205359"/>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r">
              <a:buNone/>
            </a:pPr>
            <a:r>
              <a:rPr sz="1050" b="1">
                <a:solidFill>
                  <a:schemeClr val="accent1"/>
                </a:solidFill>
                <a:latin typeface="+mn-lt"/>
                <a:ea typeface="+mn-lt"/>
                <a:cs typeface="+mn-lt"/>
              </a:rPr>
              <a:t>07</a:t>
            </a:r>
            <a:endParaRPr sz="1050" b="1">
              <a:solidFill>
                <a:schemeClr val="accent1"/>
              </a:solidFill>
              <a:latin typeface="+mn-lt"/>
              <a:ea typeface="+mn-lt"/>
              <a:cs typeface="+mn-lt"/>
            </a:endParaRPr>
          </a:p>
        </p:txBody>
      </p:sp>
      <p:pic>
        <p:nvPicPr>
          <p:cNvPr id="44" name="图片 44"/>
          <p:cNvPicPr>
            <a:picLocks xmlns:a="http://schemas.openxmlformats.org/drawingml/2006/main" noChangeAspect="1"/>
          </p:cNvPicPr>
          <p:nvPr/>
        </p:nvPicPr>
        <p:blipFill>
          <a:blip xmlns:r="http://schemas.openxmlformats.org/officeDocument/2006/relationships" xmlns:a="http://schemas.openxmlformats.org/drawingml/2006/main" r:embed="R8732ef11977f4a2d"/>
          <a:stretch xmlns:a="http://schemas.openxmlformats.org/drawingml/2006/main">
            <a:fillRect l="0" t="0" r="0" b="0"/>
          </a:stretch>
        </p:blipFill>
        <p:spPr>
          <a:xfrm xmlns:a="http://schemas.openxmlformats.org/drawingml/2006/main">
            <a:off x="1775809" y="1466850"/>
            <a:ext cx="4011232" cy="2857500"/>
          </a:xfrm>
          <a:prstGeom xmlns:a="http://schemas.openxmlformats.org/drawingml/2006/main" prst="rect">
            <a:avLst/>
          </a:prstGeom>
        </p:spPr>
      </p:pic>
    </p:spTree>
    <p:extLst>
      <p:ext uri="{BB962C8B-B14F-4D97-AF65-F5344CB8AC3E}">
        <p14:creationId xmlns:p14="http://schemas.microsoft.com/office/powerpoint/2010/main" val="225095122"/>
      </p:ext>
    </p:extLst>
  </p:cSld>
</p:sld>
</file>

<file path=ppt/slides/slide8.xml><?xml version="1.0" encoding="utf-8"?>
<p:sld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
        <p:nvSpPr>
          <p:cNvPr id="2" name="Rectangle 2">
            <a:extLst xmlns:a="http://schemas.openxmlformats.org/drawingml/2006/main">
              <a:ext uri="{FF2B5EF4-FFF2-40B4-BE49-F238E27FC236}">
                <a16:creationId xmlns:a16="http://schemas.microsoft.com/office/drawing/2014/main" id="{77A5A32C-73B5-45D1-9C92-C29ECBD97A94}"/>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chemeClr val="accent1"/>
          </a:solidFill>
          <a:ln xmlns:a="http://schemas.openxmlformats.org/drawingml/2006/main">
            <a:noFill/>
          </a:ln>
        </p:spPr>
      </p:sp>
      <p:sp>
        <p:nvSpPr>
          <p:cNvPr id="3" name="TextBox 3">
            <a:extLst xmlns:a="http://schemas.openxmlformats.org/drawingml/2006/main">
              <a:ext uri="{FF2B5EF4-FFF2-40B4-BE49-F238E27FC236}">
                <a16:creationId xmlns:a16="http://schemas.microsoft.com/office/drawing/2014/main" id="{CC2938A7-0208-4B84-854E-76A65E106030}"/>
              </a:ext>
            </a:extLst>
          </p:cNvPr>
          <p:cNvSpPr>
            <a:spLocks xmlns:a="http://schemas.openxmlformats.org/drawingml/2006/main" noGrp="1"/>
          </p:cNvSpPr>
          <p:nvPr/>
        </p:nvSpPr>
        <p:spPr>
          <a:xfrm xmlns:a="http://schemas.openxmlformats.org/drawingml/2006/main">
            <a:off x="716280" y="561975"/>
            <a:ext cx="3194050" cy="23050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defRPr sz="1200" b="1">
                <a:solidFill>
                  <a:srgbClr val="C43B00"/>
                </a:solidFill>
              </a:defRPr>
            </a:pPr>
            <a:r>
              <a:rPr sz="1200" b="1">
                <a:solidFill>
                  <a:srgbClr val="C43B00"/>
                </a:solidFill>
                <a:latin typeface="+mn-lt"/>
                <a:ea typeface="+mn-lt"/>
                <a:cs typeface="+mn-lt"/>
              </a:rPr>
              <a:t>IJCAI–ECAI 2026 · ORAL PRESENTATION</a:t>
            </a:r>
            <a:endParaRPr sz="1500" b="1">
              <a:solidFill>
                <a:schemeClr val="accent1"/>
              </a:solidFill>
              <a:latin typeface="+mn-lt"/>
              <a:ea typeface="+mn-lt"/>
              <a:cs typeface="+mn-lt"/>
            </a:endParaRPr>
          </a:p>
        </p:txBody>
      </p:sp>
      <p:pic>
        <p:nvPicPr>
          <p:cNvPr id="18" name="Image 5"/>
          <p:cNvPicPr>
            <a:picLocks xmlns:a="http://schemas.openxmlformats.org/drawingml/2006/main" noChangeAspect="1"/>
          </p:cNvPicPr>
          <p:nvPr/>
        </p:nvPicPr>
        <p:blipFill>
          <a:blip xmlns:r="http://schemas.openxmlformats.org/officeDocument/2006/relationships" xmlns:a="http://schemas.openxmlformats.org/drawingml/2006/main" r:embed="R41ed08f908e14c0f"/>
          <a:stretch xmlns:a="http://schemas.openxmlformats.org/drawingml/2006/main">
            <a:fillRect l="0" t="0" r="0" b="0"/>
          </a:stretch>
        </p:blipFill>
        <p:spPr>
          <a:xfrm xmlns:a="http://schemas.openxmlformats.org/drawingml/2006/main">
            <a:off x="9525000" y="250845"/>
            <a:ext cx="2076450" cy="793711"/>
          </a:xfrm>
          <a:prstGeom xmlns:a="http://schemas.openxmlformats.org/drawingml/2006/main" prst="rect">
            <a:avLst/>
          </a:prstGeom>
        </p:spPr>
      </p:pic>
      <p:sp>
        <p:nvSpPr>
          <p:cNvPr id="6" name="TextBox 6">
            <a:extLst xmlns:a="http://schemas.openxmlformats.org/drawingml/2006/main">
              <a:ext uri="{FF2B5EF4-FFF2-40B4-BE49-F238E27FC236}">
                <a16:creationId xmlns:a16="http://schemas.microsoft.com/office/drawing/2014/main" id="{AAB11ED6-7649-466B-AD86-C0F3480182EC}"/>
              </a:ext>
            </a:extLst>
          </p:cNvPr>
          <p:cNvSpPr>
            <a:spLocks xmlns:a="http://schemas.openxmlformats.org/drawingml/2006/main" noGrp="1"/>
          </p:cNvSpPr>
          <p:nvPr/>
        </p:nvSpPr>
        <p:spPr>
          <a:xfrm xmlns:a="http://schemas.openxmlformats.org/drawingml/2006/main">
            <a:off x="704850" y="1600200"/>
            <a:ext cx="10001250" cy="1047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ctr">
            <a:spAutoFit/>
          </a:bodyPr>
          <a:lstStyle xmlns:a="http://schemas.openxmlformats.org/drawingml/2006/main"/>
          <a:p xmlns:a="http://schemas.openxmlformats.org/drawingml/2006/main">
            <a:pPr algn="l">
              <a:lnSpc>
                <a:spcPts val="4200"/>
              </a:lnSpc>
              <a:buNone/>
              <a:defRPr sz="5400" b="1">
                <a:solidFill>
                  <a:srgbClr val="2C2927"/>
                </a:solidFill>
              </a:defRPr>
            </a:pPr>
            <a:r>
              <a:rPr sz="5400" b="1">
                <a:solidFill>
                  <a:srgbClr val="2C2927"/>
                </a:solidFill>
                <a:latin typeface="+mn-lt"/>
                <a:ea typeface="+mn-lt"/>
                <a:cs typeface="+mn-lt"/>
              </a:rPr>
              <a:t>Thank you</a:t>
            </a:r>
            <a:endParaRPr sz="4200" b="1">
              <a:solidFill>
                <a:schemeClr val="dk1"/>
              </a:solidFill>
              <a:latin typeface="+mn-lt"/>
              <a:ea typeface="+mn-lt"/>
              <a:cs typeface="+mn-lt"/>
            </a:endParaRPr>
          </a:p>
        </p:txBody>
      </p:sp>
      <p:sp>
        <p:nvSpPr>
          <p:cNvPr id="7" name="Line 7">
            <a:extLst xmlns:a="http://schemas.openxmlformats.org/drawingml/2006/main">
              <a:ext uri="{FF2B5EF4-FFF2-40B4-BE49-F238E27FC236}">
                <a16:creationId xmlns:a16="http://schemas.microsoft.com/office/drawing/2014/main" id="{ECEA7015-9C33-4851-8539-0123C06DF816}"/>
              </a:ext>
            </a:extLst>
          </p:cNvPr>
          <p:cNvSpPr>
            <a:spLocks xmlns:a="http://schemas.openxmlformats.org/drawingml/2006/main" noGrp="1"/>
          </p:cNvSpPr>
          <p:nvPr/>
        </p:nvSpPr>
        <p:spPr>
          <a:xfrm xmlns:a="http://schemas.openxmlformats.org/drawingml/2006/main">
            <a:off x="723900" y="3181350"/>
            <a:ext cx="10001250" cy="9525"/>
          </a:xfrm>
          <a:custGeom xmlns:a="http://schemas.openxmlformats.org/drawingml/2006/main">
            <a:rect l="l" t="t" r="r" b="b"/>
            <a:pathLst>
              <a:path w="10001250" h="9525">
                <a:moveTo>
                  <a:pt x="0" y="0"/>
                </a:moveTo>
                <a:lnTo>
                  <a:pt x="10001250" y="0"/>
                </a:lnTo>
              </a:path>
            </a:pathLst>
          </a:custGeom>
          <a:noFill xmlns:a="http://schemas.openxmlformats.org/drawingml/2006/main"/>
          <a:ln xmlns:a="http://schemas.openxmlformats.org/drawingml/2006/main" w="38100">
            <a:solidFill>
              <a:schemeClr val="accent1"/>
            </a:solidFill>
          </a:ln>
        </p:spPr>
      </p:sp>
      <p:sp>
        <p:nvSpPr>
          <p:cNvPr id="9" name="TextBox 9">
            <a:extLst xmlns:a="http://schemas.openxmlformats.org/drawingml/2006/main">
              <a:ext uri="{FF2B5EF4-FFF2-40B4-BE49-F238E27FC236}">
                <a16:creationId xmlns:a16="http://schemas.microsoft.com/office/drawing/2014/main" id="{C6E7CDB6-48D6-45B7-93FA-B1D181F97121}"/>
              </a:ext>
            </a:extLst>
          </p:cNvPr>
          <p:cNvSpPr>
            <a:spLocks xmlns:a="http://schemas.openxmlformats.org/drawingml/2006/main" noGrp="1"/>
          </p:cNvSpPr>
          <p:nvPr/>
        </p:nvSpPr>
        <p:spPr>
          <a:xfrm xmlns:a="http://schemas.openxmlformats.org/drawingml/2006/main">
            <a:off x="704850" y="3362325"/>
            <a:ext cx="828675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ctr">
            <a:spAutoFit/>
          </a:bodyPr>
          <a:lstStyle xmlns:a="http://schemas.openxmlformats.org/drawingml/2006/main"/>
          <a:p xmlns:a="http://schemas.openxmlformats.org/drawingml/2006/main">
            <a:pPr algn="l">
              <a:lnSpc>
                <a:spcPts val="2400"/>
              </a:lnSpc>
              <a:buNone/>
              <a:defRPr sz="2400" b="1">
                <a:solidFill>
                  <a:srgbClr val="C43B00"/>
                </a:solidFill>
              </a:defRPr>
            </a:pPr>
            <a:r>
              <a:rPr sz="2400" b="1" i="1">
                <a:solidFill>
                  <a:srgbClr val="C43B00"/>
                </a:solidFill>
                <a:latin typeface="+mn-lt"/>
                <a:ea typeface="+mn-lt"/>
                <a:cs typeface="+mn-lt"/>
              </a:rPr>
              <a:t>Questions &amp; discussion</a:t>
            </a:r>
            <a:endParaRPr sz="1950" i="1">
              <a:solidFill>
                <a:schemeClr val="accent1"/>
              </a:solidFill>
              <a:latin typeface="+mn-lt"/>
              <a:ea typeface="+mn-lt"/>
              <a:cs typeface="+mn-lt"/>
            </a:endParaRPr>
          </a:p>
        </p:txBody>
      </p:sp>
      <p:sp>
        <p:nvSpPr>
          <p:cNvPr id="11" name="TextBox 11">
            <a:extLst xmlns:a="http://schemas.openxmlformats.org/drawingml/2006/main">
              <a:ext uri="{FF2B5EF4-FFF2-40B4-BE49-F238E27FC236}">
                <a16:creationId xmlns:a16="http://schemas.microsoft.com/office/drawing/2014/main" id="{316AFD19-36BE-46DC-A57A-1BFB6D87AABD}"/>
              </a:ext>
            </a:extLst>
          </p:cNvPr>
          <p:cNvSpPr>
            <a:spLocks xmlns:a="http://schemas.openxmlformats.org/drawingml/2006/main" noGrp="1"/>
          </p:cNvSpPr>
          <p:nvPr/>
        </p:nvSpPr>
        <p:spPr>
          <a:xfrm xmlns:a="http://schemas.openxmlformats.org/drawingml/2006/main">
            <a:off x="704850" y="4610100"/>
            <a:ext cx="9334500" cy="40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ctr">
            <a:spAutoFit/>
          </a:bodyPr>
          <a:lstStyle xmlns:a="http://schemas.openxmlformats.org/drawingml/2006/main"/>
          <a:p xmlns:a="http://schemas.openxmlformats.org/drawingml/2006/main">
            <a:pPr algn="l">
              <a:buNone/>
              <a:defRPr sz="1800" b="1">
                <a:solidFill>
                  <a:srgbClr val="2C2927"/>
                </a:solidFill>
                <a:latin typeface="Arial"/>
                <a:ea typeface="Arial"/>
                <a:cs typeface="Arial"/>
              </a:defRPr>
            </a:pPr>
            <a:r>
              <a:rPr sz="1800" b="1">
                <a:solidFill>
                  <a:srgbClr val="2C2927"/>
                </a:solidFill>
                <a:latin typeface="Arial"/>
                <a:ea typeface="Arial"/>
                <a:cs typeface="Arial"/>
              </a:rPr>
              <a:t>Zhenzhou Li¹ · Xiang Li²˒³ · Zhibin Niu¹*</a:t>
            </a:r>
            <a:endParaRPr sz="1950" b="1">
              <a:solidFill>
                <a:schemeClr val="dk1"/>
              </a:solidFill>
              <a:latin typeface="+mn-lt"/>
              <a:ea typeface="+mn-lt"/>
              <a:cs typeface="+mn-lt"/>
            </a:endParaRPr>
          </a:p>
        </p:txBody>
      </p:sp>
      <p:sp>
        <p:nvSpPr>
          <p:cNvPr id="12" name="TextBox 12">
            <a:extLst xmlns:a="http://schemas.openxmlformats.org/drawingml/2006/main">
              <a:ext uri="{FF2B5EF4-FFF2-40B4-BE49-F238E27FC236}">
                <a16:creationId xmlns:a16="http://schemas.microsoft.com/office/drawing/2014/main" id="{2884057E-BF51-4967-8444-CE247EE66073}"/>
              </a:ext>
            </a:extLst>
          </p:cNvPr>
          <p:cNvSpPr>
            <a:spLocks xmlns:a="http://schemas.openxmlformats.org/drawingml/2006/main" noGrp="1"/>
          </p:cNvSpPr>
          <p:nvPr/>
        </p:nvSpPr>
        <p:spPr>
          <a:xfrm xmlns:a="http://schemas.openxmlformats.org/drawingml/2006/main">
            <a:off x="704850" y="5086350"/>
            <a:ext cx="981075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defRPr sz="1275" b="0">
                <a:solidFill>
                  <a:srgbClr val="5B5550"/>
                </a:solidFill>
                <a:latin typeface="Arial"/>
                <a:ea typeface="Arial"/>
                <a:cs typeface="Arial"/>
              </a:defRPr>
            </a:pPr>
            <a:r>
              <a:rPr sz="1275" b="0">
                <a:solidFill>
                  <a:srgbClr val="5B5550"/>
                </a:solidFill>
                <a:latin typeface="Arial"/>
                <a:ea typeface="Arial"/>
                <a:cs typeface="Arial"/>
              </a:rPr>
              <a:t>¹ Tianjin University · ² China Iron and Steel Research Institute Group</a:t>
            </a:r>
            <a:endParaRPr sz="1350">
              <a:solidFill>
                <a:srgbClr val="5E5A55"/>
              </a:solidFill>
              <a:latin typeface="+mn-lt"/>
              <a:ea typeface="+mn-lt"/>
              <a:cs typeface="+mn-lt"/>
            </a:endParaRPr>
          </a:p>
          <a:p xmlns:a="http://schemas.openxmlformats.org/drawingml/2006/main">
            <a:pPr algn="l">
              <a:buNone/>
              <a:defRPr sz="1275" b="0">
                <a:solidFill>
                  <a:srgbClr val="5B5550"/>
                </a:solidFill>
                <a:latin typeface="Arial"/>
                <a:ea typeface="Arial"/>
                <a:cs typeface="Arial"/>
              </a:defRPr>
            </a:pPr>
            <a:r>
              <a:rPr sz="1275" b="0">
                <a:solidFill>
                  <a:srgbClr val="5B5550"/>
                </a:solidFill>
                <a:latin typeface="Arial"/>
                <a:ea typeface="Arial"/>
                <a:cs typeface="Arial"/>
              </a:rPr>
              <a:t>³ UC Berkeley</a:t>
            </a:r>
            <a:endParaRPr sz="1350">
              <a:solidFill>
                <a:srgbClr val="5E5A55"/>
              </a:solidFill>
              <a:latin typeface="+mn-lt"/>
              <a:ea typeface="+mn-lt"/>
              <a:cs typeface="+mn-lt"/>
            </a:endParaRPr>
          </a:p>
        </p:txBody>
      </p:sp>
      <p:sp>
        <p:nvSpPr>
          <p:cNvPr id="14" name="TextBox 14">
            <a:extLst xmlns:a="http://schemas.openxmlformats.org/drawingml/2006/main">
              <a:ext uri="{FF2B5EF4-FFF2-40B4-BE49-F238E27FC236}">
                <a16:creationId xmlns:a16="http://schemas.microsoft.com/office/drawing/2014/main" id="{DA16E387-7C93-415F-8704-E8B24BD94287}"/>
              </a:ext>
            </a:extLst>
          </p:cNvPr>
          <p:cNvSpPr>
            <a:spLocks xmlns:a="http://schemas.openxmlformats.org/drawingml/2006/main" noGrp="1"/>
          </p:cNvSpPr>
          <p:nvPr/>
        </p:nvSpPr>
        <p:spPr>
          <a:xfrm xmlns:a="http://schemas.openxmlformats.org/drawingml/2006/main">
            <a:off x="717042" y="6226492"/>
            <a:ext cx="2296311" cy="26403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none" lIns="0" tIns="0" rIns="0" bIns="0" anchor="t">
            <a:spAutoFit/>
          </a:bodyPr>
          <a:lstStyle xmlns:a="http://schemas.openxmlformats.org/drawingml/2006/main"/>
          <a:p xmlns:a="http://schemas.openxmlformats.org/drawingml/2006/main">
            <a:pPr algn="l">
              <a:buNone/>
              <a:defRPr sz="1200" b="0">
                <a:solidFill>
                  <a:srgbClr val="5B5550"/>
                </a:solidFill>
              </a:defRPr>
            </a:pPr>
            <a:r>
              <a:rPr sz="1200" b="0">
                <a:solidFill>
                  <a:srgbClr val="5B5550"/>
                </a:solidFill>
                <a:latin typeface="+mn-lt"/>
                <a:ea typeface="+mn-lt"/>
                <a:cs typeface="+mn-lt"/>
              </a:rPr>
              <a:t>Bremen · 18 August 2026</a:t>
            </a:r>
            <a:endParaRPr sz="1350" b="1">
              <a:solidFill>
                <a:srgbClr val="5E5A55"/>
              </a:solidFill>
              <a:latin typeface="+mn-lt"/>
              <a:ea typeface="+mn-lt"/>
              <a:cs typeface="+mn-lt"/>
            </a:endParaRPr>
          </a:p>
        </p:txBody>
      </p:sp>
    </p:spTree>
    <p:extLst>
      <p:ext uri="{BB962C8B-B14F-4D97-AF65-F5344CB8AC3E}">
        <p14:creationId xmlns:p14="http://schemas.microsoft.com/office/powerpoint/2010/main" val="1230029739"/>
      </p:ext>
    </p:extLst>
  </p:cSld>
</p:sld>
</file>

<file path=ppt/theme/theme1.xml><?xml version="1.0" encoding="utf-8"?>
<a:theme xmlns:a="http://schemas.openxmlformats.org/drawingml/2006/main" name="condygnet_ijcai2026_v3">
  <a:themeElements>
    <a:clrScheme name="condygnet_ijcai2026_v3">
      <a:dk1>
        <a:srgbClr val="171717"/>
      </a:dk1>
      <a:lt1>
        <a:srgbClr val="FAF7F2"/>
      </a:lt1>
      <a:dk2>
        <a:srgbClr val="1F497D"/>
      </a:dk2>
      <a:lt2>
        <a:srgbClr val="FAF7F2"/>
      </a:lt2>
      <a:accent1>
        <a:srgbClr val="BD3800"/>
      </a:accent1>
      <a:accent2>
        <a:srgbClr val="2A78B8"/>
      </a:accent2>
      <a:accent3>
        <a:srgbClr val="F2D8CA"/>
      </a:accent3>
      <a:accent4>
        <a:srgbClr val="BD3800"/>
      </a:accent4>
      <a:accent5>
        <a:srgbClr val="D8CEC4"/>
      </a:accent5>
      <a:accent6>
        <a:srgbClr val="DCEAF5"/>
      </a:accent6>
      <a:hlink>
        <a:srgbClr val="2A78B8"/>
      </a:hlink>
      <a:folHlink>
        <a:srgbClr val="F2D8CA"/>
      </a:folHlink>
    </a:clrScheme>
    <a:fontScheme name="condygnet_ijcai2026_v3">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ondygnet_ijcai2026_v3">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2026-08-14T15:48:59.5070000Z</dcterms:created>
  <dcterms:modified xsi:type="dcterms:W3CDTF">2026-08-14T15:48:59.5070000Z</dcterms:modified>
</coreProperties>
</file>