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a:buNone/>
            </a:pPr>
            <a:r>
              <a:t>Good morning. I am Zhenzhou Li, and today I will present ConDyGNet for multivariate time-series forecasting. In this task, we use past values from many channels to predict their future values. These channels are related to each other, but their relations can also change over time. Our method uses a global low-rank basis to keep the graph stable, while patch-wise routing lets the graph change when the local data changes.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a:buNone/>
            </a:pPr>
            <a:r>
              <a:t>Relations between channels can change over time, so one static graph cannot describe every local pattern. But a fully dynamic graph learned from a short patch also has a problem. A short patch may contain noise, and the model may treat this noise as a real relation. Then graph message passing can make these false relations stronger. Figure one shows this problem. We need a graph that can change with local data, but should still stay close to a reliable global pattern. So our goal is simple: keep local change, but avoid unstable changes in graph structure.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a:buNone/>
            </a:pPr>
            <a:r>
              <a:t>This slide shows the full forecasting process. First, patch embedding turns the input series into local tokens for each channel. Second, constrained structure learning builds a sparse directed graph for each patch. This is the main part of our method. Third, multi-hop graph propagation lets information move between related channels, including direct and indirect relations. Finally, channel-wise temporal attention learns patterns over time, and a linear head gives the final forecast. The key point is that we control the graph before information is passed through it, so noisy edges are less likely to affect later layers.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a:buNone/>
            </a:pPr>
            <a:r>
              <a:t>Now I will explain how we build the reliable graph space. This part is done once using the training data. First, average pooling removes slow trends, so we focus on changes that show relations between channels. Second, cosine similarity turns these signals into a global graph prior. Third, we keep the main rank-R basis patterns. We then use a learnable matrix Q to adjust them, written as E equals E zero Q. The model can still learn and change the basis, but it stays inside a smaller and more reliable graph space instead of searching all channel pairs for every patch.</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a:buNone/>
            </a:pPr>
            <a:r>
              <a:t>The global basis is shared by all patches, but each patch can use it differently. For each channel, the model first reads the local patch features. It then compares the current patch with shared patterns and turns the scores into soft routing weights. The routing weights decide how much each basis pattern should be used. Equation eight gives this main step. After mixing the basis, row-wise top-k selection keeps only the strongest directed relations. A separate branch gives a strength value to each kept edge. So we separate two questions: which edges should exist, and how strong should they be. This makes the graph flexible and stable.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a:buNone/>
            </a:pPr>
            <a:r>
              <a:t>Now let us look at the main forecasting results. We compare ConDyGNet with ten strong baselines from several model types, including GNNs, Transformers, MLPs, CNNs, and linear models. The table gives the average results over eight datasets and four prediction lengths, so it covers many different settings. Since lower MSE and MAE are better, the result is clear: ConDyGNet reaches the best average performance on both measures. This shows that our graph design is useful not only compared with other graph models, but also compared with strong methods from other model types.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a:buNone/>
            </a:pPr>
            <a:r>
              <a:t>We also perform three extra experiments to better understand the method. First, when some input blocks are missing, ConDyGNet drops more slowly than TimeFilter and MSGNet, so the model is more stable with incomplete input. Second, we study the rank R. A small rank may lose useful graph information, while a very large rank gives too much freedom. A value around sixteen gives a good balance. Third, the routing weights focus on a few basis patterns, and these patterns change across patches. This shows that the graph can adapt to local data without changing in a random way. Together, these results support our idea of flexible but controlled dynamic graphs.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a:buNone/>
            </a:pPr>
            <a:r>
              <a:t>That concludes my presentation. To summarize, ConDyGNet lets channel relations change with each local patch, but keeps these changes inside a reliable shared graph space. This gives us both flexibility and stability for multivariate time-series forecasting. Thank you very much for listening. I would be happy to take your questions.</a:t>
            </a:r>
            <a:r>
              <a:rPr lang="en-US"/>
              <a:t/>
            </a:r>
            <a:r>
              <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condygnet_ijcai2026_v3 — Blank">
    <p:spTree>
      <p:nvGrpSpPr>
        <p:cNvPr id="1" name=""/>
        <p:cNvGrpSpPr/>
        <p:nvPr/>
      </p:nvGrpSpPr>
      <p:grpSpPr/>
      <p:sp>
        <p:nvSpPr>
          <p:cNvPr id="2" name="Date Placeholder 1"/>
          <p:cNvSpPr>
            <a:spLocks noGrp="1"/>
          </p:cNvSpPr>
          <p:nvPr>
            <p:ph type="dt" idx="10"/>
          </p:nvPr>
        </p:nvSpPr>
        <p:spPr/>
        <p:txBody>
          <a:bodyPr/>
          <a:lstStyle/>
          <a:p/>
        </p:txBody>
      </p:sp>
      <p:sp>
        <p:nvSpPr>
          <p:cNvPr id="3" name="Footer Placeholder 2"/>
          <p:cNvSpPr>
            <a:spLocks noGrp="1"/>
          </p:cNvSpPr>
          <p:nvPr>
            <p:ph type="ftr" idx="11"/>
          </p:nvPr>
        </p:nvSpPr>
        <p:spPr/>
        <p:txBody>
          <a:bodyPr/>
          <a:lstStyle/>
          <a:p/>
        </p:txBody>
      </p:sp>
      <p:sp>
        <p:nvSpPr>
          <p:cNvPr id="4" name="Slide Number Placeholder 3"/>
          <p:cNvSpPr>
            <a:spLocks noGrp="1"/>
          </p:cNvSpPr>
          <p:nvPr>
            <p:ph type="sldNum" idx="12"/>
          </p:nvPr>
        </p:nvSpPr>
        <p:spPr/>
        <p:txBody>
          <a:bodyPr/>
          <a:lstStyle/>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4" name="Date Placeholder 3"/>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p:txBody>
      </p:sp>
      <p:sp>
        <p:nvSpPr>
          <p:cNvPr id="5" name="Footer Placeholder 4"/>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Slide Number Placeholder 5"/>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57200">
        <a:spcBef>
          <a:spcPct val="0"/>
        </a:spcBef>
        <a:buNone/>
        <a:defRPr sz="2850" kern="1200">
          <a:solidFill>
            <a:schemeClr val="tx1"/>
          </a:solidFill>
          <a:latin typeface="+mj-lt"/>
          <a:ea typeface="+mj-lt"/>
          <a:cs typeface="+mj-lt"/>
        </a:defRPr>
      </a:lvl1pPr>
    </p:titleStyle>
    <p:bodyStyle>
      <a:lvl1pPr marL="342900" indent="-342900" algn="l" defTabSz="457200">
        <a:spcBef>
          <a:spcPct val="20000"/>
        </a:spcBef>
        <a:buFont typeface="Arial" panose="020B0604020202020204"/>
        <a:buChar char="•"/>
        <a:defRPr sz="1800" kern="1200">
          <a:solidFill>
            <a:schemeClr val="tx1"/>
          </a:solidFill>
          <a:latin typeface="+mn-lt"/>
          <a:ea typeface="+mn-lt"/>
          <a:cs typeface="+mn-lt"/>
        </a:defRPr>
      </a:lvl1pPr>
      <a:lvl2pPr marL="742950" indent="-285750" algn="l" defTabSz="457200">
        <a:spcBef>
          <a:spcPct val="20000"/>
        </a:spcBef>
        <a:buFont typeface="Arial" panose="020B0604020202020204"/>
        <a:buChar char="–"/>
        <a:defRPr sz="1700" kern="1200">
          <a:solidFill>
            <a:schemeClr val="tx1"/>
          </a:solidFill>
          <a:latin typeface="+mn-lt"/>
          <a:ea typeface="+mn-lt"/>
          <a:cs typeface="+mn-lt"/>
        </a:defRPr>
      </a:lvl2pPr>
      <a:lvl3pPr marL="1143000" indent="-228600" algn="l" defTabSz="457200">
        <a:spcBef>
          <a:spcPct val="20000"/>
        </a:spcBef>
        <a:buFont typeface="Arial" panose="020B0604020202020204"/>
        <a:buChar char="•"/>
        <a:defRPr sz="1600" kern="1200">
          <a:solidFill>
            <a:schemeClr val="tx1"/>
          </a:solidFill>
          <a:latin typeface="+mn-lt"/>
          <a:ea typeface="+mn-lt"/>
          <a:cs typeface="+mn-lt"/>
        </a:defRPr>
      </a:lvl3pPr>
      <a:lvl4pPr marL="1600200" indent="-228600" algn="l" defTabSz="457200">
        <a:spcBef>
          <a:spcPct val="20000"/>
        </a:spcBef>
        <a:buFont typeface="Arial" panose="020B0604020202020204"/>
        <a:buChar char="–"/>
        <a:defRPr sz="1450" kern="1200">
          <a:solidFill>
            <a:schemeClr val="tx1"/>
          </a:solidFill>
          <a:latin typeface="+mn-lt"/>
          <a:ea typeface="+mn-lt"/>
          <a:cs typeface="+mn-lt"/>
        </a:defRPr>
      </a:lvl4pPr>
      <a:lvl5pPr marL="2057400" indent="-228600" algn="l" defTabSz="457200">
        <a:spcBef>
          <a:spcPct val="20000"/>
        </a:spcBef>
        <a:buFont typeface="Arial" panose="020B0604020202020204"/>
        <a:buChar char="»"/>
        <a:defRPr sz="1350" kern="1200">
          <a:solidFill>
            <a:schemeClr val="tx1"/>
          </a:solidFill>
          <a:latin typeface="+mn-lt"/>
          <a:ea typeface="+mn-lt"/>
          <a:cs typeface="+mn-lt"/>
        </a:defRPr>
      </a:lvl5pPr>
      <a:lvl6pPr marL="2514600" indent="-228600" algn="l" defTabSz="457200">
        <a:spcBef>
          <a:spcPct val="20000"/>
        </a:spcBef>
        <a:buFont typeface="Arial" panose="020B0604020202020204"/>
        <a:buChar char="•"/>
        <a:defRPr sz="1250" kern="1200">
          <a:solidFill>
            <a:schemeClr val="tx1"/>
          </a:solidFill>
          <a:latin typeface="+mn-lt"/>
          <a:ea typeface="+mn-lt"/>
          <a:cs typeface="+mn-lt"/>
        </a:defRPr>
      </a:lvl6pPr>
      <a:lvl7pPr marL="2971800" indent="-228600" algn="l" defTabSz="457200">
        <a:spcBef>
          <a:spcPct val="20000"/>
        </a:spcBef>
        <a:buFont typeface="Arial" panose="020B0604020202020204"/>
        <a:buChar char="•"/>
        <a:defRPr sz="1100" kern="1200">
          <a:solidFill>
            <a:schemeClr val="tx1"/>
          </a:solidFill>
          <a:latin typeface="+mn-lt"/>
          <a:ea typeface="+mn-lt"/>
          <a:cs typeface="+mn-lt"/>
        </a:defRPr>
      </a:lvl7pPr>
      <a:lvl8pPr marL="3429000" indent="-228600" algn="l" defTabSz="457200">
        <a:spcBef>
          <a:spcPct val="20000"/>
        </a:spcBef>
        <a:buFont typeface="Arial" panose="020B0604020202020204"/>
        <a:buChar char="•"/>
        <a:defRPr sz="1000" kern="1200">
          <a:solidFill>
            <a:schemeClr val="tx1"/>
          </a:solidFill>
          <a:latin typeface="+mn-lt"/>
          <a:ea typeface="+mn-lt"/>
          <a:cs typeface="+mn-lt"/>
        </a:defRPr>
      </a:lvl8pPr>
      <a:lvl9pPr marL="3886200" indent="-228600" algn="l" defTabSz="457200">
        <a:spcBef>
          <a:spcPct val="20000"/>
        </a:spcBef>
        <a:buFont typeface="Arial" panose="020B0604020202020204"/>
        <a:buChar char="•"/>
        <a:defRPr sz="9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700" kern="1200">
          <a:solidFill>
            <a:schemeClr val="tx1"/>
          </a:solidFill>
          <a:latin typeface="+mn-lt"/>
          <a:ea typeface="+mn-lt"/>
          <a:cs typeface="+mn-lt"/>
        </a:defRPr>
      </a:lvl2pPr>
      <a:lvl3pPr marL="914400" algn="l" defTabSz="457200">
        <a:buNone/>
        <a:defRPr sz="1600" kern="1200">
          <a:solidFill>
            <a:schemeClr val="tx1"/>
          </a:solidFill>
          <a:latin typeface="+mn-lt"/>
          <a:ea typeface="+mn-lt"/>
          <a:cs typeface="+mn-lt"/>
        </a:defRPr>
      </a:lvl3pPr>
      <a:lvl4pPr marL="1371600" algn="l" defTabSz="457200">
        <a:buNone/>
        <a:defRPr sz="1450" kern="1200">
          <a:solidFill>
            <a:schemeClr val="tx1"/>
          </a:solidFill>
          <a:latin typeface="+mn-lt"/>
          <a:ea typeface="+mn-lt"/>
          <a:cs typeface="+mn-lt"/>
        </a:defRPr>
      </a:lvl4pPr>
      <a:lvl5pPr marL="1828800" algn="l" defTabSz="457200">
        <a:buNone/>
        <a:defRPr sz="1350" kern="1200">
          <a:solidFill>
            <a:schemeClr val="tx1"/>
          </a:solidFill>
          <a:latin typeface="+mn-lt"/>
          <a:ea typeface="+mn-lt"/>
          <a:cs typeface="+mn-lt"/>
        </a:defRPr>
      </a:lvl5pPr>
      <a:lvl6pPr marL="2286000" algn="l" defTabSz="457200">
        <a:buNone/>
        <a:defRPr sz="1250" kern="1200">
          <a:solidFill>
            <a:schemeClr val="tx1"/>
          </a:solidFill>
          <a:latin typeface="+mn-lt"/>
          <a:ea typeface="+mn-lt"/>
          <a:cs typeface="+mn-lt"/>
        </a:defRPr>
      </a:lvl6pPr>
      <a:lvl7pPr marL="2743200" algn="l" defTabSz="457200">
        <a:buNone/>
        <a:defRPr sz="1100" kern="1200">
          <a:solidFill>
            <a:schemeClr val="tx1"/>
          </a:solidFill>
          <a:latin typeface="+mn-lt"/>
          <a:ea typeface="+mn-lt"/>
          <a:cs typeface="+mn-lt"/>
        </a:defRPr>
      </a:lvl7pPr>
      <a:lvl8pPr marL="3200400" algn="l" defTabSz="457200">
        <a:buNone/>
        <a:defRPr sz="1000" kern="1200">
          <a:solidFill>
            <a:schemeClr val="tx1"/>
          </a:solidFill>
          <a:latin typeface="+mn-lt"/>
          <a:ea typeface="+mn-lt"/>
          <a:cs typeface="+mn-lt"/>
        </a:defRPr>
      </a:lvl8pPr>
      <a:lvl9pPr marL="3657600" algn="l" defTabSz="457200">
        <a:buNone/>
        <a:defRPr sz="9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2" name="Rectangle 2"/>
          <p:cNvSpPr>
            <a:spLocks noGrp="1"/>
          </p:cNvSpPr>
          <p:nvPr/>
        </p:nvSpPr>
        <p:spPr>
          <a:xfrm>
            <a:off x="0" y="0"/>
            <a:ext cx="171450" cy="6858000"/>
          </a:xfrm>
          <a:prstGeom prst="rect">
            <a:avLst/>
          </a:prstGeom>
          <a:solidFill>
            <a:schemeClr val="accent1"/>
          </a:solidFill>
          <a:ln>
            <a:noFill/>
          </a:ln>
        </p:spPr>
      </p:sp>
      <p:sp>
        <p:nvSpPr>
          <p:cNvPr id="3" name="TextBox 3"/>
          <p:cNvSpPr>
            <a:spLocks noGrp="1"/>
          </p:cNvSpPr>
          <p:nvPr/>
        </p:nvSpPr>
        <p:spPr>
          <a:xfrm>
            <a:off x="716280" y="561975"/>
            <a:ext cx="3194050" cy="230505"/>
          </a:xfrm>
          <a:prstGeom prst="rect">
            <a:avLst/>
          </a:prstGeom>
          <a:noFill/>
          <a:ln>
            <a:noFill/>
          </a:ln>
        </p:spPr>
        <p:txBody>
          <a:bodyPr wrap="none" lIns="0" tIns="0" rIns="0" bIns="0" anchor="t">
            <a:spAutoFit/>
          </a:bodyPr>
          <a:lstStyle/>
          <a:p>
            <a:pPr algn="l">
              <a:buNone/>
            </a:pPr>
            <a:r>
              <a:rPr sz="1500" b="1">
                <a:solidFill>
                  <a:schemeClr val="accent1"/>
                </a:solidFill>
                <a:latin typeface="+mn-lt"/>
                <a:ea typeface="+mn-lt"/>
                <a:cs typeface="+mn-lt"/>
              </a:rPr>
              <a:t>TIME SERIES AND DATA STREAMS</a:t>
            </a:r>
            <a:endParaRPr sz="1500" b="1">
              <a:solidFill>
                <a:schemeClr val="accent1"/>
              </a:solidFill>
              <a:latin typeface="+mn-lt"/>
              <a:ea typeface="+mn-lt"/>
              <a:cs typeface="+mn-lt"/>
            </a:endParaRPr>
          </a:p>
        </p:txBody>
      </p:sp>
      <p:pic>
        <p:nvPicPr>
          <p:cNvPr id="18" name="Image 5"/>
          <p:cNvPicPr>
            <a:picLocks noChangeAspect="1"/>
          </p:cNvPicPr>
          <p:nvPr/>
        </p:nvPicPr>
        <p:blipFill>
          <a:blip r:embed="rId1"/>
          <a:stretch>
            <a:fillRect/>
          </a:stretch>
        </p:blipFill>
        <p:spPr>
          <a:xfrm>
            <a:off x="9525000" y="250845"/>
            <a:ext cx="2076450" cy="793711"/>
          </a:xfrm>
          <a:prstGeom prst="rect">
            <a:avLst/>
          </a:prstGeom>
        </p:spPr>
      </p:pic>
      <p:sp>
        <p:nvSpPr>
          <p:cNvPr id="6" name="TextBox 6"/>
          <p:cNvSpPr>
            <a:spLocks noGrp="1"/>
          </p:cNvSpPr>
          <p:nvPr/>
        </p:nvSpPr>
        <p:spPr>
          <a:xfrm>
            <a:off x="704850" y="1165860"/>
            <a:ext cx="10091356" cy="1885950"/>
          </a:xfrm>
          <a:prstGeom prst="rect">
            <a:avLst/>
          </a:prstGeom>
          <a:noFill/>
          <a:ln>
            <a:noFill/>
          </a:ln>
        </p:spPr>
        <p:txBody>
          <a:bodyPr wrap="none" lIns="0" tIns="0" rIns="0" bIns="0" anchor="t">
            <a:spAutoFit/>
          </a:bodyPr>
          <a:lstStyle/>
          <a:p>
            <a:pPr algn="l">
              <a:lnSpc>
                <a:spcPts val="4200"/>
              </a:lnSpc>
              <a:buNone/>
            </a:pPr>
            <a:r>
              <a:rPr sz="4200" b="1">
                <a:solidFill>
                  <a:schemeClr val="dk1"/>
                </a:solidFill>
                <a:latin typeface="+mn-lt"/>
                <a:ea typeface="+mn-lt"/>
                <a:cs typeface="+mn-lt"/>
              </a:rPr>
              <a:t>ConDyGNet: Constraint-Guided</a:t>
            </a:r>
            <a:br>
              <a:rPr sz="4200" b="1">
                <a:solidFill>
                  <a:schemeClr val="dk1"/>
                </a:solidFill>
                <a:latin typeface="+mn-lt"/>
                <a:ea typeface="+mn-lt"/>
                <a:cs typeface="+mn-lt"/>
              </a:rPr>
            </a:br>
            <a:r>
              <a:rPr sz="4200" b="1">
                <a:solidFill>
                  <a:schemeClr val="dk1"/>
                </a:solidFill>
                <a:latin typeface="+mn-lt"/>
                <a:ea typeface="+mn-lt"/>
                <a:cs typeface="+mn-lt"/>
              </a:rPr>
              <a:t>Dynamic Graph Networks for</a:t>
            </a:r>
            <a:br>
              <a:rPr sz="4200" b="1">
                <a:solidFill>
                  <a:schemeClr val="dk1"/>
                </a:solidFill>
                <a:latin typeface="+mn-lt"/>
                <a:ea typeface="+mn-lt"/>
                <a:cs typeface="+mn-lt"/>
              </a:rPr>
            </a:br>
            <a:r>
              <a:rPr sz="4200" b="1">
                <a:solidFill>
                  <a:schemeClr val="dk1"/>
                </a:solidFill>
                <a:latin typeface="+mn-lt"/>
                <a:ea typeface="+mn-lt"/>
                <a:cs typeface="+mn-lt"/>
              </a:rPr>
              <a:t>Multivariate Time Series Forecasting</a:t>
            </a:r>
            <a:endParaRPr sz="4200" b="1">
              <a:solidFill>
                <a:schemeClr val="dk1"/>
              </a:solidFill>
              <a:latin typeface="+mn-lt"/>
              <a:ea typeface="+mn-lt"/>
              <a:cs typeface="+mn-lt"/>
            </a:endParaRPr>
          </a:p>
        </p:txBody>
      </p:sp>
      <p:sp>
        <p:nvSpPr>
          <p:cNvPr id="7" name="Line 7"/>
          <p:cNvSpPr>
            <a:spLocks noGrp="1"/>
          </p:cNvSpPr>
          <p:nvPr/>
        </p:nvSpPr>
        <p:spPr>
          <a:xfrm>
            <a:off x="723900" y="3181350"/>
            <a:ext cx="10001250" cy="9525"/>
          </a:xfrm>
          <a:custGeom>
            <a:avLst/>
            <a:gdLst/>
            <a:ahLst/>
            <a:cxnLst/>
            <a:rect l="l" t="t" r="r" b="b"/>
            <a:pathLst>
              <a:path w="10001250" h="9525">
                <a:moveTo>
                  <a:pt x="0" y="0"/>
                </a:moveTo>
                <a:lnTo>
                  <a:pt x="10001250" y="0"/>
                </a:lnTo>
              </a:path>
            </a:pathLst>
          </a:custGeom>
          <a:noFill/>
          <a:ln w="38100">
            <a:solidFill>
              <a:schemeClr val="accent1"/>
            </a:solidFill>
          </a:ln>
        </p:spPr>
      </p:sp>
      <p:sp>
        <p:nvSpPr>
          <p:cNvPr id="9" name="TextBox 9"/>
          <p:cNvSpPr>
            <a:spLocks noGrp="1"/>
          </p:cNvSpPr>
          <p:nvPr/>
        </p:nvSpPr>
        <p:spPr>
          <a:xfrm>
            <a:off x="713994" y="3428048"/>
            <a:ext cx="10099167" cy="686181"/>
          </a:xfrm>
          <a:prstGeom prst="rect">
            <a:avLst/>
          </a:prstGeom>
          <a:noFill/>
          <a:ln>
            <a:noFill/>
          </a:ln>
        </p:spPr>
        <p:txBody>
          <a:bodyPr wrap="none" lIns="0" tIns="0" rIns="0" bIns="0" anchor="t">
            <a:spAutoFit/>
          </a:bodyPr>
          <a:lstStyle/>
          <a:p>
            <a:pPr algn="l">
              <a:lnSpc>
                <a:spcPts val="2400"/>
              </a:lnSpc>
              <a:buNone/>
            </a:pPr>
            <a:r>
              <a:rPr sz="1950" i="1">
                <a:solidFill>
                  <a:schemeClr val="accent1"/>
                </a:solidFill>
                <a:latin typeface="+mn-lt"/>
                <a:ea typeface="+mn-lt"/>
                <a:cs typeface="+mn-lt"/>
              </a:rPr>
              <a:t>A global low-rank basis stabilizes patch-wise dynamic graphs—preserving adaptivity</a:t>
            </a:r>
            <a:br>
              <a:rPr sz="1950" i="1">
                <a:solidFill>
                  <a:schemeClr val="accent1"/>
                </a:solidFill>
                <a:latin typeface="+mn-lt"/>
                <a:ea typeface="+mn-lt"/>
                <a:cs typeface="+mn-lt"/>
              </a:rPr>
            </a:br>
            <a:r>
              <a:rPr sz="1950" i="1">
                <a:solidFill>
                  <a:schemeClr val="accent1"/>
                </a:solidFill>
                <a:latin typeface="+mn-lt"/>
                <a:ea typeface="+mn-lt"/>
                <a:cs typeface="+mn-lt"/>
              </a:rPr>
              <a:t>while filtering noise.</a:t>
            </a:r>
            <a:endParaRPr sz="1950" i="1">
              <a:solidFill>
                <a:schemeClr val="accent1"/>
              </a:solidFill>
              <a:latin typeface="+mn-lt"/>
              <a:ea typeface="+mn-lt"/>
              <a:cs typeface="+mn-lt"/>
            </a:endParaRPr>
          </a:p>
        </p:txBody>
      </p:sp>
      <p:sp>
        <p:nvSpPr>
          <p:cNvPr id="11" name="TextBox 11"/>
          <p:cNvSpPr>
            <a:spLocks noGrp="1"/>
          </p:cNvSpPr>
          <p:nvPr/>
        </p:nvSpPr>
        <p:spPr>
          <a:xfrm>
            <a:off x="713994" y="4418648"/>
            <a:ext cx="4934346" cy="381381"/>
          </a:xfrm>
          <a:prstGeom prst="rect">
            <a:avLst/>
          </a:prstGeom>
          <a:noFill/>
          <a:ln>
            <a:noFill/>
          </a:ln>
        </p:spPr>
        <p:txBody>
          <a:bodyPr wrap="none" lIns="0" tIns="0" rIns="0" bIns="0" anchor="t">
            <a:spAutoFit/>
          </a:bodyPr>
          <a:lstStyle/>
          <a:p>
            <a:pPr algn="l">
              <a:buNone/>
            </a:pPr>
            <a:r>
              <a:rPr sz="1950" b="1">
                <a:solidFill>
                  <a:schemeClr val="dk1"/>
                </a:solidFill>
                <a:latin typeface="+mn-lt"/>
                <a:ea typeface="+mn-lt"/>
                <a:cs typeface="+mn-lt"/>
              </a:rPr>
              <a:t>Zhenzhou Li¹ Xiang Li²˒³ Zhibin Niu¹*</a:t>
            </a:r>
            <a:endParaRPr sz="1950" b="1">
              <a:solidFill>
                <a:schemeClr val="dk1"/>
              </a:solidFill>
              <a:latin typeface="+mn-lt"/>
              <a:ea typeface="+mn-lt"/>
              <a:cs typeface="+mn-lt"/>
            </a:endParaRPr>
          </a:p>
        </p:txBody>
      </p:sp>
      <p:sp>
        <p:nvSpPr>
          <p:cNvPr id="12" name="TextBox 12"/>
          <p:cNvSpPr>
            <a:spLocks noGrp="1"/>
          </p:cNvSpPr>
          <p:nvPr/>
        </p:nvSpPr>
        <p:spPr>
          <a:xfrm>
            <a:off x="717042" y="4845368"/>
            <a:ext cx="7498537" cy="264033"/>
          </a:xfrm>
          <a:prstGeom prst="rect">
            <a:avLst/>
          </a:prstGeom>
          <a:noFill/>
          <a:ln>
            <a:noFill/>
          </a:ln>
        </p:spPr>
        <p:txBody>
          <a:bodyPr wrap="none" lIns="0" tIns="0" rIns="0" bIns="0" anchor="t">
            <a:spAutoFit/>
          </a:bodyPr>
          <a:lstStyle/>
          <a:p>
            <a:pPr algn="l">
              <a:buNone/>
            </a:pPr>
            <a:r>
              <a:rPr sz="1350">
                <a:solidFill>
                  <a:srgbClr val="5E5A55"/>
                </a:solidFill>
                <a:latin typeface="+mn-lt"/>
                <a:ea typeface="+mn-lt"/>
                <a:cs typeface="+mn-lt"/>
              </a:rPr>
              <a:t>¹ Tianjin University · ² China Iron and Steel Research Institute Group · ³ UC Berkeley</a:t>
            </a:r>
            <a:endParaRPr sz="1350">
              <a:solidFill>
                <a:srgbClr val="5E5A55"/>
              </a:solidFill>
              <a:latin typeface="+mn-lt"/>
              <a:ea typeface="+mn-lt"/>
              <a:cs typeface="+mn-lt"/>
            </a:endParaRPr>
          </a:p>
        </p:txBody>
      </p:sp>
      <p:sp>
        <p:nvSpPr>
          <p:cNvPr id="14" name="TextBox 14"/>
          <p:cNvSpPr>
            <a:spLocks noGrp="1"/>
          </p:cNvSpPr>
          <p:nvPr/>
        </p:nvSpPr>
        <p:spPr>
          <a:xfrm>
            <a:off x="717042" y="6226492"/>
            <a:ext cx="2296311" cy="264033"/>
          </a:xfrm>
          <a:prstGeom prst="rect">
            <a:avLst/>
          </a:prstGeom>
          <a:noFill/>
          <a:ln>
            <a:noFill/>
          </a:ln>
        </p:spPr>
        <p:txBody>
          <a:bodyPr wrap="none" lIns="0" tIns="0" rIns="0" bIns="0" anchor="t">
            <a:spAutoFit/>
          </a:bodyPr>
          <a:lstStyle/>
          <a:p>
            <a:pPr algn="l">
              <a:buNone/>
            </a:pPr>
            <a:r>
              <a:rPr sz="1350" b="1">
                <a:solidFill>
                  <a:srgbClr val="5E5A55"/>
                </a:solidFill>
                <a:latin typeface="+mn-lt"/>
                <a:ea typeface="+mn-lt"/>
                <a:cs typeface="+mn-lt"/>
              </a:rPr>
              <a:t>Bremen · 18 August 2026</a:t>
            </a:r>
            <a:endParaRPr sz="1350" b="1">
              <a:solidFill>
                <a:srgbClr val="5E5A55"/>
              </a:solidFill>
              <a:latin typeface="+mn-lt"/>
              <a:ea typeface="+mn-lt"/>
              <a:cs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2" name="TextBox 2"/>
          <p:cNvSpPr>
            <a:spLocks noGrp="1"/>
          </p:cNvSpPr>
          <p:nvPr/>
        </p:nvSpPr>
        <p:spPr>
          <a:xfrm>
            <a:off x="480822" y="359092"/>
            <a:ext cx="9227275" cy="557403"/>
          </a:xfrm>
          <a:prstGeom prst="rect">
            <a:avLst/>
          </a:prstGeom>
          <a:noFill/>
          <a:ln>
            <a:noFill/>
          </a:ln>
        </p:spPr>
        <p:txBody>
          <a:bodyPr wrap="none" lIns="0" tIns="0" rIns="0" bIns="0" anchor="t">
            <a:spAutoFit/>
          </a:bodyPr>
          <a:lstStyle/>
          <a:p>
            <a:pPr algn="l">
              <a:buNone/>
            </a:pPr>
            <a:r>
              <a:rPr sz="2850" b="1">
                <a:solidFill>
                  <a:schemeClr val="dk1"/>
                </a:solidFill>
                <a:latin typeface="+mn-lt"/>
                <a:ea typeface="+mn-lt"/>
                <a:cs typeface="+mn-lt"/>
              </a:rPr>
              <a:t>Short windows make fully dynamic graphs drift</a:t>
            </a:r>
            <a:endParaRPr sz="2850" b="1">
              <a:solidFill>
                <a:schemeClr val="dk1"/>
              </a:solidFill>
              <a:latin typeface="+mn-lt"/>
              <a:ea typeface="+mn-lt"/>
              <a:cs typeface="+mn-lt"/>
            </a:endParaRPr>
          </a:p>
        </p:txBody>
      </p:sp>
      <p:sp>
        <p:nvSpPr>
          <p:cNvPr id="3" name="Line 3"/>
          <p:cNvSpPr>
            <a:spLocks noGrp="1"/>
          </p:cNvSpPr>
          <p:nvPr/>
        </p:nvSpPr>
        <p:spPr>
          <a:xfrm>
            <a:off x="495300" y="952500"/>
            <a:ext cx="11201400" cy="9525"/>
          </a:xfrm>
          <a:custGeom>
            <a:avLst/>
            <a:gdLst/>
            <a:ahLst/>
            <a:cxnLst/>
            <a:rect l="l" t="t" r="r" b="b"/>
            <a:pathLst>
              <a:path w="11201400" h="9525">
                <a:moveTo>
                  <a:pt x="0" y="0"/>
                </a:moveTo>
                <a:lnTo>
                  <a:pt x="11201400" y="0"/>
                </a:lnTo>
              </a:path>
            </a:pathLst>
          </a:custGeom>
          <a:noFill/>
          <a:ln w="28575">
            <a:solidFill>
              <a:schemeClr val="accent1"/>
            </a:solidFill>
          </a:ln>
        </p:spPr>
      </p:sp>
      <p:sp>
        <p:nvSpPr>
          <p:cNvPr id="5" name="TextBox 5"/>
          <p:cNvSpPr>
            <a:spLocks noGrp="1"/>
          </p:cNvSpPr>
          <p:nvPr/>
        </p:nvSpPr>
        <p:spPr>
          <a:xfrm>
            <a:off x="486156" y="1386840"/>
            <a:ext cx="2723313" cy="352044"/>
          </a:xfrm>
          <a:prstGeom prst="rect">
            <a:avLst/>
          </a:prstGeom>
          <a:noFill/>
          <a:ln>
            <a:noFill/>
          </a:ln>
        </p:spPr>
        <p:txBody>
          <a:bodyPr wrap="none" lIns="0" tIns="0" rIns="0" bIns="0" anchor="t">
            <a:spAutoFit/>
          </a:bodyPr>
          <a:lstStyle/>
          <a:p>
            <a:pPr algn="l">
              <a:buNone/>
            </a:pPr>
            <a:r>
              <a:rPr sz="1800" b="1">
                <a:solidFill>
                  <a:schemeClr val="accent1"/>
                </a:solidFill>
                <a:latin typeface="+mn-lt"/>
                <a:ea typeface="+mn-lt"/>
                <a:cs typeface="+mn-lt"/>
              </a:rPr>
              <a:t>01</a:t>
            </a:r>
            <a:r>
              <a:rPr sz="1800" b="1">
                <a:solidFill>
                  <a:schemeClr val="dk1"/>
                </a:solidFill>
                <a:latin typeface="+mn-lt"/>
                <a:ea typeface="+mn-lt"/>
                <a:cs typeface="+mn-lt"/>
              </a:rPr>
              <a:t> Static global graph</a:t>
            </a:r>
            <a:endParaRPr sz="1800" b="1">
              <a:solidFill>
                <a:schemeClr val="dk1"/>
              </a:solidFill>
              <a:latin typeface="+mn-lt"/>
              <a:ea typeface="+mn-lt"/>
              <a:cs typeface="+mn-lt"/>
            </a:endParaRPr>
          </a:p>
        </p:txBody>
      </p:sp>
      <p:sp>
        <p:nvSpPr>
          <p:cNvPr id="6" name="TextBox 6"/>
          <p:cNvSpPr>
            <a:spLocks noGrp="1"/>
          </p:cNvSpPr>
          <p:nvPr/>
        </p:nvSpPr>
        <p:spPr>
          <a:xfrm>
            <a:off x="486918" y="1764982"/>
            <a:ext cx="3537204" cy="627507"/>
          </a:xfrm>
          <a:prstGeom prst="rect">
            <a:avLst/>
          </a:prstGeom>
          <a:noFill/>
          <a:ln>
            <a:noFill/>
          </a:ln>
        </p:spPr>
        <p:txBody>
          <a:bodyPr wrap="none" lIns="0" tIns="0" rIns="0" bIns="0" anchor="t">
            <a:spAutoFit/>
          </a:bodyPr>
          <a:lstStyle/>
          <a:p>
            <a:pPr algn="l">
              <a:lnSpc>
                <a:spcPts val="2400"/>
              </a:lnSpc>
              <a:buNone/>
            </a:pPr>
            <a:r>
              <a:rPr sz="1650">
                <a:solidFill>
                  <a:srgbClr val="5E5A55"/>
                </a:solidFill>
                <a:latin typeface="+mn-lt"/>
                <a:ea typeface="+mn-lt"/>
                <a:cs typeface="+mn-lt"/>
              </a:rPr>
              <a:t>Stable across time, but blind to</a:t>
            </a:r>
            <a:br>
              <a:rPr sz="1650">
                <a:solidFill>
                  <a:srgbClr val="5E5A55"/>
                </a:solidFill>
                <a:latin typeface="+mn-lt"/>
                <a:ea typeface="+mn-lt"/>
                <a:cs typeface="+mn-lt"/>
              </a:rPr>
            </a:br>
            <a:r>
              <a:rPr sz="1650">
                <a:solidFill>
                  <a:srgbClr val="5E5A55"/>
                </a:solidFill>
                <a:latin typeface="+mn-lt"/>
                <a:ea typeface="+mn-lt"/>
                <a:cs typeface="+mn-lt"/>
              </a:rPr>
              <a:t>window-specific relation changes.</a:t>
            </a:r>
            <a:endParaRPr sz="1650">
              <a:solidFill>
                <a:srgbClr val="5E5A55"/>
              </a:solidFill>
              <a:latin typeface="+mn-lt"/>
              <a:ea typeface="+mn-lt"/>
              <a:cs typeface="+mn-lt"/>
            </a:endParaRPr>
          </a:p>
        </p:txBody>
      </p:sp>
      <p:sp>
        <p:nvSpPr>
          <p:cNvPr id="7" name="Line 7"/>
          <p:cNvSpPr>
            <a:spLocks noGrp="1"/>
          </p:cNvSpPr>
          <p:nvPr/>
        </p:nvSpPr>
        <p:spPr>
          <a:xfrm>
            <a:off x="495300" y="2571750"/>
            <a:ext cx="4267200" cy="9525"/>
          </a:xfrm>
          <a:custGeom>
            <a:avLst/>
            <a:gdLst/>
            <a:ahLst/>
            <a:cxnLst/>
            <a:rect l="l" t="t" r="r" b="b"/>
            <a:pathLst>
              <a:path w="4267200" h="9525">
                <a:moveTo>
                  <a:pt x="0" y="0"/>
                </a:moveTo>
                <a:lnTo>
                  <a:pt x="4267200" y="0"/>
                </a:lnTo>
              </a:path>
            </a:pathLst>
          </a:custGeom>
          <a:noFill/>
          <a:ln w="9525">
            <a:solidFill>
              <a:schemeClr val="accent5"/>
            </a:solidFill>
          </a:ln>
        </p:spPr>
      </p:sp>
      <p:sp>
        <p:nvSpPr>
          <p:cNvPr id="8" name="TextBox 8"/>
          <p:cNvSpPr>
            <a:spLocks noGrp="1"/>
          </p:cNvSpPr>
          <p:nvPr/>
        </p:nvSpPr>
        <p:spPr>
          <a:xfrm>
            <a:off x="486156" y="2758440"/>
            <a:ext cx="3957526" cy="352044"/>
          </a:xfrm>
          <a:prstGeom prst="rect">
            <a:avLst/>
          </a:prstGeom>
          <a:noFill/>
          <a:ln>
            <a:noFill/>
          </a:ln>
        </p:spPr>
        <p:txBody>
          <a:bodyPr wrap="none" lIns="0" tIns="0" rIns="0" bIns="0" anchor="t">
            <a:spAutoFit/>
          </a:bodyPr>
          <a:lstStyle/>
          <a:p>
            <a:pPr algn="l">
              <a:buNone/>
            </a:pPr>
            <a:r>
              <a:rPr sz="1800" b="1">
                <a:solidFill>
                  <a:schemeClr val="accent1"/>
                </a:solidFill>
                <a:latin typeface="+mn-lt"/>
                <a:ea typeface="+mn-lt"/>
                <a:cs typeface="+mn-lt"/>
              </a:rPr>
              <a:t>02</a:t>
            </a:r>
            <a:r>
              <a:rPr sz="1800" b="1">
                <a:solidFill>
                  <a:schemeClr val="dk1"/>
                </a:solidFill>
                <a:latin typeface="+mn-lt"/>
                <a:ea typeface="+mn-lt"/>
                <a:cs typeface="+mn-lt"/>
              </a:rPr>
              <a:t> Unconstrained dynamic graph</a:t>
            </a:r>
            <a:endParaRPr sz="1800" b="1">
              <a:solidFill>
                <a:schemeClr val="dk1"/>
              </a:solidFill>
              <a:latin typeface="+mn-lt"/>
              <a:ea typeface="+mn-lt"/>
              <a:cs typeface="+mn-lt"/>
            </a:endParaRPr>
          </a:p>
        </p:txBody>
      </p:sp>
      <p:sp>
        <p:nvSpPr>
          <p:cNvPr id="9" name="TextBox 9"/>
          <p:cNvSpPr>
            <a:spLocks noGrp="1"/>
          </p:cNvSpPr>
          <p:nvPr/>
        </p:nvSpPr>
        <p:spPr>
          <a:xfrm>
            <a:off x="486918" y="3136582"/>
            <a:ext cx="4228719" cy="932307"/>
          </a:xfrm>
          <a:prstGeom prst="rect">
            <a:avLst/>
          </a:prstGeom>
          <a:noFill/>
          <a:ln>
            <a:noFill/>
          </a:ln>
        </p:spPr>
        <p:txBody>
          <a:bodyPr wrap="none" lIns="0" tIns="0" rIns="0" bIns="0" anchor="t">
            <a:spAutoFit/>
          </a:bodyPr>
          <a:lstStyle/>
          <a:p>
            <a:pPr algn="l">
              <a:lnSpc>
                <a:spcPts val="2400"/>
              </a:lnSpc>
              <a:buNone/>
            </a:pPr>
            <a:r>
              <a:rPr sz="1650">
                <a:solidFill>
                  <a:srgbClr val="5E5A55"/>
                </a:solidFill>
                <a:latin typeface="+mn-lt"/>
                <a:ea typeface="+mn-lt"/>
                <a:cs typeface="+mn-lt"/>
              </a:rPr>
              <a:t>Adaptive, but short-window correlations</a:t>
            </a:r>
            <a:br>
              <a:rPr sz="1650">
                <a:solidFill>
                  <a:srgbClr val="5E5A55"/>
                </a:solidFill>
                <a:latin typeface="+mn-lt"/>
                <a:ea typeface="+mn-lt"/>
                <a:cs typeface="+mn-lt"/>
              </a:rPr>
            </a:br>
            <a:r>
              <a:rPr sz="1650">
                <a:solidFill>
                  <a:srgbClr val="5E5A55"/>
                </a:solidFill>
                <a:latin typeface="+mn-lt"/>
                <a:ea typeface="+mn-lt"/>
                <a:cs typeface="+mn-lt"/>
              </a:rPr>
              <a:t>may mistake noise for structure—and</a:t>
            </a:r>
            <a:br>
              <a:rPr sz="1650">
                <a:solidFill>
                  <a:srgbClr val="5E5A55"/>
                </a:solidFill>
                <a:latin typeface="+mn-lt"/>
                <a:ea typeface="+mn-lt"/>
                <a:cs typeface="+mn-lt"/>
              </a:rPr>
            </a:br>
            <a:r>
              <a:rPr sz="1650">
                <a:solidFill>
                  <a:srgbClr val="5E5A55"/>
                </a:solidFill>
                <a:latin typeface="+mn-lt"/>
                <a:ea typeface="+mn-lt"/>
                <a:cs typeface="+mn-lt"/>
              </a:rPr>
              <a:t>amplify it during message passing.</a:t>
            </a:r>
            <a:endParaRPr sz="1650">
              <a:solidFill>
                <a:srgbClr val="5E5A55"/>
              </a:solidFill>
              <a:latin typeface="+mn-lt"/>
              <a:ea typeface="+mn-lt"/>
              <a:cs typeface="+mn-lt"/>
            </a:endParaRPr>
          </a:p>
        </p:txBody>
      </p:sp>
      <p:sp>
        <p:nvSpPr>
          <p:cNvPr id="10" name="Line 10"/>
          <p:cNvSpPr>
            <a:spLocks noGrp="1"/>
          </p:cNvSpPr>
          <p:nvPr/>
        </p:nvSpPr>
        <p:spPr>
          <a:xfrm>
            <a:off x="495300" y="4324350"/>
            <a:ext cx="4267200" cy="9525"/>
          </a:xfrm>
          <a:custGeom>
            <a:avLst/>
            <a:gdLst/>
            <a:ahLst/>
            <a:cxnLst/>
            <a:rect l="l" t="t" r="r" b="b"/>
            <a:pathLst>
              <a:path w="4267200" h="9525">
                <a:moveTo>
                  <a:pt x="0" y="0"/>
                </a:moveTo>
                <a:lnTo>
                  <a:pt x="4267200" y="0"/>
                </a:lnTo>
              </a:path>
            </a:pathLst>
          </a:custGeom>
          <a:noFill/>
          <a:ln w="9525">
            <a:solidFill>
              <a:schemeClr val="accent5"/>
            </a:solidFill>
          </a:ln>
        </p:spPr>
      </p:sp>
      <p:sp>
        <p:nvSpPr>
          <p:cNvPr id="11" name="TextBox 11"/>
          <p:cNvSpPr>
            <a:spLocks noGrp="1"/>
          </p:cNvSpPr>
          <p:nvPr/>
        </p:nvSpPr>
        <p:spPr>
          <a:xfrm>
            <a:off x="486156" y="4511040"/>
            <a:ext cx="2202621" cy="352044"/>
          </a:xfrm>
          <a:prstGeom prst="rect">
            <a:avLst/>
          </a:prstGeom>
          <a:noFill/>
          <a:ln>
            <a:noFill/>
          </a:ln>
        </p:spPr>
        <p:txBody>
          <a:bodyPr wrap="none" lIns="0" tIns="0" rIns="0" bIns="0" anchor="t">
            <a:spAutoFit/>
          </a:bodyPr>
          <a:lstStyle/>
          <a:p>
            <a:pPr algn="l">
              <a:buNone/>
            </a:pPr>
            <a:r>
              <a:rPr sz="1800" b="1">
                <a:solidFill>
                  <a:schemeClr val="accent1"/>
                </a:solidFill>
                <a:latin typeface="+mn-lt"/>
                <a:ea typeface="+mn-lt"/>
                <a:cs typeface="+mn-lt"/>
              </a:rPr>
              <a:t>03</a:t>
            </a:r>
            <a:r>
              <a:rPr sz="1800" b="1">
                <a:solidFill>
                  <a:schemeClr val="dk1"/>
                </a:solidFill>
                <a:latin typeface="+mn-lt"/>
                <a:ea typeface="+mn-lt"/>
                <a:cs typeface="+mn-lt"/>
              </a:rPr>
              <a:t> What is needed</a:t>
            </a:r>
            <a:endParaRPr sz="1800" b="1">
              <a:solidFill>
                <a:schemeClr val="dk1"/>
              </a:solidFill>
              <a:latin typeface="+mn-lt"/>
              <a:ea typeface="+mn-lt"/>
              <a:cs typeface="+mn-lt"/>
            </a:endParaRPr>
          </a:p>
        </p:txBody>
      </p:sp>
      <p:sp>
        <p:nvSpPr>
          <p:cNvPr id="12" name="TextBox 12"/>
          <p:cNvSpPr>
            <a:spLocks noGrp="1"/>
          </p:cNvSpPr>
          <p:nvPr/>
        </p:nvSpPr>
        <p:spPr>
          <a:xfrm>
            <a:off x="486918" y="4889182"/>
            <a:ext cx="4186809" cy="627507"/>
          </a:xfrm>
          <a:prstGeom prst="rect">
            <a:avLst/>
          </a:prstGeom>
          <a:noFill/>
          <a:ln>
            <a:noFill/>
          </a:ln>
        </p:spPr>
        <p:txBody>
          <a:bodyPr wrap="none" lIns="0" tIns="0" rIns="0" bIns="0" anchor="t">
            <a:spAutoFit/>
          </a:bodyPr>
          <a:lstStyle/>
          <a:p>
            <a:pPr algn="l">
              <a:lnSpc>
                <a:spcPts val="2400"/>
              </a:lnSpc>
              <a:buNone/>
            </a:pPr>
            <a:r>
              <a:rPr sz="1650">
                <a:solidFill>
                  <a:srgbClr val="5E5A55"/>
                </a:solidFill>
                <a:latin typeface="+mn-lt"/>
                <a:ea typeface="+mn-lt"/>
                <a:cs typeface="+mn-lt"/>
              </a:rPr>
              <a:t>Local adaptation inside a globally reliable</a:t>
            </a:r>
            <a:br>
              <a:rPr sz="1650">
                <a:solidFill>
                  <a:srgbClr val="5E5A55"/>
                </a:solidFill>
                <a:latin typeface="+mn-lt"/>
                <a:ea typeface="+mn-lt"/>
                <a:cs typeface="+mn-lt"/>
              </a:rPr>
            </a:br>
            <a:r>
              <a:rPr sz="1650">
                <a:solidFill>
                  <a:srgbClr val="5E5A55"/>
                </a:solidFill>
                <a:latin typeface="+mn-lt"/>
                <a:ea typeface="+mn-lt"/>
                <a:cs typeface="+mn-lt"/>
              </a:rPr>
              <a:t>structural subspace.</a:t>
            </a:r>
            <a:endParaRPr sz="1650">
              <a:solidFill>
                <a:srgbClr val="5E5A55"/>
              </a:solidFill>
              <a:latin typeface="+mn-lt"/>
              <a:ea typeface="+mn-lt"/>
              <a:cs typeface="+mn-lt"/>
            </a:endParaRPr>
          </a:p>
        </p:txBody>
      </p:sp>
      <p:sp>
        <p:nvSpPr>
          <p:cNvPr id="13" name="Rectangle 13"/>
          <p:cNvSpPr>
            <a:spLocks noGrp="1"/>
          </p:cNvSpPr>
          <p:nvPr/>
        </p:nvSpPr>
        <p:spPr>
          <a:xfrm>
            <a:off x="495300" y="5619750"/>
            <a:ext cx="4324350" cy="514350"/>
          </a:xfrm>
          <a:prstGeom prst="rect">
            <a:avLst/>
          </a:prstGeom>
          <a:solidFill>
            <a:schemeClr val="accent3"/>
          </a:solidFill>
          <a:ln>
            <a:noFill/>
          </a:ln>
        </p:spPr>
      </p:sp>
      <p:sp>
        <p:nvSpPr>
          <p:cNvPr id="14" name="Rectangle 14"/>
          <p:cNvSpPr>
            <a:spLocks noGrp="1"/>
          </p:cNvSpPr>
          <p:nvPr/>
        </p:nvSpPr>
        <p:spPr>
          <a:xfrm>
            <a:off x="495300" y="5619750"/>
            <a:ext cx="76200" cy="514350"/>
          </a:xfrm>
          <a:prstGeom prst="rect">
            <a:avLst/>
          </a:prstGeom>
          <a:solidFill>
            <a:schemeClr val="accent1"/>
          </a:solidFill>
          <a:ln>
            <a:noFill/>
          </a:ln>
        </p:spPr>
      </p:sp>
      <p:sp>
        <p:nvSpPr>
          <p:cNvPr id="15" name="TextBox 15"/>
          <p:cNvSpPr>
            <a:spLocks noGrp="1"/>
          </p:cNvSpPr>
          <p:nvPr/>
        </p:nvSpPr>
        <p:spPr>
          <a:xfrm>
            <a:off x="714756" y="5749290"/>
            <a:ext cx="4046437" cy="352044"/>
          </a:xfrm>
          <a:prstGeom prst="rect">
            <a:avLst/>
          </a:prstGeom>
          <a:noFill/>
          <a:ln>
            <a:noFill/>
          </a:ln>
        </p:spPr>
        <p:txBody>
          <a:bodyPr wrap="none" lIns="0" tIns="0" rIns="0" bIns="0" anchor="t">
            <a:spAutoFit/>
          </a:bodyPr>
          <a:lstStyle/>
          <a:p>
            <a:pPr algn="l">
              <a:buNone/>
            </a:pPr>
            <a:r>
              <a:rPr sz="1800" b="1">
                <a:solidFill>
                  <a:schemeClr val="dk1"/>
                </a:solidFill>
                <a:latin typeface="+mn-lt"/>
                <a:ea typeface="+mn-lt"/>
                <a:cs typeface="+mn-lt"/>
              </a:rPr>
              <a:t>Adapt without topological drift.</a:t>
            </a:r>
            <a:endParaRPr sz="1800" b="1">
              <a:solidFill>
                <a:schemeClr val="dk1"/>
              </a:solidFill>
              <a:latin typeface="+mn-lt"/>
              <a:ea typeface="+mn-lt"/>
              <a:cs typeface="+mn-lt"/>
            </a:endParaRPr>
          </a:p>
        </p:txBody>
      </p:sp>
      <p:sp>
        <p:nvSpPr>
          <p:cNvPr id="17" name="Rectangle 17"/>
          <p:cNvSpPr>
            <a:spLocks noGrp="1"/>
          </p:cNvSpPr>
          <p:nvPr/>
        </p:nvSpPr>
        <p:spPr>
          <a:xfrm>
            <a:off x="5276850" y="1200150"/>
            <a:ext cx="6419850" cy="4953000"/>
          </a:xfrm>
          <a:prstGeom prst="rect">
            <a:avLst/>
          </a:prstGeom>
          <a:solidFill>
            <a:srgbClr val="FFFFFF"/>
          </a:solidFill>
          <a:ln w="19050">
            <a:solidFill>
              <a:schemeClr val="accent5"/>
            </a:solidFill>
          </a:ln>
        </p:spPr>
      </p:sp>
      <p:pic>
        <p:nvPicPr>
          <p:cNvPr id="39" name="Image 18"/>
          <p:cNvPicPr>
            <a:picLocks noChangeAspect="1"/>
          </p:cNvPicPr>
          <p:nvPr/>
        </p:nvPicPr>
        <p:blipFill>
          <a:blip r:embed="rId1"/>
          <a:stretch>
            <a:fillRect/>
          </a:stretch>
        </p:blipFill>
        <p:spPr>
          <a:xfrm>
            <a:off x="6026485" y="1352550"/>
            <a:ext cx="4920580" cy="4552950"/>
          </a:xfrm>
          <a:prstGeom prst="rect">
            <a:avLst/>
          </a:prstGeom>
        </p:spPr>
      </p:pic>
      <p:sp>
        <p:nvSpPr>
          <p:cNvPr id="19" name="TextBox 19"/>
          <p:cNvSpPr>
            <a:spLocks noGrp="1"/>
          </p:cNvSpPr>
          <p:nvPr/>
        </p:nvSpPr>
        <p:spPr>
          <a:xfrm>
            <a:off x="5462016" y="5963602"/>
            <a:ext cx="6169241" cy="205359"/>
          </a:xfrm>
          <a:prstGeom prst="rect">
            <a:avLst/>
          </a:prstGeom>
          <a:noFill/>
          <a:ln>
            <a:noFill/>
          </a:ln>
        </p:spPr>
        <p:txBody>
          <a:bodyPr wrap="none" lIns="0" tIns="0" rIns="0" bIns="0" anchor="t">
            <a:spAutoFit/>
          </a:bodyPr>
          <a:lstStyle/>
          <a:p>
            <a:pPr algn="l">
              <a:buNone/>
            </a:pPr>
            <a:r>
              <a:rPr sz="1050">
                <a:solidFill>
                  <a:srgbClr val="5E5A55"/>
                </a:solidFill>
                <a:latin typeface="+mn-lt"/>
                <a:ea typeface="+mn-lt"/>
                <a:cs typeface="+mn-lt"/>
              </a:rPr>
              <a:t>Figure 1 · Window-wise relations vary; constrained topology stays near the global prior.</a:t>
            </a:r>
            <a:endParaRPr sz="1050">
              <a:solidFill>
                <a:srgbClr val="5E5A55"/>
              </a:solidFill>
              <a:latin typeface="+mn-lt"/>
              <a:ea typeface="+mn-lt"/>
              <a:cs typeface="+mn-lt"/>
            </a:endParaRPr>
          </a:p>
        </p:txBody>
      </p:sp>
      <p:sp>
        <p:nvSpPr>
          <p:cNvPr id="21" name="Line 21"/>
          <p:cNvSpPr>
            <a:spLocks noGrp="1"/>
          </p:cNvSpPr>
          <p:nvPr/>
        </p:nvSpPr>
        <p:spPr>
          <a:xfrm>
            <a:off x="495300" y="6362700"/>
            <a:ext cx="11201400" cy="9525"/>
          </a:xfrm>
          <a:custGeom>
            <a:avLst/>
            <a:gdLst/>
            <a:ahLst/>
            <a:cxnLst/>
            <a:rect l="l" t="t" r="r" b="b"/>
            <a:pathLst>
              <a:path w="11201400" h="9525">
                <a:moveTo>
                  <a:pt x="0" y="0"/>
                </a:moveTo>
                <a:lnTo>
                  <a:pt x="11201400" y="0"/>
                </a:lnTo>
              </a:path>
            </a:pathLst>
          </a:custGeom>
          <a:noFill/>
          <a:ln w="9525">
            <a:solidFill>
              <a:schemeClr val="accent5"/>
            </a:solidFill>
          </a:ln>
        </p:spPr>
      </p:sp>
      <p:sp>
        <p:nvSpPr>
          <p:cNvPr id="23" name="TextBox 23"/>
          <p:cNvSpPr>
            <a:spLocks noGrp="1"/>
          </p:cNvSpPr>
          <p:nvPr/>
        </p:nvSpPr>
        <p:spPr>
          <a:xfrm>
            <a:off x="11528106" y="6497002"/>
            <a:ext cx="173928" cy="205359"/>
          </a:xfrm>
          <a:prstGeom prst="rect">
            <a:avLst/>
          </a:prstGeom>
          <a:noFill/>
          <a:ln>
            <a:noFill/>
          </a:ln>
        </p:spPr>
        <p:txBody>
          <a:bodyPr wrap="none" lIns="0" tIns="0" rIns="0" bIns="0" anchor="t">
            <a:spAutoFit/>
          </a:bodyPr>
          <a:lstStyle/>
          <a:p>
            <a:pPr algn="r">
              <a:buNone/>
            </a:pPr>
            <a:r>
              <a:rPr sz="1050" b="1">
                <a:solidFill>
                  <a:schemeClr val="accent1"/>
                </a:solidFill>
                <a:latin typeface="+mn-lt"/>
                <a:ea typeface="+mn-lt"/>
                <a:cs typeface="+mn-lt"/>
              </a:rPr>
              <a:t>02</a:t>
            </a:r>
            <a:endParaRPr sz="1050" b="1">
              <a:solidFill>
                <a:schemeClr val="accent1"/>
              </a:solidFill>
              <a:latin typeface="+mn-lt"/>
              <a:ea typeface="+mn-lt"/>
              <a:cs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2" name="TextBox 2"/>
          <p:cNvSpPr>
            <a:spLocks noGrp="1"/>
          </p:cNvSpPr>
          <p:nvPr/>
        </p:nvSpPr>
        <p:spPr>
          <a:xfrm>
            <a:off x="481584" y="337185"/>
            <a:ext cx="9159613" cy="528066"/>
          </a:xfrm>
          <a:prstGeom prst="rect">
            <a:avLst/>
          </a:prstGeom>
          <a:noFill/>
          <a:ln>
            <a:noFill/>
          </a:ln>
        </p:spPr>
        <p:txBody>
          <a:bodyPr wrap="none" lIns="0" tIns="0" rIns="0" bIns="0" anchor="t">
            <a:spAutoFit/>
          </a:bodyPr>
          <a:lstStyle/>
          <a:p>
            <a:pPr algn="l">
              <a:buNone/>
            </a:pPr>
            <a:r>
              <a:rPr sz="2700" b="1">
                <a:solidFill>
                  <a:schemeClr val="dk1"/>
                </a:solidFill>
                <a:latin typeface="+mn-lt"/>
                <a:ea typeface="+mn-lt"/>
                <a:cs typeface="+mn-lt"/>
              </a:rPr>
              <a:t>ConDyGNet constrains graphs before propagation</a:t>
            </a:r>
            <a:endParaRPr sz="2700" b="1">
              <a:solidFill>
                <a:schemeClr val="dk1"/>
              </a:solidFill>
              <a:latin typeface="+mn-lt"/>
              <a:ea typeface="+mn-lt"/>
              <a:cs typeface="+mn-lt"/>
            </a:endParaRPr>
          </a:p>
        </p:txBody>
      </p:sp>
      <p:sp>
        <p:nvSpPr>
          <p:cNvPr id="3" name="Line 3"/>
          <p:cNvSpPr>
            <a:spLocks noGrp="1"/>
          </p:cNvSpPr>
          <p:nvPr/>
        </p:nvSpPr>
        <p:spPr>
          <a:xfrm>
            <a:off x="495300" y="914400"/>
            <a:ext cx="11201400" cy="9525"/>
          </a:xfrm>
          <a:custGeom>
            <a:avLst/>
            <a:gdLst/>
            <a:ahLst/>
            <a:cxnLst/>
            <a:rect l="l" t="t" r="r" b="b"/>
            <a:pathLst>
              <a:path w="11201400" h="9525">
                <a:moveTo>
                  <a:pt x="0" y="0"/>
                </a:moveTo>
                <a:lnTo>
                  <a:pt x="11201400" y="0"/>
                </a:lnTo>
              </a:path>
            </a:pathLst>
          </a:custGeom>
          <a:noFill/>
          <a:ln w="28575">
            <a:solidFill>
              <a:schemeClr val="accent1"/>
            </a:solidFill>
          </a:ln>
        </p:spPr>
      </p:sp>
      <p:sp>
        <p:nvSpPr>
          <p:cNvPr id="5" name="TextBox 5"/>
          <p:cNvSpPr>
            <a:spLocks noGrp="1"/>
          </p:cNvSpPr>
          <p:nvPr/>
        </p:nvSpPr>
        <p:spPr>
          <a:xfrm>
            <a:off x="669586" y="1079182"/>
            <a:ext cx="10852827" cy="322707"/>
          </a:xfrm>
          <a:prstGeom prst="rect">
            <a:avLst/>
          </a:prstGeom>
          <a:noFill/>
          <a:ln>
            <a:noFill/>
          </a:ln>
        </p:spPr>
        <p:txBody>
          <a:bodyPr wrap="none" lIns="0" tIns="0" rIns="0" bIns="0" anchor="t">
            <a:spAutoFit/>
          </a:bodyPr>
          <a:lstStyle/>
          <a:p>
            <a:pPr algn="ctr">
              <a:buNone/>
            </a:pPr>
            <a:r>
              <a:rPr sz="1650">
                <a:solidFill>
                  <a:srgbClr val="5E5A55"/>
                </a:solidFill>
                <a:latin typeface="+mn-lt"/>
                <a:ea typeface="+mn-lt"/>
                <a:cs typeface="+mn-lt"/>
              </a:rPr>
              <a:t>Patch tokens → constrained graph construction → cross-channel propagation → temporal forecasting</a:t>
            </a:r>
            <a:endParaRPr sz="1650">
              <a:solidFill>
                <a:srgbClr val="5E5A55"/>
              </a:solidFill>
              <a:latin typeface="+mn-lt"/>
              <a:ea typeface="+mn-lt"/>
              <a:cs typeface="+mn-lt"/>
            </a:endParaRPr>
          </a:p>
        </p:txBody>
      </p:sp>
      <p:sp>
        <p:nvSpPr>
          <p:cNvPr id="7" name="Rectangle 7"/>
          <p:cNvSpPr>
            <a:spLocks noGrp="1"/>
          </p:cNvSpPr>
          <p:nvPr/>
        </p:nvSpPr>
        <p:spPr>
          <a:xfrm>
            <a:off x="1466850" y="1428750"/>
            <a:ext cx="9258300" cy="4514850"/>
          </a:xfrm>
          <a:prstGeom prst="rect">
            <a:avLst/>
          </a:prstGeom>
          <a:solidFill>
            <a:srgbClr val="FFFFFF"/>
          </a:solidFill>
          <a:ln w="9525">
            <a:solidFill>
              <a:schemeClr val="accent5"/>
            </a:solidFill>
          </a:ln>
        </p:spPr>
      </p:sp>
      <p:pic>
        <p:nvPicPr>
          <p:cNvPr id="23" name="Image 8"/>
          <p:cNvPicPr>
            <a:picLocks noChangeAspect="1"/>
          </p:cNvPicPr>
          <p:nvPr/>
        </p:nvPicPr>
        <p:blipFill>
          <a:blip r:embed="rId1"/>
          <a:stretch>
            <a:fillRect/>
          </a:stretch>
        </p:blipFill>
        <p:spPr>
          <a:xfrm>
            <a:off x="2170132" y="1524000"/>
            <a:ext cx="7851735" cy="4286250"/>
          </a:xfrm>
          <a:prstGeom prst="rect">
            <a:avLst/>
          </a:prstGeom>
        </p:spPr>
      </p:pic>
      <p:sp>
        <p:nvSpPr>
          <p:cNvPr id="10" name="Line 10"/>
          <p:cNvSpPr>
            <a:spLocks noGrp="1"/>
          </p:cNvSpPr>
          <p:nvPr/>
        </p:nvSpPr>
        <p:spPr>
          <a:xfrm>
            <a:off x="1562100" y="6057900"/>
            <a:ext cx="9067800" cy="9525"/>
          </a:xfrm>
          <a:custGeom>
            <a:avLst/>
            <a:gdLst/>
            <a:ahLst/>
            <a:cxnLst/>
            <a:rect l="l" t="t" r="r" b="b"/>
            <a:pathLst>
              <a:path w="9067800" h="9525">
                <a:moveTo>
                  <a:pt x="0" y="0"/>
                </a:moveTo>
                <a:lnTo>
                  <a:pt x="9067800" y="0"/>
                </a:lnTo>
              </a:path>
            </a:pathLst>
          </a:custGeom>
          <a:noFill/>
          <a:ln w="9525">
            <a:solidFill>
              <a:schemeClr val="accent5"/>
            </a:solidFill>
          </a:ln>
        </p:spPr>
      </p:sp>
      <p:sp>
        <p:nvSpPr>
          <p:cNvPr id="11" name="TextBox 11"/>
          <p:cNvSpPr>
            <a:spLocks noGrp="1"/>
          </p:cNvSpPr>
          <p:nvPr/>
        </p:nvSpPr>
        <p:spPr>
          <a:xfrm>
            <a:off x="1556004" y="6156960"/>
            <a:ext cx="657393" cy="234696"/>
          </a:xfrm>
          <a:prstGeom prst="rect">
            <a:avLst/>
          </a:prstGeom>
          <a:noFill/>
          <a:ln>
            <a:noFill/>
          </a:ln>
        </p:spPr>
        <p:txBody>
          <a:bodyPr wrap="none" lIns="0" tIns="0" rIns="0" bIns="0" anchor="t">
            <a:spAutoFit/>
          </a:bodyPr>
          <a:lstStyle/>
          <a:p>
            <a:pPr algn="l">
              <a:buNone/>
            </a:pPr>
            <a:r>
              <a:rPr sz="1200" b="1">
                <a:solidFill>
                  <a:schemeClr val="accent1"/>
                </a:solidFill>
                <a:latin typeface="+mn-lt"/>
                <a:ea typeface="+mn-lt"/>
                <a:cs typeface="+mn-lt"/>
              </a:rPr>
              <a:t>1 PATCH</a:t>
            </a:r>
            <a:endParaRPr sz="1200" b="1">
              <a:solidFill>
                <a:schemeClr val="accent1"/>
              </a:solidFill>
              <a:latin typeface="+mn-lt"/>
              <a:ea typeface="+mn-lt"/>
              <a:cs typeface="+mn-lt"/>
            </a:endParaRPr>
          </a:p>
        </p:txBody>
      </p:sp>
      <p:sp>
        <p:nvSpPr>
          <p:cNvPr id="12" name="TextBox 12"/>
          <p:cNvSpPr>
            <a:spLocks noGrp="1"/>
          </p:cNvSpPr>
          <p:nvPr/>
        </p:nvSpPr>
        <p:spPr>
          <a:xfrm>
            <a:off x="3861054" y="6156960"/>
            <a:ext cx="1042721" cy="234696"/>
          </a:xfrm>
          <a:prstGeom prst="rect">
            <a:avLst/>
          </a:prstGeom>
          <a:noFill/>
          <a:ln>
            <a:noFill/>
          </a:ln>
        </p:spPr>
        <p:txBody>
          <a:bodyPr wrap="none" lIns="0" tIns="0" rIns="0" bIns="0" anchor="t">
            <a:spAutoFit/>
          </a:bodyPr>
          <a:lstStyle/>
          <a:p>
            <a:pPr algn="l">
              <a:buNone/>
            </a:pPr>
            <a:r>
              <a:rPr sz="1200" b="1">
                <a:solidFill>
                  <a:schemeClr val="accent1"/>
                </a:solidFill>
                <a:latin typeface="+mn-lt"/>
                <a:ea typeface="+mn-lt"/>
                <a:cs typeface="+mn-lt"/>
              </a:rPr>
              <a:t>2 CONSTRAIN</a:t>
            </a:r>
            <a:endParaRPr sz="1200" b="1">
              <a:solidFill>
                <a:schemeClr val="accent1"/>
              </a:solidFill>
              <a:latin typeface="+mn-lt"/>
              <a:ea typeface="+mn-lt"/>
              <a:cs typeface="+mn-lt"/>
            </a:endParaRPr>
          </a:p>
        </p:txBody>
      </p:sp>
      <p:sp>
        <p:nvSpPr>
          <p:cNvPr id="13" name="TextBox 13"/>
          <p:cNvSpPr>
            <a:spLocks noGrp="1"/>
          </p:cNvSpPr>
          <p:nvPr/>
        </p:nvSpPr>
        <p:spPr>
          <a:xfrm>
            <a:off x="6566154" y="6156960"/>
            <a:ext cx="1087526" cy="234696"/>
          </a:xfrm>
          <a:prstGeom prst="rect">
            <a:avLst/>
          </a:prstGeom>
          <a:noFill/>
          <a:ln>
            <a:noFill/>
          </a:ln>
        </p:spPr>
        <p:txBody>
          <a:bodyPr wrap="none" lIns="0" tIns="0" rIns="0" bIns="0" anchor="t">
            <a:spAutoFit/>
          </a:bodyPr>
          <a:lstStyle/>
          <a:p>
            <a:pPr algn="l">
              <a:buNone/>
            </a:pPr>
            <a:r>
              <a:rPr sz="1200" b="1">
                <a:solidFill>
                  <a:schemeClr val="accent1"/>
                </a:solidFill>
                <a:latin typeface="+mn-lt"/>
                <a:ea typeface="+mn-lt"/>
                <a:cs typeface="+mn-lt"/>
              </a:rPr>
              <a:t>3 PROPAGATE</a:t>
            </a:r>
            <a:endParaRPr sz="1200" b="1">
              <a:solidFill>
                <a:schemeClr val="accent1"/>
              </a:solidFill>
              <a:latin typeface="+mn-lt"/>
              <a:ea typeface="+mn-lt"/>
              <a:cs typeface="+mn-lt"/>
            </a:endParaRPr>
          </a:p>
        </p:txBody>
      </p:sp>
      <p:sp>
        <p:nvSpPr>
          <p:cNvPr id="14" name="TextBox 14"/>
          <p:cNvSpPr>
            <a:spLocks noGrp="1"/>
          </p:cNvSpPr>
          <p:nvPr/>
        </p:nvSpPr>
        <p:spPr>
          <a:xfrm>
            <a:off x="9252204" y="6156960"/>
            <a:ext cx="755965" cy="234696"/>
          </a:xfrm>
          <a:prstGeom prst="rect">
            <a:avLst/>
          </a:prstGeom>
          <a:noFill/>
          <a:ln>
            <a:noFill/>
          </a:ln>
        </p:spPr>
        <p:txBody>
          <a:bodyPr wrap="none" lIns="0" tIns="0" rIns="0" bIns="0" anchor="t">
            <a:spAutoFit/>
          </a:bodyPr>
          <a:lstStyle/>
          <a:p>
            <a:pPr algn="l">
              <a:buNone/>
            </a:pPr>
            <a:r>
              <a:rPr sz="1200" b="1">
                <a:solidFill>
                  <a:schemeClr val="accent1"/>
                </a:solidFill>
                <a:latin typeface="+mn-lt"/>
                <a:ea typeface="+mn-lt"/>
                <a:cs typeface="+mn-lt"/>
              </a:rPr>
              <a:t>4 ATTEND</a:t>
            </a:r>
            <a:endParaRPr sz="1200" b="1">
              <a:solidFill>
                <a:schemeClr val="accent1"/>
              </a:solidFill>
              <a:latin typeface="+mn-lt"/>
              <a:ea typeface="+mn-lt"/>
              <a:cs typeface="+mn-lt"/>
            </a:endParaRPr>
          </a:p>
        </p:txBody>
      </p:sp>
      <p:sp>
        <p:nvSpPr>
          <p:cNvPr id="17" name="TextBox 17"/>
          <p:cNvSpPr>
            <a:spLocks noGrp="1"/>
          </p:cNvSpPr>
          <p:nvPr/>
        </p:nvSpPr>
        <p:spPr>
          <a:xfrm>
            <a:off x="11528106" y="6516052"/>
            <a:ext cx="173928" cy="205359"/>
          </a:xfrm>
          <a:prstGeom prst="rect">
            <a:avLst/>
          </a:prstGeom>
          <a:noFill/>
          <a:ln>
            <a:noFill/>
          </a:ln>
        </p:spPr>
        <p:txBody>
          <a:bodyPr wrap="none" lIns="0" tIns="0" rIns="0" bIns="0" anchor="t">
            <a:spAutoFit/>
          </a:bodyPr>
          <a:lstStyle/>
          <a:p>
            <a:pPr algn="r">
              <a:buNone/>
            </a:pPr>
            <a:r>
              <a:rPr sz="1050" b="1">
                <a:solidFill>
                  <a:schemeClr val="accent1"/>
                </a:solidFill>
                <a:latin typeface="+mn-lt"/>
                <a:ea typeface="+mn-lt"/>
                <a:cs typeface="+mn-lt"/>
              </a:rPr>
              <a:t>03</a:t>
            </a:r>
            <a:endParaRPr sz="1050" b="1">
              <a:solidFill>
                <a:schemeClr val="accent1"/>
              </a:solidFill>
              <a:latin typeface="+mn-lt"/>
              <a:ea typeface="+mn-lt"/>
              <a:cs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2" name="TextBox 2"/>
          <p:cNvSpPr>
            <a:spLocks noGrp="1"/>
          </p:cNvSpPr>
          <p:nvPr/>
        </p:nvSpPr>
        <p:spPr>
          <a:xfrm>
            <a:off x="481584" y="337185"/>
            <a:ext cx="10019800" cy="528066"/>
          </a:xfrm>
          <a:prstGeom prst="rect">
            <a:avLst/>
          </a:prstGeom>
          <a:noFill/>
          <a:ln>
            <a:noFill/>
          </a:ln>
        </p:spPr>
        <p:txBody>
          <a:bodyPr wrap="none" lIns="0" tIns="0" rIns="0" bIns="0" anchor="t">
            <a:spAutoFit/>
          </a:bodyPr>
          <a:lstStyle/>
          <a:p>
            <a:pPr algn="l">
              <a:buNone/>
            </a:pPr>
            <a:r>
              <a:rPr sz="2700" b="1">
                <a:solidFill>
                  <a:schemeClr val="dk1"/>
                </a:solidFill>
                <a:latin typeface="+mn-lt"/>
                <a:ea typeface="+mn-lt"/>
                <a:cs typeface="+mn-lt"/>
              </a:rPr>
              <a:t>A residual prior constrains the topology search space</a:t>
            </a:r>
            <a:endParaRPr sz="2700" b="1">
              <a:solidFill>
                <a:schemeClr val="dk1"/>
              </a:solidFill>
              <a:latin typeface="+mn-lt"/>
              <a:ea typeface="+mn-lt"/>
              <a:cs typeface="+mn-lt"/>
            </a:endParaRPr>
          </a:p>
        </p:txBody>
      </p:sp>
      <p:sp>
        <p:nvSpPr>
          <p:cNvPr id="3" name="Line 3"/>
          <p:cNvSpPr>
            <a:spLocks noGrp="1"/>
          </p:cNvSpPr>
          <p:nvPr/>
        </p:nvSpPr>
        <p:spPr>
          <a:xfrm>
            <a:off x="495300" y="933450"/>
            <a:ext cx="11201400" cy="9525"/>
          </a:xfrm>
          <a:custGeom>
            <a:avLst/>
            <a:gdLst/>
            <a:ahLst/>
            <a:cxnLst/>
            <a:rect l="l" t="t" r="r" b="b"/>
            <a:pathLst>
              <a:path w="11201400" h="9525">
                <a:moveTo>
                  <a:pt x="0" y="0"/>
                </a:moveTo>
                <a:lnTo>
                  <a:pt x="11201400" y="0"/>
                </a:lnTo>
              </a:path>
            </a:pathLst>
          </a:custGeom>
          <a:noFill/>
          <a:ln w="28575">
            <a:solidFill>
              <a:schemeClr val="accent1"/>
            </a:solidFill>
          </a:ln>
        </p:spPr>
      </p:sp>
      <p:sp>
        <p:nvSpPr>
          <p:cNvPr id="5" name="Rectangle 5"/>
          <p:cNvSpPr>
            <a:spLocks noGrp="1"/>
          </p:cNvSpPr>
          <p:nvPr/>
        </p:nvSpPr>
        <p:spPr>
          <a:xfrm>
            <a:off x="495300" y="1314450"/>
            <a:ext cx="3276600" cy="3524250"/>
          </a:xfrm>
          <a:prstGeom prst="rect">
            <a:avLst/>
          </a:prstGeom>
          <a:solidFill>
            <a:srgbClr val="FFFFFF"/>
          </a:solidFill>
          <a:ln w="9525">
            <a:solidFill>
              <a:schemeClr val="accent5"/>
            </a:solidFill>
          </a:ln>
        </p:spPr>
      </p:sp>
      <p:sp>
        <p:nvSpPr>
          <p:cNvPr id="6" name="Rectangle 6"/>
          <p:cNvSpPr>
            <a:spLocks noGrp="1"/>
          </p:cNvSpPr>
          <p:nvPr/>
        </p:nvSpPr>
        <p:spPr>
          <a:xfrm>
            <a:off x="495300" y="1314450"/>
            <a:ext cx="3276600" cy="95250"/>
          </a:xfrm>
          <a:prstGeom prst="rect">
            <a:avLst/>
          </a:prstGeom>
          <a:solidFill>
            <a:schemeClr val="accent3"/>
          </a:solidFill>
          <a:ln>
            <a:noFill/>
          </a:ln>
        </p:spPr>
      </p:sp>
      <p:sp>
        <p:nvSpPr>
          <p:cNvPr id="7" name="TextBox 7"/>
          <p:cNvSpPr>
            <a:spLocks noGrp="1"/>
          </p:cNvSpPr>
          <p:nvPr/>
        </p:nvSpPr>
        <p:spPr>
          <a:xfrm>
            <a:off x="714756" y="1596390"/>
            <a:ext cx="2813182" cy="352044"/>
          </a:xfrm>
          <a:prstGeom prst="rect">
            <a:avLst/>
          </a:prstGeom>
          <a:noFill/>
          <a:ln>
            <a:noFill/>
          </a:ln>
        </p:spPr>
        <p:txBody>
          <a:bodyPr wrap="none" lIns="0" tIns="0" rIns="0" bIns="0" anchor="t">
            <a:spAutoFit/>
          </a:bodyPr>
          <a:lstStyle/>
          <a:p>
            <a:pPr algn="l">
              <a:buNone/>
            </a:pPr>
            <a:r>
              <a:rPr sz="1800" b="1">
                <a:solidFill>
                  <a:schemeClr val="accent1"/>
                </a:solidFill>
                <a:latin typeface="+mn-lt"/>
                <a:ea typeface="+mn-lt"/>
                <a:cs typeface="+mn-lt"/>
              </a:rPr>
              <a:t>01</a:t>
            </a:r>
            <a:r>
              <a:rPr sz="1800" b="1">
                <a:solidFill>
                  <a:schemeClr val="dk1"/>
                </a:solidFill>
                <a:latin typeface="+mn-lt"/>
                <a:ea typeface="+mn-lt"/>
                <a:cs typeface="+mn-lt"/>
              </a:rPr>
              <a:t> Remove slow trends</a:t>
            </a:r>
            <a:endParaRPr sz="1800" b="1">
              <a:solidFill>
                <a:schemeClr val="dk1"/>
              </a:solidFill>
              <a:latin typeface="+mn-lt"/>
              <a:ea typeface="+mn-lt"/>
              <a:cs typeface="+mn-lt"/>
            </a:endParaRPr>
          </a:p>
        </p:txBody>
      </p:sp>
      <p:sp>
        <p:nvSpPr>
          <p:cNvPr id="8" name="TextBox 8"/>
          <p:cNvSpPr>
            <a:spLocks noGrp="1"/>
          </p:cNvSpPr>
          <p:nvPr/>
        </p:nvSpPr>
        <p:spPr>
          <a:xfrm>
            <a:off x="717042" y="2006918"/>
            <a:ext cx="3048381" cy="530733"/>
          </a:xfrm>
          <a:prstGeom prst="rect">
            <a:avLst/>
          </a:prstGeom>
          <a:noFill/>
          <a:ln>
            <a:noFill/>
          </a:ln>
        </p:spPr>
        <p:txBody>
          <a:bodyPr wrap="none" lIns="0" tIns="0" rIns="0" bIns="0" anchor="t">
            <a:spAutoFit/>
          </a:bodyPr>
          <a:lstStyle/>
          <a:p>
            <a:pPr algn="l">
              <a:lnSpc>
                <a:spcPts val="2100"/>
              </a:lnSpc>
              <a:buNone/>
            </a:pPr>
            <a:r>
              <a:rPr sz="1350">
                <a:solidFill>
                  <a:srgbClr val="5E5A55"/>
                </a:solidFill>
                <a:latin typeface="+mn-lt"/>
                <a:ea typeface="+mn-lt"/>
                <a:cs typeface="+mn-lt"/>
              </a:rPr>
              <a:t>Compute residual co-movement from</a:t>
            </a:r>
            <a:br>
              <a:rPr sz="1350">
                <a:solidFill>
                  <a:srgbClr val="5E5A55"/>
                </a:solidFill>
                <a:latin typeface="+mn-lt"/>
                <a:ea typeface="+mn-lt"/>
                <a:cs typeface="+mn-lt"/>
              </a:rPr>
            </a:br>
            <a:r>
              <a:rPr sz="1350">
                <a:solidFill>
                  <a:srgbClr val="5E5A55"/>
                </a:solidFill>
                <a:latin typeface="+mn-lt"/>
                <a:ea typeface="+mn-lt"/>
                <a:cs typeface="+mn-lt"/>
              </a:rPr>
              <a:t>the full training split—once.</a:t>
            </a:r>
            <a:endParaRPr sz="1350">
              <a:solidFill>
                <a:srgbClr val="5E5A55"/>
              </a:solidFill>
              <a:latin typeface="+mn-lt"/>
              <a:ea typeface="+mn-lt"/>
              <a:cs typeface="+mn-lt"/>
            </a:endParaRPr>
          </a:p>
        </p:txBody>
      </p:sp>
      <p:sp>
        <p:nvSpPr>
          <p:cNvPr id="9" name="Rectangle 9"/>
          <p:cNvSpPr>
            <a:spLocks noGrp="1"/>
          </p:cNvSpPr>
          <p:nvPr/>
        </p:nvSpPr>
        <p:spPr>
          <a:xfrm>
            <a:off x="685800" y="2819400"/>
            <a:ext cx="2895600" cy="876300"/>
          </a:xfrm>
          <a:prstGeom prst="rect">
            <a:avLst/>
          </a:prstGeom>
          <a:solidFill>
            <a:schemeClr val="lt1"/>
          </a:solidFill>
          <a:ln>
            <a:noFill/>
          </a:ln>
        </p:spPr>
      </p:sp>
      <p:pic>
        <p:nvPicPr>
          <p:cNvPr id="50" name="Image 10"/>
          <p:cNvPicPr>
            <a:picLocks noChangeAspect="1"/>
          </p:cNvPicPr>
          <p:nvPr/>
        </p:nvPicPr>
        <p:blipFill>
          <a:blip r:embed="rId1"/>
          <a:stretch>
            <a:fillRect/>
          </a:stretch>
        </p:blipFill>
        <p:spPr>
          <a:xfrm>
            <a:off x="812937" y="2992422"/>
            <a:ext cx="2641326" cy="530257"/>
          </a:xfrm>
          <a:prstGeom prst="rect">
            <a:avLst/>
          </a:prstGeom>
        </p:spPr>
      </p:pic>
      <p:sp>
        <p:nvSpPr>
          <p:cNvPr id="11" name="TextBox 11"/>
          <p:cNvSpPr>
            <a:spLocks noGrp="1"/>
          </p:cNvSpPr>
          <p:nvPr/>
        </p:nvSpPr>
        <p:spPr>
          <a:xfrm>
            <a:off x="752475" y="3917950"/>
            <a:ext cx="2901315" cy="826770"/>
          </a:xfrm>
          <a:prstGeom prst="rect">
            <a:avLst/>
          </a:prstGeom>
          <a:noFill/>
          <a:ln>
            <a:noFill/>
          </a:ln>
        </p:spPr>
        <p:txBody>
          <a:bodyPr wrap="none" lIns="0" tIns="0" rIns="0" bIns="0" anchor="t">
            <a:spAutoFit/>
          </a:bodyPr>
          <a:lstStyle/>
          <a:p>
            <a:pPr algn="l">
              <a:lnSpc>
                <a:spcPts val="2100"/>
              </a:lnSpc>
              <a:buNone/>
            </a:pPr>
            <a:r>
              <a:rPr sz="1500">
                <a:solidFill>
                  <a:schemeClr val="dk1"/>
                </a:solidFill>
                <a:latin typeface="+mn-lt"/>
                <a:ea typeface="+mn-lt"/>
                <a:cs typeface="+mn-lt"/>
              </a:rPr>
              <a:t>Trend removal prevents shared</a:t>
            </a:r>
            <a:br>
              <a:rPr sz="1500">
                <a:solidFill>
                  <a:schemeClr val="dk1"/>
                </a:solidFill>
                <a:latin typeface="+mn-lt"/>
                <a:ea typeface="+mn-lt"/>
                <a:cs typeface="+mn-lt"/>
              </a:rPr>
            </a:br>
            <a:r>
              <a:rPr sz="1500">
                <a:solidFill>
                  <a:schemeClr val="dk1"/>
                </a:solidFill>
                <a:latin typeface="+mn-lt"/>
                <a:ea typeface="+mn-lt"/>
                <a:cs typeface="+mn-lt"/>
              </a:rPr>
              <a:t>level shifts from dominating</a:t>
            </a:r>
            <a:br>
              <a:rPr sz="1500">
                <a:solidFill>
                  <a:schemeClr val="dk1"/>
                </a:solidFill>
                <a:latin typeface="+mn-lt"/>
                <a:ea typeface="+mn-lt"/>
                <a:cs typeface="+mn-lt"/>
              </a:rPr>
            </a:br>
            <a:r>
              <a:rPr sz="1500">
                <a:solidFill>
                  <a:schemeClr val="dk1"/>
                </a:solidFill>
                <a:latin typeface="+mn-lt"/>
                <a:ea typeface="+mn-lt"/>
                <a:cs typeface="+mn-lt"/>
              </a:rPr>
              <a:t>structural evidence.</a:t>
            </a:r>
            <a:endParaRPr sz="1500">
              <a:solidFill>
                <a:schemeClr val="dk1"/>
              </a:solidFill>
              <a:latin typeface="+mn-lt"/>
              <a:ea typeface="+mn-lt"/>
              <a:cs typeface="+mn-lt"/>
            </a:endParaRPr>
          </a:p>
        </p:txBody>
      </p:sp>
      <p:sp>
        <p:nvSpPr>
          <p:cNvPr id="13" name="Rectangle 13"/>
          <p:cNvSpPr>
            <a:spLocks noGrp="1"/>
          </p:cNvSpPr>
          <p:nvPr/>
        </p:nvSpPr>
        <p:spPr>
          <a:xfrm>
            <a:off x="4457700" y="1314450"/>
            <a:ext cx="3276600" cy="3524250"/>
          </a:xfrm>
          <a:prstGeom prst="rect">
            <a:avLst/>
          </a:prstGeom>
          <a:solidFill>
            <a:srgbClr val="FFFFFF"/>
          </a:solidFill>
          <a:ln w="9525">
            <a:solidFill>
              <a:schemeClr val="accent5"/>
            </a:solidFill>
          </a:ln>
        </p:spPr>
      </p:sp>
      <p:sp>
        <p:nvSpPr>
          <p:cNvPr id="14" name="Rectangle 14"/>
          <p:cNvSpPr>
            <a:spLocks noGrp="1"/>
          </p:cNvSpPr>
          <p:nvPr/>
        </p:nvSpPr>
        <p:spPr>
          <a:xfrm>
            <a:off x="4457700" y="1314450"/>
            <a:ext cx="3276600" cy="95250"/>
          </a:xfrm>
          <a:prstGeom prst="rect">
            <a:avLst/>
          </a:prstGeom>
          <a:solidFill>
            <a:schemeClr val="accent3"/>
          </a:solidFill>
          <a:ln>
            <a:noFill/>
          </a:ln>
        </p:spPr>
      </p:sp>
      <p:sp>
        <p:nvSpPr>
          <p:cNvPr id="15" name="TextBox 15"/>
          <p:cNvSpPr>
            <a:spLocks noGrp="1"/>
          </p:cNvSpPr>
          <p:nvPr/>
        </p:nvSpPr>
        <p:spPr>
          <a:xfrm>
            <a:off x="4752721" y="1579245"/>
            <a:ext cx="2442951" cy="352044"/>
          </a:xfrm>
          <a:prstGeom prst="rect">
            <a:avLst/>
          </a:prstGeom>
          <a:noFill/>
          <a:ln>
            <a:noFill/>
          </a:ln>
        </p:spPr>
        <p:txBody>
          <a:bodyPr wrap="none" lIns="0" tIns="0" rIns="0" bIns="0" anchor="t">
            <a:spAutoFit/>
          </a:bodyPr>
          <a:lstStyle/>
          <a:p>
            <a:pPr algn="l">
              <a:buNone/>
            </a:pPr>
            <a:r>
              <a:rPr sz="1800" b="1">
                <a:solidFill>
                  <a:schemeClr val="accent1"/>
                </a:solidFill>
                <a:latin typeface="+mn-lt"/>
                <a:ea typeface="+mn-lt"/>
                <a:cs typeface="+mn-lt"/>
              </a:rPr>
              <a:t>02</a:t>
            </a:r>
            <a:r>
              <a:rPr sz="1800" b="1">
                <a:solidFill>
                  <a:schemeClr val="dk1"/>
                </a:solidFill>
                <a:latin typeface="+mn-lt"/>
                <a:ea typeface="+mn-lt"/>
                <a:cs typeface="+mn-lt"/>
              </a:rPr>
              <a:t> Residual affinity</a:t>
            </a:r>
            <a:endParaRPr sz="1800" b="1">
              <a:solidFill>
                <a:schemeClr val="dk1"/>
              </a:solidFill>
              <a:latin typeface="+mn-lt"/>
              <a:ea typeface="+mn-lt"/>
              <a:cs typeface="+mn-lt"/>
            </a:endParaRPr>
          </a:p>
        </p:txBody>
      </p:sp>
      <p:sp>
        <p:nvSpPr>
          <p:cNvPr id="16" name="TextBox 16"/>
          <p:cNvSpPr>
            <a:spLocks noGrp="1"/>
          </p:cNvSpPr>
          <p:nvPr/>
        </p:nvSpPr>
        <p:spPr>
          <a:xfrm>
            <a:off x="4679442" y="2006918"/>
            <a:ext cx="2731198" cy="530733"/>
          </a:xfrm>
          <a:prstGeom prst="rect">
            <a:avLst/>
          </a:prstGeom>
          <a:noFill/>
          <a:ln>
            <a:noFill/>
          </a:ln>
        </p:spPr>
        <p:txBody>
          <a:bodyPr wrap="none" lIns="0" tIns="0" rIns="0" bIns="0" anchor="t">
            <a:spAutoFit/>
          </a:bodyPr>
          <a:lstStyle/>
          <a:p>
            <a:pPr algn="l">
              <a:lnSpc>
                <a:spcPts val="2100"/>
              </a:lnSpc>
              <a:buNone/>
            </a:pPr>
            <a:r>
              <a:rPr sz="1350">
                <a:solidFill>
                  <a:srgbClr val="5E5A55"/>
                </a:solidFill>
                <a:latin typeface="+mn-lt"/>
                <a:ea typeface="+mn-lt"/>
                <a:cs typeface="+mn-lt"/>
              </a:rPr>
              <a:t>Scale-invariant cosine similarity</a:t>
            </a:r>
            <a:br>
              <a:rPr sz="1350">
                <a:solidFill>
                  <a:srgbClr val="5E5A55"/>
                </a:solidFill>
                <a:latin typeface="+mn-lt"/>
                <a:ea typeface="+mn-lt"/>
                <a:cs typeface="+mn-lt"/>
              </a:rPr>
            </a:br>
            <a:r>
              <a:rPr sz="1350">
                <a:solidFill>
                  <a:srgbClr val="5E5A55"/>
                </a:solidFill>
                <a:latin typeface="+mn-lt"/>
                <a:ea typeface="+mn-lt"/>
                <a:cs typeface="+mn-lt"/>
              </a:rPr>
              <a:t>keeps non-negative evidence.</a:t>
            </a:r>
            <a:endParaRPr sz="1350">
              <a:solidFill>
                <a:srgbClr val="5E5A55"/>
              </a:solidFill>
              <a:latin typeface="+mn-lt"/>
              <a:ea typeface="+mn-lt"/>
              <a:cs typeface="+mn-lt"/>
            </a:endParaRPr>
          </a:p>
        </p:txBody>
      </p:sp>
      <p:sp>
        <p:nvSpPr>
          <p:cNvPr id="17" name="Rectangle 17"/>
          <p:cNvSpPr>
            <a:spLocks noGrp="1"/>
          </p:cNvSpPr>
          <p:nvPr/>
        </p:nvSpPr>
        <p:spPr>
          <a:xfrm>
            <a:off x="4648200" y="2724150"/>
            <a:ext cx="2895600" cy="1066800"/>
          </a:xfrm>
          <a:prstGeom prst="rect">
            <a:avLst/>
          </a:prstGeom>
          <a:solidFill>
            <a:schemeClr val="lt1"/>
          </a:solidFill>
          <a:ln>
            <a:noFill/>
          </a:ln>
        </p:spPr>
      </p:sp>
      <p:pic>
        <p:nvPicPr>
          <p:cNvPr id="57" name="Image 18"/>
          <p:cNvPicPr>
            <a:picLocks noChangeAspect="1"/>
          </p:cNvPicPr>
          <p:nvPr/>
        </p:nvPicPr>
        <p:blipFill>
          <a:blip r:embed="rId2"/>
          <a:stretch>
            <a:fillRect/>
          </a:stretch>
        </p:blipFill>
        <p:spPr>
          <a:xfrm>
            <a:off x="4981575" y="2811780"/>
            <a:ext cx="2228850" cy="891540"/>
          </a:xfrm>
          <a:prstGeom prst="rect">
            <a:avLst/>
          </a:prstGeom>
        </p:spPr>
      </p:pic>
      <p:sp>
        <p:nvSpPr>
          <p:cNvPr id="19" name="TextBox 19"/>
          <p:cNvSpPr>
            <a:spLocks noGrp="1"/>
          </p:cNvSpPr>
          <p:nvPr/>
        </p:nvSpPr>
        <p:spPr>
          <a:xfrm>
            <a:off x="4791710" y="3977640"/>
            <a:ext cx="2710815" cy="826770"/>
          </a:xfrm>
          <a:prstGeom prst="rect">
            <a:avLst/>
          </a:prstGeom>
          <a:noFill/>
          <a:ln>
            <a:noFill/>
          </a:ln>
        </p:spPr>
        <p:txBody>
          <a:bodyPr wrap="none" lIns="0" tIns="0" rIns="0" bIns="0" anchor="t">
            <a:spAutoFit/>
          </a:bodyPr>
          <a:lstStyle/>
          <a:p>
            <a:pPr algn="l">
              <a:lnSpc>
                <a:spcPts val="2100"/>
              </a:lnSpc>
              <a:buNone/>
            </a:pPr>
            <a:r>
              <a:rPr sz="1500">
                <a:solidFill>
                  <a:schemeClr val="dk1"/>
                </a:solidFill>
                <a:latin typeface="+mn-lt"/>
                <a:ea typeface="+mn-lt"/>
                <a:cs typeface="+mn-lt"/>
              </a:rPr>
              <a:t>The prior captures recurring</a:t>
            </a:r>
            <a:br>
              <a:rPr sz="1500">
                <a:solidFill>
                  <a:schemeClr val="dk1"/>
                </a:solidFill>
                <a:latin typeface="+mn-lt"/>
                <a:ea typeface="+mn-lt"/>
                <a:cs typeface="+mn-lt"/>
              </a:rPr>
            </a:br>
            <a:r>
              <a:rPr sz="1500">
                <a:solidFill>
                  <a:schemeClr val="dk1"/>
                </a:solidFill>
                <a:latin typeface="+mn-lt"/>
                <a:ea typeface="+mn-lt"/>
                <a:cs typeface="+mn-lt"/>
              </a:rPr>
              <a:t>channel relations before any</a:t>
            </a:r>
            <a:br>
              <a:rPr sz="1500">
                <a:solidFill>
                  <a:schemeClr val="dk1"/>
                </a:solidFill>
                <a:latin typeface="+mn-lt"/>
                <a:ea typeface="+mn-lt"/>
                <a:cs typeface="+mn-lt"/>
              </a:rPr>
            </a:br>
            <a:r>
              <a:rPr sz="1500">
                <a:solidFill>
                  <a:schemeClr val="dk1"/>
                </a:solidFill>
                <a:latin typeface="+mn-lt"/>
                <a:ea typeface="+mn-lt"/>
                <a:cs typeface="+mn-lt"/>
              </a:rPr>
              <a:t>short patch is observed.</a:t>
            </a:r>
            <a:endParaRPr sz="1500">
              <a:solidFill>
                <a:schemeClr val="dk1"/>
              </a:solidFill>
              <a:latin typeface="+mn-lt"/>
              <a:ea typeface="+mn-lt"/>
              <a:cs typeface="+mn-lt"/>
            </a:endParaRPr>
          </a:p>
        </p:txBody>
      </p:sp>
      <p:sp>
        <p:nvSpPr>
          <p:cNvPr id="21" name="Rectangle 21"/>
          <p:cNvSpPr>
            <a:spLocks noGrp="1"/>
          </p:cNvSpPr>
          <p:nvPr/>
        </p:nvSpPr>
        <p:spPr>
          <a:xfrm>
            <a:off x="8420100" y="1314450"/>
            <a:ext cx="3276600" cy="3524250"/>
          </a:xfrm>
          <a:prstGeom prst="rect">
            <a:avLst/>
          </a:prstGeom>
          <a:solidFill>
            <a:srgbClr val="FFFFFF"/>
          </a:solidFill>
          <a:ln w="9525">
            <a:solidFill>
              <a:schemeClr val="accent5"/>
            </a:solidFill>
            <a:prstDash val="solid"/>
          </a:ln>
        </p:spPr>
        <p:style>
          <a:lnRef idx="2">
            <a:schemeClr val="accent6"/>
          </a:lnRef>
          <a:fillRef idx="0">
            <a:srgbClr val="FFFFFF"/>
          </a:fillRef>
          <a:effectRef idx="0">
            <a:srgbClr val="FFFFFF"/>
          </a:effectRef>
          <a:fontRef idx="minor">
            <a:schemeClr val="tx1"/>
          </a:fontRef>
        </p:style>
      </p:sp>
      <p:sp>
        <p:nvSpPr>
          <p:cNvPr id="22" name="Rectangle 22"/>
          <p:cNvSpPr>
            <a:spLocks noGrp="1"/>
          </p:cNvSpPr>
          <p:nvPr/>
        </p:nvSpPr>
        <p:spPr>
          <a:xfrm>
            <a:off x="8420100" y="1314450"/>
            <a:ext cx="3276600" cy="95250"/>
          </a:xfrm>
          <a:prstGeom prst="rect">
            <a:avLst/>
          </a:prstGeom>
          <a:solidFill>
            <a:schemeClr val="accent3"/>
          </a:solidFill>
          <a:ln w="0">
            <a:noFill/>
            <a:prstDash val="solid"/>
          </a:ln>
        </p:spPr>
        <p:style>
          <a:lnRef idx="0">
            <a:srgbClr val="FFFFFF"/>
          </a:lnRef>
          <a:fillRef idx="1">
            <a:schemeClr val="accent3"/>
          </a:fillRef>
          <a:effectRef idx="0">
            <a:srgbClr val="FFFFFF"/>
          </a:effectRef>
          <a:fontRef idx="minor">
            <a:schemeClr val="dk1"/>
          </a:fontRef>
        </p:style>
      </p:sp>
      <p:sp>
        <p:nvSpPr>
          <p:cNvPr id="23" name="TextBox 23"/>
          <p:cNvSpPr>
            <a:spLocks noGrp="1"/>
          </p:cNvSpPr>
          <p:nvPr/>
        </p:nvSpPr>
        <p:spPr>
          <a:xfrm>
            <a:off x="8639556" y="1596390"/>
            <a:ext cx="2813209" cy="352044"/>
          </a:xfrm>
          <a:prstGeom prst="rect">
            <a:avLst/>
          </a:prstGeom>
          <a:noFill/>
          <a:ln>
            <a:noFill/>
          </a:ln>
        </p:spPr>
        <p:txBody>
          <a:bodyPr wrap="none" lIns="0" tIns="0" rIns="0" bIns="0" anchor="t">
            <a:spAutoFit/>
          </a:bodyPr>
          <a:lstStyle/>
          <a:p>
            <a:pPr algn="l">
              <a:buNone/>
              <a:defRPr>
                <a:latin typeface="+mn-lt"/>
                <a:ea typeface="+mn-lt"/>
                <a:cs typeface="+mn-lt"/>
              </a:defRPr>
            </a:pPr>
            <a:r>
              <a:rPr sz="1800" b="1">
                <a:solidFill>
                  <a:schemeClr val="accent1"/>
                </a:solidFill>
                <a:latin typeface="+mn-lt"/>
                <a:ea typeface="+mn-lt"/>
                <a:cs typeface="+mn-lt"/>
              </a:rPr>
              <a:t>03</a:t>
            </a:r>
            <a:r>
              <a:rPr sz="1800" b="1">
                <a:solidFill>
                  <a:schemeClr val="dk1"/>
                </a:solidFill>
                <a:latin typeface="+mn-lt"/>
                <a:ea typeface="+mn-lt"/>
                <a:cs typeface="+mn-lt"/>
              </a:rPr>
              <a:t> Constrain basis modes</a:t>
            </a:r>
            <a:endParaRPr sz="1800" b="1">
              <a:solidFill>
                <a:schemeClr val="dk1"/>
              </a:solidFill>
              <a:latin typeface="+mn-lt"/>
              <a:ea typeface="+mn-lt"/>
              <a:cs typeface="+mn-lt"/>
            </a:endParaRPr>
          </a:p>
        </p:txBody>
      </p:sp>
      <p:sp>
        <p:nvSpPr>
          <p:cNvPr id="24" name="TextBox 24"/>
          <p:cNvSpPr>
            <a:spLocks noGrp="1"/>
          </p:cNvSpPr>
          <p:nvPr/>
        </p:nvSpPr>
        <p:spPr>
          <a:xfrm>
            <a:off x="8641842" y="2006918"/>
            <a:ext cx="3048381" cy="533400"/>
          </a:xfrm>
          <a:prstGeom prst="rect">
            <a:avLst/>
          </a:prstGeom>
          <a:noFill/>
          <a:ln>
            <a:noFill/>
          </a:ln>
        </p:spPr>
        <p:txBody>
          <a:bodyPr wrap="none" lIns="0" tIns="0" rIns="0" bIns="0" anchor="t">
            <a:spAutoFit/>
          </a:bodyPr>
          <a:lstStyle/>
          <a:p>
            <a:pPr algn="l">
              <a:lnSpc>
                <a:spcPts val="2100"/>
              </a:lnSpc>
              <a:buNone/>
            </a:pPr>
            <a:r>
              <a:rPr sz="1350">
                <a:solidFill>
                  <a:srgbClr val="5E5A55"/>
                </a:solidFill>
                <a:latin typeface="+mn-lt"/>
                <a:ea typeface="+mn-lt"/>
                <a:cs typeface="+mn-lt"/>
              </a:rPr>
              <a:t>Keep the dominant R eigenvectors;</a:t>
            </a:r>
            <a:br>
              <a:rPr sz="1350">
                <a:solidFill>
                  <a:srgbClr val="5E5A55"/>
                </a:solidFill>
                <a:latin typeface="+mn-lt"/>
                <a:ea typeface="+mn-lt"/>
                <a:cs typeface="+mn-lt"/>
              </a:rPr>
            </a:br>
            <a:r>
              <a:rPr sz="1350">
                <a:solidFill>
                  <a:srgbClr val="5E5A55"/>
                </a:solidFill>
                <a:latin typeface="+mn-lt"/>
                <a:ea typeface="+mn-lt"/>
                <a:cs typeface="+mn-lt"/>
              </a:rPr>
              <a:t>learn only their rotation and mixing.</a:t>
            </a:r>
            <a:endParaRPr sz="1350">
              <a:solidFill>
                <a:srgbClr val="5E5A55"/>
              </a:solidFill>
              <a:latin typeface="+mn-lt"/>
              <a:ea typeface="+mn-lt"/>
              <a:cs typeface="+mn-lt"/>
            </a:endParaRPr>
          </a:p>
        </p:txBody>
      </p:sp>
      <p:sp>
        <p:nvSpPr>
          <p:cNvPr id="25" name="Rectangle 25"/>
          <p:cNvSpPr>
            <a:spLocks noGrp="1"/>
          </p:cNvSpPr>
          <p:nvPr/>
        </p:nvSpPr>
        <p:spPr>
          <a:xfrm>
            <a:off x="8610600" y="2819400"/>
            <a:ext cx="2895600" cy="876300"/>
          </a:xfrm>
          <a:prstGeom prst="rect">
            <a:avLst/>
          </a:prstGeom>
          <a:solidFill>
            <a:schemeClr val="lt1"/>
          </a:solidFill>
          <a:ln w="0">
            <a:noFill/>
            <a:prstDash val="solid"/>
          </a:ln>
        </p:spPr>
      </p:sp>
      <p:pic>
        <p:nvPicPr>
          <p:cNvPr id="64" name="Image 26"/>
          <p:cNvPicPr>
            <a:picLocks noChangeAspect="1"/>
          </p:cNvPicPr>
          <p:nvPr/>
        </p:nvPicPr>
        <p:blipFill>
          <a:blip r:embed="rId3"/>
          <a:stretch>
            <a:fillRect/>
          </a:stretch>
        </p:blipFill>
        <p:spPr>
          <a:xfrm>
            <a:off x="8911235" y="2992422"/>
            <a:ext cx="2294330" cy="530257"/>
          </a:xfrm>
          <a:prstGeom prst="rect">
            <a:avLst/>
          </a:prstGeom>
        </p:spPr>
      </p:pic>
      <p:sp>
        <p:nvSpPr>
          <p:cNvPr id="27" name="TextBox 27"/>
          <p:cNvSpPr>
            <a:spLocks noGrp="1"/>
          </p:cNvSpPr>
          <p:nvPr/>
        </p:nvSpPr>
        <p:spPr>
          <a:xfrm>
            <a:off x="8658225" y="3917918"/>
            <a:ext cx="2901315" cy="826770"/>
          </a:xfrm>
          <a:prstGeom prst="rect">
            <a:avLst/>
          </a:prstGeom>
          <a:noFill/>
          <a:ln>
            <a:noFill/>
          </a:ln>
        </p:spPr>
        <p:txBody>
          <a:bodyPr wrap="none" lIns="0" tIns="0" rIns="0" bIns="0" anchor="t">
            <a:spAutoFit/>
          </a:bodyPr>
          <a:lstStyle/>
          <a:p>
            <a:pPr algn="l">
              <a:lnSpc>
                <a:spcPts val="2100"/>
              </a:lnSpc>
              <a:buNone/>
            </a:pPr>
            <a:r>
              <a:rPr sz="1500">
                <a:solidFill>
                  <a:schemeClr val="dk1"/>
                </a:solidFill>
                <a:latin typeface="+mn-lt"/>
                <a:ea typeface="+mn-lt"/>
                <a:cs typeface="+mn-lt"/>
              </a:rPr>
              <a:t>Updates may reweight modes,</a:t>
            </a:r>
            <a:br>
              <a:rPr sz="1500">
                <a:solidFill>
                  <a:schemeClr val="dk1"/>
                </a:solidFill>
                <a:latin typeface="+mn-lt"/>
                <a:ea typeface="+mn-lt"/>
                <a:cs typeface="+mn-lt"/>
              </a:rPr>
            </a:br>
            <a:r>
              <a:rPr sz="1500">
                <a:solidFill>
                  <a:schemeClr val="dk1"/>
                </a:solidFill>
                <a:latin typeface="+mn-lt"/>
                <a:ea typeface="+mn-lt"/>
                <a:cs typeface="+mn-lt"/>
              </a:rPr>
              <a:t>but cannot drift outside the</a:t>
            </a:r>
            <a:br>
              <a:rPr sz="1500">
                <a:solidFill>
                  <a:schemeClr val="dk1"/>
                </a:solidFill>
                <a:latin typeface="+mn-lt"/>
                <a:ea typeface="+mn-lt"/>
                <a:cs typeface="+mn-lt"/>
              </a:rPr>
            </a:br>
            <a:r>
              <a:rPr sz="1500">
                <a:solidFill>
                  <a:schemeClr val="dk1"/>
                </a:solidFill>
                <a:latin typeface="+mn-lt"/>
                <a:ea typeface="+mn-lt"/>
                <a:cs typeface="+mn-lt"/>
              </a:rPr>
              <a:t>dominant structural subspace.</a:t>
            </a:r>
            <a:endParaRPr sz="1500">
              <a:solidFill>
                <a:schemeClr val="dk1"/>
              </a:solidFill>
              <a:latin typeface="+mn-lt"/>
              <a:ea typeface="+mn-lt"/>
              <a:cs typeface="+mn-lt"/>
            </a:endParaRPr>
          </a:p>
        </p:txBody>
      </p:sp>
      <p:sp>
        <p:nvSpPr>
          <p:cNvPr id="29" name="Line 29"/>
          <p:cNvSpPr>
            <a:spLocks noGrp="1"/>
          </p:cNvSpPr>
          <p:nvPr/>
        </p:nvSpPr>
        <p:spPr>
          <a:xfrm>
            <a:off x="3886200" y="3028950"/>
            <a:ext cx="419100" cy="1"/>
          </a:xfrm>
          <a:prstGeom prst="line">
            <a:avLst/>
          </a:prstGeom>
          <a:noFill/>
          <a:ln w="28575">
            <a:solidFill>
              <a:schemeClr val="accent1"/>
            </a:solidFill>
            <a:tailEnd type="triangle" w="lg" len="lg"/>
          </a:ln>
        </p:spPr>
      </p:sp>
      <p:sp>
        <p:nvSpPr>
          <p:cNvPr id="30" name="Line 30"/>
          <p:cNvSpPr>
            <a:spLocks noGrp="1"/>
          </p:cNvSpPr>
          <p:nvPr/>
        </p:nvSpPr>
        <p:spPr>
          <a:xfrm>
            <a:off x="7848600" y="3028950"/>
            <a:ext cx="419100" cy="1"/>
          </a:xfrm>
          <a:prstGeom prst="line">
            <a:avLst/>
          </a:prstGeom>
          <a:noFill/>
          <a:ln w="28575">
            <a:solidFill>
              <a:schemeClr val="accent1"/>
            </a:solidFill>
            <a:tailEnd type="triangle" w="lg" len="lg"/>
          </a:ln>
        </p:spPr>
      </p:sp>
      <p:sp>
        <p:nvSpPr>
          <p:cNvPr id="32" name="Rectangle 32"/>
          <p:cNvSpPr>
            <a:spLocks noGrp="1"/>
          </p:cNvSpPr>
          <p:nvPr/>
        </p:nvSpPr>
        <p:spPr>
          <a:xfrm>
            <a:off x="1200150" y="5219700"/>
            <a:ext cx="9791700" cy="838200"/>
          </a:xfrm>
          <a:prstGeom prst="rect">
            <a:avLst/>
          </a:prstGeom>
          <a:solidFill>
            <a:schemeClr val="accent3"/>
          </a:solidFill>
          <a:ln>
            <a:noFill/>
          </a:ln>
        </p:spPr>
      </p:sp>
      <p:sp>
        <p:nvSpPr>
          <p:cNvPr id="33" name="Rectangle 33"/>
          <p:cNvSpPr>
            <a:spLocks noGrp="1"/>
          </p:cNvSpPr>
          <p:nvPr/>
        </p:nvSpPr>
        <p:spPr>
          <a:xfrm>
            <a:off x="1200150" y="5219700"/>
            <a:ext cx="95250" cy="838200"/>
          </a:xfrm>
          <a:prstGeom prst="rect">
            <a:avLst/>
          </a:prstGeom>
          <a:solidFill>
            <a:schemeClr val="accent1"/>
          </a:solidFill>
          <a:ln>
            <a:noFill/>
          </a:ln>
        </p:spPr>
      </p:sp>
      <p:sp>
        <p:nvSpPr>
          <p:cNvPr id="34" name="TextBox 34"/>
          <p:cNvSpPr>
            <a:spLocks noGrp="1"/>
          </p:cNvSpPr>
          <p:nvPr/>
        </p:nvSpPr>
        <p:spPr>
          <a:xfrm>
            <a:off x="1498092" y="5506403"/>
            <a:ext cx="1717449" cy="264033"/>
          </a:xfrm>
          <a:prstGeom prst="rect">
            <a:avLst/>
          </a:prstGeom>
          <a:noFill/>
          <a:ln>
            <a:noFill/>
          </a:ln>
        </p:spPr>
        <p:txBody>
          <a:bodyPr wrap="none" lIns="0" tIns="0" rIns="0" bIns="0" anchor="t">
            <a:spAutoFit/>
          </a:bodyPr>
          <a:lstStyle/>
          <a:p>
            <a:pPr algn="l">
              <a:buNone/>
            </a:pPr>
            <a:r>
              <a:rPr sz="1350" b="1">
                <a:solidFill>
                  <a:schemeClr val="accent1"/>
                </a:solidFill>
                <a:latin typeface="+mn-lt"/>
                <a:ea typeface="+mn-lt"/>
                <a:cs typeface="+mn-lt"/>
              </a:rPr>
              <a:t>WHY THIS MATTERS</a:t>
            </a:r>
            <a:endParaRPr sz="1350" b="1">
              <a:solidFill>
                <a:schemeClr val="accent1"/>
              </a:solidFill>
              <a:latin typeface="+mn-lt"/>
              <a:ea typeface="+mn-lt"/>
              <a:cs typeface="+mn-lt"/>
            </a:endParaRPr>
          </a:p>
        </p:txBody>
      </p:sp>
      <p:sp>
        <p:nvSpPr>
          <p:cNvPr id="35" name="TextBox 35"/>
          <p:cNvSpPr>
            <a:spLocks noGrp="1"/>
          </p:cNvSpPr>
          <p:nvPr/>
        </p:nvSpPr>
        <p:spPr>
          <a:xfrm>
            <a:off x="3771773" y="5363527"/>
            <a:ext cx="5737479" cy="570357"/>
          </a:xfrm>
          <a:prstGeom prst="rect">
            <a:avLst/>
          </a:prstGeom>
          <a:noFill/>
          <a:ln>
            <a:noFill/>
          </a:ln>
        </p:spPr>
        <p:txBody>
          <a:bodyPr wrap="none" lIns="0" tIns="0" rIns="0" bIns="0" anchor="t">
            <a:spAutoFit/>
          </a:bodyPr>
          <a:lstStyle/>
          <a:p>
            <a:pPr algn="l">
              <a:lnSpc>
                <a:spcPts val="1950"/>
              </a:lnSpc>
              <a:buNone/>
            </a:pPr>
            <a:r>
              <a:rPr sz="1650" b="1">
                <a:solidFill>
                  <a:schemeClr val="dk1"/>
                </a:solidFill>
                <a:latin typeface="+mn-lt"/>
                <a:ea typeface="+mn-lt"/>
                <a:cs typeface="+mn-lt"/>
              </a:rPr>
              <a:t>Learn inside a data-derived O(CR) search space—</a:t>
            </a:r>
            <a:br>
              <a:rPr sz="1650" b="1">
                <a:solidFill>
                  <a:schemeClr val="dk1"/>
                </a:solidFill>
                <a:latin typeface="+mn-lt"/>
                <a:ea typeface="+mn-lt"/>
                <a:cs typeface="+mn-lt"/>
              </a:rPr>
            </a:br>
            <a:r>
              <a:rPr sz="1650" b="1">
                <a:solidFill>
                  <a:schemeClr val="dk1"/>
                </a:solidFill>
                <a:latin typeface="+mn-lt"/>
                <a:ea typeface="+mn-lt"/>
                <a:cs typeface="+mn-lt"/>
              </a:rPr>
              <a:t>rather than rediscovering O(C²) topology per patch.</a:t>
            </a:r>
            <a:endParaRPr sz="1650" b="1">
              <a:solidFill>
                <a:schemeClr val="dk1"/>
              </a:solidFill>
              <a:latin typeface="+mn-lt"/>
              <a:ea typeface="+mn-lt"/>
              <a:cs typeface="+mn-lt"/>
            </a:endParaRPr>
          </a:p>
        </p:txBody>
      </p:sp>
      <p:sp>
        <p:nvSpPr>
          <p:cNvPr id="37" name="Line 37"/>
          <p:cNvSpPr>
            <a:spLocks noGrp="1"/>
          </p:cNvSpPr>
          <p:nvPr/>
        </p:nvSpPr>
        <p:spPr>
          <a:xfrm>
            <a:off x="495300" y="6362700"/>
            <a:ext cx="11201400" cy="9525"/>
          </a:xfrm>
          <a:custGeom>
            <a:avLst/>
            <a:gdLst/>
            <a:ahLst/>
            <a:cxnLst/>
            <a:rect l="l" t="t" r="r" b="b"/>
            <a:pathLst>
              <a:path w="11201400" h="9525">
                <a:moveTo>
                  <a:pt x="0" y="0"/>
                </a:moveTo>
                <a:lnTo>
                  <a:pt x="11201400" y="0"/>
                </a:lnTo>
              </a:path>
            </a:pathLst>
          </a:custGeom>
          <a:noFill/>
          <a:ln w="9525">
            <a:solidFill>
              <a:schemeClr val="accent5"/>
            </a:solidFill>
          </a:ln>
        </p:spPr>
      </p:sp>
      <p:sp>
        <p:nvSpPr>
          <p:cNvPr id="39" name="TextBox 39"/>
          <p:cNvSpPr>
            <a:spLocks noGrp="1"/>
          </p:cNvSpPr>
          <p:nvPr/>
        </p:nvSpPr>
        <p:spPr>
          <a:xfrm>
            <a:off x="11528106" y="6497002"/>
            <a:ext cx="173928" cy="205359"/>
          </a:xfrm>
          <a:prstGeom prst="rect">
            <a:avLst/>
          </a:prstGeom>
          <a:noFill/>
          <a:ln>
            <a:noFill/>
          </a:ln>
        </p:spPr>
        <p:txBody>
          <a:bodyPr wrap="none" lIns="0" tIns="0" rIns="0" bIns="0" anchor="t">
            <a:spAutoFit/>
          </a:bodyPr>
          <a:lstStyle/>
          <a:p>
            <a:pPr algn="r">
              <a:buNone/>
            </a:pPr>
            <a:r>
              <a:rPr sz="1050" b="1">
                <a:solidFill>
                  <a:schemeClr val="accent1"/>
                </a:solidFill>
                <a:latin typeface="+mn-lt"/>
                <a:ea typeface="+mn-lt"/>
                <a:cs typeface="+mn-lt"/>
              </a:rPr>
              <a:t>04</a:t>
            </a:r>
            <a:endParaRPr sz="1050" b="1">
              <a:solidFill>
                <a:schemeClr val="accent1"/>
              </a:solidFill>
              <a:latin typeface="+mn-lt"/>
              <a:ea typeface="+mn-lt"/>
              <a:cs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2" name="TextBox 2"/>
          <p:cNvSpPr>
            <a:spLocks noGrp="1"/>
          </p:cNvSpPr>
          <p:nvPr/>
        </p:nvSpPr>
        <p:spPr>
          <a:xfrm>
            <a:off x="481584" y="337185"/>
            <a:ext cx="11203265" cy="528066"/>
          </a:xfrm>
          <a:prstGeom prst="rect">
            <a:avLst/>
          </a:prstGeom>
          <a:noFill/>
          <a:ln>
            <a:noFill/>
          </a:ln>
        </p:spPr>
        <p:txBody>
          <a:bodyPr wrap="none" lIns="0" tIns="0" rIns="0" bIns="0" anchor="t">
            <a:spAutoFit/>
          </a:bodyPr>
          <a:lstStyle/>
          <a:p>
            <a:pPr algn="l">
              <a:buNone/>
            </a:pPr>
            <a:r>
              <a:rPr sz="2700" b="1">
                <a:solidFill>
                  <a:schemeClr val="dk1"/>
                </a:solidFill>
                <a:latin typeface="+mn-lt"/>
                <a:ea typeface="+mn-lt"/>
                <a:cs typeface="+mn-lt"/>
              </a:rPr>
              <a:t>Context-aware mixing yields a patch-specific directed graph</a:t>
            </a:r>
            <a:endParaRPr sz="2700" b="1">
              <a:solidFill>
                <a:schemeClr val="dk1"/>
              </a:solidFill>
              <a:latin typeface="+mn-lt"/>
              <a:ea typeface="+mn-lt"/>
              <a:cs typeface="+mn-lt"/>
            </a:endParaRPr>
          </a:p>
        </p:txBody>
      </p:sp>
      <p:sp>
        <p:nvSpPr>
          <p:cNvPr id="3" name="Line 3"/>
          <p:cNvSpPr>
            <a:spLocks noGrp="1"/>
          </p:cNvSpPr>
          <p:nvPr/>
        </p:nvSpPr>
        <p:spPr>
          <a:xfrm>
            <a:off x="495300" y="933450"/>
            <a:ext cx="11201400" cy="9525"/>
          </a:xfrm>
          <a:custGeom>
            <a:avLst/>
            <a:gdLst/>
            <a:ahLst/>
            <a:cxnLst/>
            <a:rect l="l" t="t" r="r" b="b"/>
            <a:pathLst>
              <a:path w="11201400" h="9525">
                <a:moveTo>
                  <a:pt x="0" y="0"/>
                </a:moveTo>
                <a:lnTo>
                  <a:pt x="11201400" y="0"/>
                </a:lnTo>
              </a:path>
            </a:pathLst>
          </a:custGeom>
          <a:noFill/>
          <a:ln w="28575">
            <a:solidFill>
              <a:schemeClr val="accent1"/>
            </a:solidFill>
          </a:ln>
        </p:spPr>
      </p:sp>
      <p:sp>
        <p:nvSpPr>
          <p:cNvPr id="5" name="Line 5"/>
          <p:cNvSpPr>
            <a:spLocks noGrp="1"/>
          </p:cNvSpPr>
          <p:nvPr/>
        </p:nvSpPr>
        <p:spPr>
          <a:xfrm>
            <a:off x="1257300" y="2571750"/>
            <a:ext cx="9677400" cy="0"/>
          </a:xfrm>
          <a:prstGeom prst="line">
            <a:avLst/>
          </a:prstGeom>
          <a:noFill/>
          <a:ln w="21431">
            <a:solidFill>
              <a:srgbClr val="C43B00"/>
            </a:solidFill>
            <a:prstDash val="solid"/>
            <a:tailEnd type="triangle" w="lg" len="lg"/>
          </a:ln>
        </p:spPr>
      </p:sp>
      <p:sp>
        <p:nvSpPr>
          <p:cNvPr id="6" name="Rectangle 6"/>
          <p:cNvSpPr>
            <a:spLocks noGrp="1"/>
          </p:cNvSpPr>
          <p:nvPr/>
        </p:nvSpPr>
        <p:spPr>
          <a:xfrm>
            <a:off x="495300" y="1485900"/>
            <a:ext cx="1847850" cy="2095500"/>
          </a:xfrm>
          <a:prstGeom prst="rect">
            <a:avLst/>
          </a:prstGeom>
          <a:solidFill>
            <a:srgbClr val="FFFDFC"/>
          </a:solidFill>
          <a:ln w="9525">
            <a:solidFill>
              <a:srgbClr val="D9CFC8"/>
            </a:solidFill>
            <a:prstDash val="solid"/>
          </a:ln>
        </p:spPr>
      </p:sp>
      <p:sp>
        <p:nvSpPr>
          <p:cNvPr id="7" name="Rectangle 7"/>
          <p:cNvSpPr>
            <a:spLocks noGrp="1"/>
          </p:cNvSpPr>
          <p:nvPr/>
        </p:nvSpPr>
        <p:spPr>
          <a:xfrm>
            <a:off x="1162050" y="1438275"/>
            <a:ext cx="514350" cy="323850"/>
          </a:xfrm>
          <a:prstGeom prst="rect">
            <a:avLst/>
          </a:prstGeom>
          <a:solidFill>
            <a:srgbClr val="C43B00"/>
          </a:solidFill>
          <a:ln w="0">
            <a:solidFill>
              <a:srgbClr val="C43B00"/>
            </a:solidFill>
            <a:prstDash val="solid"/>
          </a:ln>
        </p:spPr>
      </p:sp>
      <p:sp>
        <p:nvSpPr>
          <p:cNvPr id="8" name="TextBox 8"/>
          <p:cNvSpPr>
            <a:spLocks noGrp="1"/>
          </p:cNvSpPr>
          <p:nvPr/>
        </p:nvSpPr>
        <p:spPr>
          <a:xfrm>
            <a:off x="1162050" y="1457325"/>
            <a:ext cx="514350" cy="276225"/>
          </a:xfrm>
          <a:prstGeom prst="rect">
            <a:avLst/>
          </a:prstGeom>
          <a:noFill/>
          <a:ln>
            <a:noFill/>
          </a:ln>
        </p:spPr>
        <p:txBody>
          <a:bodyPr wrap="none" lIns="0" tIns="0" rIns="0" bIns="0" anchor="ctr">
            <a:spAutoFit/>
          </a:bodyPr>
          <a:lstStyle/>
          <a:p>
            <a:pPr algn="ctr">
              <a:buNone/>
              <a:defRPr sz="1050" b="1">
                <a:solidFill>
                  <a:srgbClr val="FFFFFF"/>
                </a:solidFill>
              </a:defRPr>
            </a:pPr>
            <a:r>
              <a:rPr sz="1050" b="1">
                <a:solidFill>
                  <a:srgbClr val="FFFFFF"/>
                </a:solidFill>
                <a:latin typeface="+mn-lt"/>
                <a:ea typeface="+mn-lt"/>
                <a:cs typeface="+mn-lt"/>
              </a:rPr>
              <a:t>01</a:t>
            </a:r>
            <a:endParaRPr sz="1050" b="1">
              <a:solidFill>
                <a:srgbClr val="C43B00"/>
              </a:solidFill>
              <a:latin typeface="+mn-lt"/>
              <a:ea typeface="+mn-lt"/>
              <a:cs typeface="+mn-lt"/>
            </a:endParaRPr>
          </a:p>
        </p:txBody>
      </p:sp>
      <p:sp>
        <p:nvSpPr>
          <p:cNvPr id="9" name="TextBox 9"/>
          <p:cNvSpPr>
            <a:spLocks noGrp="1"/>
          </p:cNvSpPr>
          <p:nvPr/>
        </p:nvSpPr>
        <p:spPr>
          <a:xfrm>
            <a:off x="619125" y="1981200"/>
            <a:ext cx="1600200" cy="647700"/>
          </a:xfrm>
          <a:prstGeom prst="rect">
            <a:avLst/>
          </a:prstGeom>
          <a:noFill/>
          <a:ln>
            <a:noFill/>
          </a:ln>
        </p:spPr>
        <p:txBody>
          <a:bodyPr wrap="none" lIns="0" tIns="0" rIns="0" bIns="0" anchor="ctr">
            <a:spAutoFit/>
          </a:bodyPr>
          <a:lstStyle/>
          <a:p>
            <a:pPr algn="ctr">
              <a:buNone/>
              <a:defRPr sz="1315" b="1">
                <a:solidFill>
                  <a:srgbClr val="2C2927"/>
                </a:solidFill>
              </a:defRPr>
            </a:pPr>
            <a:r>
              <a:rPr sz="1315" b="1">
                <a:solidFill>
                  <a:srgbClr val="2C2927"/>
                </a:solidFill>
                <a:latin typeface="+mn-lt"/>
                <a:ea typeface="+mn-lt"/>
                <a:cs typeface="+mn-lt"/>
              </a:rPr>
              <a:t>READ PATCH</a:t>
            </a:r>
            <a:endParaRPr sz="1350" b="1">
              <a:solidFill>
                <a:srgbClr val="2C2927"/>
              </a:solidFill>
              <a:latin typeface="+mn-lt"/>
              <a:ea typeface="+mn-lt"/>
              <a:cs typeface="+mn-lt"/>
            </a:endParaRPr>
          </a:p>
          <a:p>
            <a:pPr algn="ctr">
              <a:buNone/>
              <a:defRPr sz="1315" b="1">
                <a:solidFill>
                  <a:srgbClr val="2C2927"/>
                </a:solidFill>
              </a:defRPr>
            </a:pPr>
            <a:r>
              <a:rPr sz="1315" b="1">
                <a:solidFill>
                  <a:srgbClr val="2C2927"/>
                </a:solidFill>
                <a:latin typeface="+mn-lt"/>
                <a:ea typeface="+mn-lt"/>
                <a:cs typeface="+mn-lt"/>
              </a:rPr>
              <a:t>CONTEXT</a:t>
            </a:r>
            <a:endParaRPr sz="1350" b="1">
              <a:solidFill>
                <a:srgbClr val="2C2927"/>
              </a:solidFill>
              <a:latin typeface="+mn-lt"/>
              <a:ea typeface="+mn-lt"/>
              <a:cs typeface="+mn-lt"/>
            </a:endParaRPr>
          </a:p>
        </p:txBody>
      </p:sp>
      <p:sp>
        <p:nvSpPr>
          <p:cNvPr id="10" name="TextBox 10"/>
          <p:cNvSpPr>
            <a:spLocks noGrp="1"/>
          </p:cNvSpPr>
          <p:nvPr/>
        </p:nvSpPr>
        <p:spPr>
          <a:xfrm>
            <a:off x="512128" y="2720658"/>
            <a:ext cx="1814195" cy="749935"/>
          </a:xfrm>
          <a:prstGeom prst="rect">
            <a:avLst/>
          </a:prstGeom>
          <a:noFill/>
          <a:ln>
            <a:noFill/>
          </a:ln>
        </p:spPr>
        <p:txBody>
          <a:bodyPr wrap="none" lIns="0" tIns="0" rIns="0" bIns="0" anchor="ctr">
            <a:spAutoFit/>
          </a:bodyPr>
          <a:lstStyle/>
          <a:p>
            <a:pPr algn="ctr">
              <a:lnSpc>
                <a:spcPts val="1950"/>
              </a:lnSpc>
              <a:buNone/>
              <a:defRPr sz="1050" b="0">
                <a:solidFill>
                  <a:srgbClr val="5B5550"/>
                </a:solidFill>
                <a:latin typeface="Arial" panose="020B0604020202020204"/>
                <a:ea typeface="Arial" panose="020B0604020202020204"/>
                <a:cs typeface="Arial" panose="020B0604020202020204"/>
              </a:defRPr>
            </a:pPr>
            <a:r>
              <a:rPr sz="1050" b="1">
                <a:solidFill>
                  <a:srgbClr val="5B5550"/>
                </a:solidFill>
                <a:latin typeface="Arial" panose="020B0604020202020204"/>
                <a:ea typeface="Arial" panose="020B0604020202020204"/>
                <a:cs typeface="Arial" panose="020B0604020202020204"/>
              </a:rPr>
              <a:t>Encode each channel’s local</a:t>
            </a:r>
            <a:endParaRPr sz="975" b="1">
              <a:solidFill>
                <a:srgbClr val="5B5550"/>
              </a:solidFill>
              <a:latin typeface="+mn-lt"/>
              <a:ea typeface="+mn-lt"/>
              <a:cs typeface="+mn-lt"/>
            </a:endParaRPr>
          </a:p>
          <a:p>
            <a:pPr algn="ctr">
              <a:lnSpc>
                <a:spcPts val="1950"/>
              </a:lnSpc>
              <a:buNone/>
              <a:defRPr sz="1050" b="0">
                <a:solidFill>
                  <a:srgbClr val="5B5550"/>
                </a:solidFill>
                <a:latin typeface="Arial" panose="020B0604020202020204"/>
                <a:ea typeface="Arial" panose="020B0604020202020204"/>
                <a:cs typeface="Arial" panose="020B0604020202020204"/>
              </a:defRPr>
            </a:pPr>
            <a:r>
              <a:rPr sz="1050" b="1">
                <a:solidFill>
                  <a:srgbClr val="5B5550"/>
                </a:solidFill>
                <a:latin typeface="Arial" panose="020B0604020202020204"/>
                <a:ea typeface="Arial" panose="020B0604020202020204"/>
                <a:cs typeface="Arial" panose="020B0604020202020204"/>
              </a:rPr>
              <a:t>temporal pattern within</a:t>
            </a:r>
            <a:endParaRPr sz="975" b="1">
              <a:solidFill>
                <a:srgbClr val="5B5550"/>
              </a:solidFill>
              <a:latin typeface="+mn-lt"/>
              <a:ea typeface="+mn-lt"/>
              <a:cs typeface="+mn-lt"/>
            </a:endParaRPr>
          </a:p>
          <a:p>
            <a:pPr algn="ctr">
              <a:lnSpc>
                <a:spcPts val="1950"/>
              </a:lnSpc>
              <a:buNone/>
              <a:defRPr sz="1050" b="0">
                <a:solidFill>
                  <a:srgbClr val="5B5550"/>
                </a:solidFill>
                <a:latin typeface="Arial" panose="020B0604020202020204"/>
                <a:ea typeface="Arial" panose="020B0604020202020204"/>
                <a:cs typeface="Arial" panose="020B0604020202020204"/>
              </a:defRPr>
            </a:pPr>
            <a:r>
              <a:rPr sz="1050" b="1">
                <a:solidFill>
                  <a:srgbClr val="5B5550"/>
                </a:solidFill>
                <a:latin typeface="Arial" panose="020B0604020202020204"/>
                <a:ea typeface="Arial" panose="020B0604020202020204"/>
                <a:cs typeface="Arial" panose="020B0604020202020204"/>
              </a:rPr>
              <a:t>the current patch.</a:t>
            </a:r>
            <a:endParaRPr sz="975" b="1">
              <a:solidFill>
                <a:srgbClr val="5B5550"/>
              </a:solidFill>
              <a:latin typeface="+mn-lt"/>
              <a:ea typeface="+mn-lt"/>
              <a:cs typeface="+mn-lt"/>
            </a:endParaRPr>
          </a:p>
        </p:txBody>
      </p:sp>
      <p:sp>
        <p:nvSpPr>
          <p:cNvPr id="12" name="Rectangle 12"/>
          <p:cNvSpPr>
            <a:spLocks noGrp="1"/>
          </p:cNvSpPr>
          <p:nvPr/>
        </p:nvSpPr>
        <p:spPr>
          <a:xfrm>
            <a:off x="2743200" y="1485900"/>
            <a:ext cx="1847850" cy="2095500"/>
          </a:xfrm>
          <a:prstGeom prst="rect">
            <a:avLst/>
          </a:prstGeom>
          <a:solidFill>
            <a:srgbClr val="FFFDFC"/>
          </a:solidFill>
          <a:ln w="9525">
            <a:solidFill>
              <a:srgbClr val="D9CFC8"/>
            </a:solidFill>
            <a:prstDash val="solid"/>
          </a:ln>
        </p:spPr>
      </p:sp>
      <p:sp>
        <p:nvSpPr>
          <p:cNvPr id="13" name="Rectangle 13"/>
          <p:cNvSpPr>
            <a:spLocks noGrp="1"/>
          </p:cNvSpPr>
          <p:nvPr/>
        </p:nvSpPr>
        <p:spPr>
          <a:xfrm>
            <a:off x="3409950" y="1438275"/>
            <a:ext cx="514350" cy="323850"/>
          </a:xfrm>
          <a:prstGeom prst="rect">
            <a:avLst/>
          </a:prstGeom>
          <a:solidFill>
            <a:srgbClr val="C43B00"/>
          </a:solidFill>
          <a:ln w="0">
            <a:solidFill>
              <a:srgbClr val="C43B00"/>
            </a:solidFill>
            <a:prstDash val="solid"/>
          </a:ln>
        </p:spPr>
      </p:sp>
      <p:sp>
        <p:nvSpPr>
          <p:cNvPr id="14" name="TextBox 14"/>
          <p:cNvSpPr>
            <a:spLocks noGrp="1"/>
          </p:cNvSpPr>
          <p:nvPr/>
        </p:nvSpPr>
        <p:spPr>
          <a:xfrm>
            <a:off x="3409950" y="1457325"/>
            <a:ext cx="514350" cy="276225"/>
          </a:xfrm>
          <a:prstGeom prst="rect">
            <a:avLst/>
          </a:prstGeom>
          <a:noFill/>
          <a:ln>
            <a:noFill/>
          </a:ln>
        </p:spPr>
        <p:txBody>
          <a:bodyPr wrap="none" lIns="0" tIns="0" rIns="0" bIns="0" anchor="ctr">
            <a:spAutoFit/>
          </a:bodyPr>
          <a:lstStyle/>
          <a:p>
            <a:pPr algn="ctr">
              <a:buNone/>
              <a:defRPr sz="1050" b="1">
                <a:solidFill>
                  <a:srgbClr val="FFFFFF"/>
                </a:solidFill>
              </a:defRPr>
            </a:pPr>
            <a:r>
              <a:rPr sz="1050" b="1">
                <a:solidFill>
                  <a:srgbClr val="FFFFFF"/>
                </a:solidFill>
                <a:latin typeface="+mn-lt"/>
                <a:ea typeface="+mn-lt"/>
                <a:cs typeface="+mn-lt"/>
              </a:rPr>
              <a:t>02</a:t>
            </a:r>
            <a:endParaRPr sz="1050" b="1">
              <a:solidFill>
                <a:srgbClr val="C43B00"/>
              </a:solidFill>
              <a:latin typeface="+mn-lt"/>
              <a:ea typeface="+mn-lt"/>
              <a:cs typeface="+mn-lt"/>
            </a:endParaRPr>
          </a:p>
        </p:txBody>
      </p:sp>
      <p:sp>
        <p:nvSpPr>
          <p:cNvPr id="15" name="TextBox 15"/>
          <p:cNvSpPr>
            <a:spLocks noGrp="1"/>
          </p:cNvSpPr>
          <p:nvPr/>
        </p:nvSpPr>
        <p:spPr>
          <a:xfrm>
            <a:off x="2867025" y="1981200"/>
            <a:ext cx="1600200" cy="647700"/>
          </a:xfrm>
          <a:prstGeom prst="rect">
            <a:avLst/>
          </a:prstGeom>
          <a:noFill/>
          <a:ln>
            <a:noFill/>
          </a:ln>
        </p:spPr>
        <p:txBody>
          <a:bodyPr wrap="none" lIns="0" tIns="0" rIns="0" bIns="0" anchor="ctr">
            <a:spAutoFit/>
          </a:bodyPr>
          <a:lstStyle/>
          <a:p>
            <a:pPr algn="ctr">
              <a:buNone/>
              <a:defRPr sz="1315" b="1">
                <a:solidFill>
                  <a:srgbClr val="2C2927"/>
                </a:solidFill>
              </a:defRPr>
            </a:pPr>
            <a:r>
              <a:rPr sz="1315" b="1">
                <a:solidFill>
                  <a:srgbClr val="2C2927"/>
                </a:solidFill>
                <a:latin typeface="+mn-lt"/>
                <a:ea typeface="+mn-lt"/>
                <a:cs typeface="+mn-lt"/>
              </a:rPr>
              <a:t>MATCH SHARED</a:t>
            </a:r>
            <a:endParaRPr sz="1350" b="1">
              <a:solidFill>
                <a:srgbClr val="2C2927"/>
              </a:solidFill>
              <a:latin typeface="+mn-lt"/>
              <a:ea typeface="+mn-lt"/>
              <a:cs typeface="+mn-lt"/>
            </a:endParaRPr>
          </a:p>
          <a:p>
            <a:pPr algn="ctr">
              <a:buNone/>
              <a:defRPr sz="1315" b="1">
                <a:solidFill>
                  <a:srgbClr val="2C2927"/>
                </a:solidFill>
              </a:defRPr>
            </a:pPr>
            <a:r>
              <a:rPr sz="1315" b="1">
                <a:solidFill>
                  <a:srgbClr val="2C2927"/>
                </a:solidFill>
                <a:latin typeface="+mn-lt"/>
                <a:ea typeface="+mn-lt"/>
                <a:cs typeface="+mn-lt"/>
              </a:rPr>
              <a:t>MODES</a:t>
            </a:r>
            <a:endParaRPr sz="1350" b="1">
              <a:solidFill>
                <a:srgbClr val="2C2927"/>
              </a:solidFill>
              <a:latin typeface="+mn-lt"/>
              <a:ea typeface="+mn-lt"/>
              <a:cs typeface="+mn-lt"/>
            </a:endParaRPr>
          </a:p>
        </p:txBody>
      </p:sp>
      <p:sp>
        <p:nvSpPr>
          <p:cNvPr id="16" name="TextBox 16"/>
          <p:cNvSpPr>
            <a:spLocks noGrp="1"/>
          </p:cNvSpPr>
          <p:nvPr/>
        </p:nvSpPr>
        <p:spPr>
          <a:xfrm>
            <a:off x="2737485" y="2720658"/>
            <a:ext cx="1859280" cy="749935"/>
          </a:xfrm>
          <a:prstGeom prst="rect">
            <a:avLst/>
          </a:prstGeom>
          <a:noFill/>
          <a:ln>
            <a:noFill/>
          </a:ln>
        </p:spPr>
        <p:txBody>
          <a:bodyPr wrap="none" lIns="0" tIns="0" rIns="0" bIns="0" anchor="ctr">
            <a:spAutoFit/>
          </a:bodyPr>
          <a:lstStyle/>
          <a:p>
            <a:pPr algn="ctr">
              <a:lnSpc>
                <a:spcPts val="1950"/>
              </a:lnSpc>
              <a:buNone/>
              <a:defRPr sz="1050" b="0">
                <a:solidFill>
                  <a:srgbClr val="5B5550"/>
                </a:solidFill>
                <a:latin typeface="Arial" panose="020B0604020202020204"/>
                <a:ea typeface="Arial" panose="020B0604020202020204"/>
                <a:cs typeface="Arial" panose="020B0604020202020204"/>
              </a:defRPr>
            </a:pPr>
            <a:r>
              <a:rPr sz="1050" b="1">
                <a:solidFill>
                  <a:srgbClr val="5B5550"/>
                </a:solidFill>
                <a:latin typeface="Arial" panose="020B0604020202020204"/>
                <a:ea typeface="Arial" panose="020B0604020202020204"/>
                <a:cs typeface="Arial" panose="020B0604020202020204"/>
              </a:rPr>
              <a:t>Compare the patch state with</a:t>
            </a:r>
            <a:endParaRPr sz="975" b="1">
              <a:solidFill>
                <a:srgbClr val="5B5550"/>
              </a:solidFill>
              <a:latin typeface="+mn-lt"/>
              <a:ea typeface="+mn-lt"/>
              <a:cs typeface="+mn-lt"/>
            </a:endParaRPr>
          </a:p>
          <a:p>
            <a:pPr algn="ctr">
              <a:lnSpc>
                <a:spcPts val="1950"/>
              </a:lnSpc>
              <a:buNone/>
              <a:defRPr sz="1050" b="0">
                <a:solidFill>
                  <a:srgbClr val="5B5550"/>
                </a:solidFill>
                <a:latin typeface="Arial" panose="020B0604020202020204"/>
                <a:ea typeface="Arial" panose="020B0604020202020204"/>
                <a:cs typeface="Arial" panose="020B0604020202020204"/>
              </a:defRPr>
            </a:pPr>
            <a:r>
              <a:rPr sz="1050" b="1">
                <a:solidFill>
                  <a:srgbClr val="5B5550"/>
                </a:solidFill>
                <a:latin typeface="Arial" panose="020B0604020202020204"/>
                <a:ea typeface="Arial" panose="020B0604020202020204"/>
                <a:cs typeface="Arial" panose="020B0604020202020204"/>
              </a:rPr>
              <a:t>reusable structural</a:t>
            </a:r>
            <a:endParaRPr sz="975" b="1">
              <a:solidFill>
                <a:srgbClr val="5B5550"/>
              </a:solidFill>
              <a:latin typeface="+mn-lt"/>
              <a:ea typeface="+mn-lt"/>
              <a:cs typeface="+mn-lt"/>
            </a:endParaRPr>
          </a:p>
          <a:p>
            <a:pPr algn="ctr">
              <a:lnSpc>
                <a:spcPts val="1950"/>
              </a:lnSpc>
              <a:buNone/>
              <a:defRPr sz="1050" b="0">
                <a:solidFill>
                  <a:srgbClr val="5B5550"/>
                </a:solidFill>
                <a:latin typeface="Arial" panose="020B0604020202020204"/>
                <a:ea typeface="Arial" panose="020B0604020202020204"/>
                <a:cs typeface="Arial" panose="020B0604020202020204"/>
              </a:defRPr>
            </a:pPr>
            <a:r>
              <a:rPr sz="1050" b="1">
                <a:solidFill>
                  <a:srgbClr val="5B5550"/>
                </a:solidFill>
                <a:latin typeface="Arial" panose="020B0604020202020204"/>
                <a:ea typeface="Arial" panose="020B0604020202020204"/>
                <a:cs typeface="Arial" panose="020B0604020202020204"/>
              </a:rPr>
              <a:t>mode prototypes.</a:t>
            </a:r>
            <a:endParaRPr sz="975" b="1">
              <a:solidFill>
                <a:srgbClr val="5B5550"/>
              </a:solidFill>
              <a:latin typeface="+mn-lt"/>
              <a:ea typeface="+mn-lt"/>
              <a:cs typeface="+mn-lt"/>
            </a:endParaRPr>
          </a:p>
        </p:txBody>
      </p:sp>
      <p:sp>
        <p:nvSpPr>
          <p:cNvPr id="18" name="Rectangle 18"/>
          <p:cNvSpPr>
            <a:spLocks noGrp="1"/>
          </p:cNvSpPr>
          <p:nvPr/>
        </p:nvSpPr>
        <p:spPr>
          <a:xfrm>
            <a:off x="4991100" y="1485900"/>
            <a:ext cx="1847850" cy="2095500"/>
          </a:xfrm>
          <a:prstGeom prst="rect">
            <a:avLst/>
          </a:prstGeom>
          <a:solidFill>
            <a:srgbClr val="FFFDFC"/>
          </a:solidFill>
          <a:ln w="9525">
            <a:solidFill>
              <a:srgbClr val="D9CFC8"/>
            </a:solidFill>
            <a:prstDash val="solid"/>
          </a:ln>
        </p:spPr>
      </p:sp>
      <p:sp>
        <p:nvSpPr>
          <p:cNvPr id="19" name="Rectangle 19"/>
          <p:cNvSpPr>
            <a:spLocks noGrp="1"/>
          </p:cNvSpPr>
          <p:nvPr/>
        </p:nvSpPr>
        <p:spPr>
          <a:xfrm>
            <a:off x="5657850" y="1438275"/>
            <a:ext cx="514350" cy="323850"/>
          </a:xfrm>
          <a:prstGeom prst="rect">
            <a:avLst/>
          </a:prstGeom>
          <a:solidFill>
            <a:srgbClr val="C43B00"/>
          </a:solidFill>
          <a:ln w="0">
            <a:solidFill>
              <a:srgbClr val="C43B00"/>
            </a:solidFill>
            <a:prstDash val="solid"/>
          </a:ln>
        </p:spPr>
      </p:sp>
      <p:sp>
        <p:nvSpPr>
          <p:cNvPr id="20" name="TextBox 20"/>
          <p:cNvSpPr>
            <a:spLocks noGrp="1"/>
          </p:cNvSpPr>
          <p:nvPr/>
        </p:nvSpPr>
        <p:spPr>
          <a:xfrm>
            <a:off x="5657850" y="1457325"/>
            <a:ext cx="514350" cy="276225"/>
          </a:xfrm>
          <a:prstGeom prst="rect">
            <a:avLst/>
          </a:prstGeom>
          <a:noFill/>
          <a:ln>
            <a:noFill/>
          </a:ln>
        </p:spPr>
        <p:txBody>
          <a:bodyPr wrap="none" lIns="0" tIns="0" rIns="0" bIns="0" anchor="ctr">
            <a:spAutoFit/>
          </a:bodyPr>
          <a:lstStyle/>
          <a:p>
            <a:pPr algn="ctr">
              <a:buNone/>
              <a:defRPr sz="1050" b="1">
                <a:solidFill>
                  <a:srgbClr val="FFFFFF"/>
                </a:solidFill>
              </a:defRPr>
            </a:pPr>
            <a:r>
              <a:rPr sz="1050" b="1">
                <a:solidFill>
                  <a:srgbClr val="FFFFFF"/>
                </a:solidFill>
                <a:latin typeface="+mn-lt"/>
                <a:ea typeface="+mn-lt"/>
                <a:cs typeface="+mn-lt"/>
              </a:rPr>
              <a:t>03</a:t>
            </a:r>
            <a:endParaRPr sz="1050" b="1">
              <a:solidFill>
                <a:srgbClr val="C43B00"/>
              </a:solidFill>
              <a:latin typeface="+mn-lt"/>
              <a:ea typeface="+mn-lt"/>
              <a:cs typeface="+mn-lt"/>
            </a:endParaRPr>
          </a:p>
        </p:txBody>
      </p:sp>
      <p:sp>
        <p:nvSpPr>
          <p:cNvPr id="21" name="TextBox 21"/>
          <p:cNvSpPr>
            <a:spLocks noGrp="1"/>
          </p:cNvSpPr>
          <p:nvPr/>
        </p:nvSpPr>
        <p:spPr>
          <a:xfrm>
            <a:off x="5114925" y="1981200"/>
            <a:ext cx="1600200" cy="647700"/>
          </a:xfrm>
          <a:prstGeom prst="rect">
            <a:avLst/>
          </a:prstGeom>
          <a:noFill/>
          <a:ln>
            <a:noFill/>
          </a:ln>
        </p:spPr>
        <p:txBody>
          <a:bodyPr wrap="none" lIns="0" tIns="0" rIns="0" bIns="0" anchor="ctr">
            <a:spAutoFit/>
          </a:bodyPr>
          <a:lstStyle/>
          <a:p>
            <a:pPr algn="ctr">
              <a:buNone/>
              <a:defRPr sz="1315" b="1">
                <a:solidFill>
                  <a:srgbClr val="2C2927"/>
                </a:solidFill>
              </a:defRPr>
            </a:pPr>
            <a:r>
              <a:rPr sz="1315" b="1">
                <a:solidFill>
                  <a:srgbClr val="2C2927"/>
                </a:solidFill>
                <a:latin typeface="+mn-lt"/>
                <a:ea typeface="+mn-lt"/>
                <a:cs typeface="+mn-lt"/>
              </a:rPr>
              <a:t>COMPUTE ROUTING</a:t>
            </a:r>
            <a:endParaRPr sz="1350" b="1">
              <a:solidFill>
                <a:srgbClr val="2C2927"/>
              </a:solidFill>
              <a:latin typeface="+mn-lt"/>
              <a:ea typeface="+mn-lt"/>
              <a:cs typeface="+mn-lt"/>
            </a:endParaRPr>
          </a:p>
          <a:p>
            <a:pPr algn="ctr">
              <a:buNone/>
              <a:defRPr sz="1315" b="1">
                <a:solidFill>
                  <a:srgbClr val="2C2927"/>
                </a:solidFill>
              </a:defRPr>
            </a:pPr>
            <a:r>
              <a:rPr sz="1315" b="1">
                <a:solidFill>
                  <a:srgbClr val="2C2927"/>
                </a:solidFill>
                <a:latin typeface="+mn-lt"/>
                <a:ea typeface="+mn-lt"/>
                <a:cs typeface="+mn-lt"/>
              </a:rPr>
              <a:t>WEIGHTS</a:t>
            </a:r>
            <a:endParaRPr sz="1350" b="1">
              <a:solidFill>
                <a:srgbClr val="2C2927"/>
              </a:solidFill>
              <a:latin typeface="+mn-lt"/>
              <a:ea typeface="+mn-lt"/>
              <a:cs typeface="+mn-lt"/>
            </a:endParaRPr>
          </a:p>
        </p:txBody>
      </p:sp>
      <p:sp>
        <p:nvSpPr>
          <p:cNvPr id="22" name="TextBox 22"/>
          <p:cNvSpPr>
            <a:spLocks noGrp="1"/>
          </p:cNvSpPr>
          <p:nvPr/>
        </p:nvSpPr>
        <p:spPr>
          <a:xfrm>
            <a:off x="5011103" y="2720658"/>
            <a:ext cx="1807845" cy="749935"/>
          </a:xfrm>
          <a:prstGeom prst="rect">
            <a:avLst/>
          </a:prstGeom>
          <a:noFill/>
          <a:ln>
            <a:noFill/>
          </a:ln>
        </p:spPr>
        <p:txBody>
          <a:bodyPr wrap="none" lIns="0" tIns="0" rIns="0" bIns="0" anchor="ctr">
            <a:spAutoFit/>
          </a:bodyPr>
          <a:lstStyle/>
          <a:p>
            <a:pPr algn="ctr">
              <a:lnSpc>
                <a:spcPts val="1950"/>
              </a:lnSpc>
              <a:buNone/>
              <a:defRPr sz="1050" b="0">
                <a:solidFill>
                  <a:srgbClr val="5B5550"/>
                </a:solidFill>
                <a:latin typeface="Arial" panose="020B0604020202020204"/>
                <a:ea typeface="Arial" panose="020B0604020202020204"/>
                <a:cs typeface="Arial" panose="020B0604020202020204"/>
              </a:defRPr>
            </a:pPr>
            <a:r>
              <a:rPr sz="1050" b="1">
                <a:solidFill>
                  <a:srgbClr val="5B5550"/>
                </a:solidFill>
                <a:latin typeface="Arial" panose="020B0604020202020204"/>
                <a:ea typeface="Arial" panose="020B0604020202020204"/>
                <a:cs typeface="Arial" panose="020B0604020202020204"/>
              </a:rPr>
              <a:t>Convert prototype distances</a:t>
            </a:r>
            <a:endParaRPr sz="975" b="1">
              <a:solidFill>
                <a:srgbClr val="5B5550"/>
              </a:solidFill>
              <a:latin typeface="+mn-lt"/>
              <a:ea typeface="+mn-lt"/>
              <a:cs typeface="+mn-lt"/>
            </a:endParaRPr>
          </a:p>
          <a:p>
            <a:pPr algn="ctr">
              <a:lnSpc>
                <a:spcPts val="1950"/>
              </a:lnSpc>
              <a:buNone/>
              <a:defRPr sz="1050" b="0">
                <a:solidFill>
                  <a:srgbClr val="5B5550"/>
                </a:solidFill>
                <a:latin typeface="Arial" panose="020B0604020202020204"/>
                <a:ea typeface="Arial" panose="020B0604020202020204"/>
                <a:cs typeface="Arial" panose="020B0604020202020204"/>
              </a:defRPr>
            </a:pPr>
            <a:r>
              <a:rPr sz="1050" b="1">
                <a:solidFill>
                  <a:srgbClr val="5B5550"/>
                </a:solidFill>
                <a:latin typeface="Arial" panose="020B0604020202020204"/>
                <a:ea typeface="Arial" panose="020B0604020202020204"/>
                <a:cs typeface="Arial" panose="020B0604020202020204"/>
              </a:rPr>
              <a:t>into patch-specific soft</a:t>
            </a:r>
            <a:endParaRPr sz="975" b="1">
              <a:solidFill>
                <a:srgbClr val="5B5550"/>
              </a:solidFill>
              <a:latin typeface="+mn-lt"/>
              <a:ea typeface="+mn-lt"/>
              <a:cs typeface="+mn-lt"/>
            </a:endParaRPr>
          </a:p>
          <a:p>
            <a:pPr algn="ctr">
              <a:lnSpc>
                <a:spcPts val="1950"/>
              </a:lnSpc>
              <a:buNone/>
              <a:defRPr sz="1050" b="0">
                <a:solidFill>
                  <a:srgbClr val="5B5550"/>
                </a:solidFill>
                <a:latin typeface="Arial" panose="020B0604020202020204"/>
                <a:ea typeface="Arial" panose="020B0604020202020204"/>
                <a:cs typeface="Arial" panose="020B0604020202020204"/>
              </a:defRPr>
            </a:pPr>
            <a:r>
              <a:rPr sz="1050" b="1">
                <a:solidFill>
                  <a:srgbClr val="5B5550"/>
                </a:solidFill>
                <a:latin typeface="Arial" panose="020B0604020202020204"/>
                <a:ea typeface="Arial" panose="020B0604020202020204"/>
                <a:cs typeface="Arial" panose="020B0604020202020204"/>
              </a:rPr>
              <a:t>routing weights.</a:t>
            </a:r>
            <a:endParaRPr sz="975" b="1">
              <a:solidFill>
                <a:srgbClr val="5B5550"/>
              </a:solidFill>
              <a:latin typeface="+mn-lt"/>
              <a:ea typeface="+mn-lt"/>
              <a:cs typeface="+mn-lt"/>
            </a:endParaRPr>
          </a:p>
        </p:txBody>
      </p:sp>
      <p:sp>
        <p:nvSpPr>
          <p:cNvPr id="24" name="Rectangle 24"/>
          <p:cNvSpPr>
            <a:spLocks noGrp="1"/>
          </p:cNvSpPr>
          <p:nvPr/>
        </p:nvSpPr>
        <p:spPr>
          <a:xfrm>
            <a:off x="7239000" y="1485900"/>
            <a:ext cx="1847850" cy="2095500"/>
          </a:xfrm>
          <a:prstGeom prst="rect">
            <a:avLst/>
          </a:prstGeom>
          <a:solidFill>
            <a:srgbClr val="FFFDFC"/>
          </a:solidFill>
          <a:ln w="9525">
            <a:solidFill>
              <a:srgbClr val="D9CFC8"/>
            </a:solidFill>
            <a:prstDash val="solid"/>
          </a:ln>
        </p:spPr>
      </p:sp>
      <p:sp>
        <p:nvSpPr>
          <p:cNvPr id="25" name="Rectangle 25"/>
          <p:cNvSpPr>
            <a:spLocks noGrp="1"/>
          </p:cNvSpPr>
          <p:nvPr/>
        </p:nvSpPr>
        <p:spPr>
          <a:xfrm>
            <a:off x="7905750" y="1438275"/>
            <a:ext cx="514350" cy="323850"/>
          </a:xfrm>
          <a:prstGeom prst="rect">
            <a:avLst/>
          </a:prstGeom>
          <a:solidFill>
            <a:srgbClr val="C43B00"/>
          </a:solidFill>
          <a:ln w="0">
            <a:solidFill>
              <a:srgbClr val="C43B00"/>
            </a:solidFill>
            <a:prstDash val="solid"/>
          </a:ln>
        </p:spPr>
      </p:sp>
      <p:sp>
        <p:nvSpPr>
          <p:cNvPr id="26" name="TextBox 26"/>
          <p:cNvSpPr>
            <a:spLocks noGrp="1"/>
          </p:cNvSpPr>
          <p:nvPr/>
        </p:nvSpPr>
        <p:spPr>
          <a:xfrm>
            <a:off x="7905750" y="1457325"/>
            <a:ext cx="514350" cy="276225"/>
          </a:xfrm>
          <a:prstGeom prst="rect">
            <a:avLst/>
          </a:prstGeom>
          <a:noFill/>
          <a:ln>
            <a:noFill/>
          </a:ln>
        </p:spPr>
        <p:txBody>
          <a:bodyPr wrap="none" lIns="0" tIns="0" rIns="0" bIns="0" anchor="ctr">
            <a:spAutoFit/>
          </a:bodyPr>
          <a:lstStyle/>
          <a:p>
            <a:pPr algn="ctr">
              <a:buNone/>
              <a:defRPr sz="1050" b="1">
                <a:solidFill>
                  <a:srgbClr val="FFFFFF"/>
                </a:solidFill>
              </a:defRPr>
            </a:pPr>
            <a:r>
              <a:rPr sz="1050" b="1">
                <a:solidFill>
                  <a:srgbClr val="FFFFFF"/>
                </a:solidFill>
                <a:latin typeface="+mn-lt"/>
                <a:ea typeface="+mn-lt"/>
                <a:cs typeface="+mn-lt"/>
              </a:rPr>
              <a:t>04</a:t>
            </a:r>
            <a:endParaRPr sz="1050" b="1">
              <a:solidFill>
                <a:srgbClr val="C43B00"/>
              </a:solidFill>
              <a:latin typeface="+mn-lt"/>
              <a:ea typeface="+mn-lt"/>
              <a:cs typeface="+mn-lt"/>
            </a:endParaRPr>
          </a:p>
        </p:txBody>
      </p:sp>
      <p:sp>
        <p:nvSpPr>
          <p:cNvPr id="27" name="TextBox 27"/>
          <p:cNvSpPr>
            <a:spLocks noGrp="1"/>
          </p:cNvSpPr>
          <p:nvPr/>
        </p:nvSpPr>
        <p:spPr>
          <a:xfrm>
            <a:off x="7362825" y="1981200"/>
            <a:ext cx="1600200" cy="647700"/>
          </a:xfrm>
          <a:prstGeom prst="rect">
            <a:avLst/>
          </a:prstGeom>
          <a:noFill/>
          <a:ln>
            <a:noFill/>
          </a:ln>
        </p:spPr>
        <p:txBody>
          <a:bodyPr wrap="none" lIns="0" tIns="0" rIns="0" bIns="0" anchor="ctr">
            <a:spAutoFit/>
          </a:bodyPr>
          <a:lstStyle/>
          <a:p>
            <a:pPr algn="ctr">
              <a:buNone/>
              <a:defRPr sz="1315" b="1">
                <a:solidFill>
                  <a:srgbClr val="2C2927"/>
                </a:solidFill>
              </a:defRPr>
            </a:pPr>
            <a:r>
              <a:rPr sz="1315" b="1">
                <a:solidFill>
                  <a:srgbClr val="2C2927"/>
                </a:solidFill>
                <a:latin typeface="+mn-lt"/>
                <a:ea typeface="+mn-lt"/>
                <a:cs typeface="+mn-lt"/>
              </a:rPr>
              <a:t>MIX THE</a:t>
            </a:r>
            <a:endParaRPr sz="1350" b="1">
              <a:solidFill>
                <a:srgbClr val="2C2927"/>
              </a:solidFill>
              <a:latin typeface="+mn-lt"/>
              <a:ea typeface="+mn-lt"/>
              <a:cs typeface="+mn-lt"/>
            </a:endParaRPr>
          </a:p>
          <a:p>
            <a:pPr algn="ctr">
              <a:buNone/>
              <a:defRPr sz="1315" b="1">
                <a:solidFill>
                  <a:srgbClr val="2C2927"/>
                </a:solidFill>
              </a:defRPr>
            </a:pPr>
            <a:r>
              <a:rPr sz="1315" b="1">
                <a:solidFill>
                  <a:srgbClr val="2C2927"/>
                </a:solidFill>
                <a:latin typeface="+mn-lt"/>
                <a:ea typeface="+mn-lt"/>
                <a:cs typeface="+mn-lt"/>
              </a:rPr>
              <a:t>BASIS BANK</a:t>
            </a:r>
            <a:endParaRPr sz="1350" b="1">
              <a:solidFill>
                <a:srgbClr val="2C2927"/>
              </a:solidFill>
              <a:latin typeface="+mn-lt"/>
              <a:ea typeface="+mn-lt"/>
              <a:cs typeface="+mn-lt"/>
            </a:endParaRPr>
          </a:p>
        </p:txBody>
      </p:sp>
      <p:sp>
        <p:nvSpPr>
          <p:cNvPr id="28" name="TextBox 28"/>
          <p:cNvSpPr>
            <a:spLocks noGrp="1"/>
          </p:cNvSpPr>
          <p:nvPr/>
        </p:nvSpPr>
        <p:spPr>
          <a:xfrm>
            <a:off x="7311390" y="2720658"/>
            <a:ext cx="1703070" cy="749935"/>
          </a:xfrm>
          <a:prstGeom prst="rect">
            <a:avLst/>
          </a:prstGeom>
          <a:noFill/>
          <a:ln>
            <a:noFill/>
          </a:ln>
        </p:spPr>
        <p:txBody>
          <a:bodyPr wrap="none" lIns="0" tIns="0" rIns="0" bIns="0" anchor="ctr">
            <a:spAutoFit/>
          </a:bodyPr>
          <a:lstStyle/>
          <a:p>
            <a:pPr algn="ctr">
              <a:lnSpc>
                <a:spcPts val="1950"/>
              </a:lnSpc>
              <a:buNone/>
              <a:defRPr sz="1050" b="0">
                <a:solidFill>
                  <a:srgbClr val="5B5550"/>
                </a:solidFill>
                <a:latin typeface="Arial" panose="020B0604020202020204"/>
                <a:ea typeface="Arial" panose="020B0604020202020204"/>
                <a:cs typeface="Arial" panose="020B0604020202020204"/>
              </a:defRPr>
            </a:pPr>
            <a:r>
              <a:rPr sz="1050" b="1">
                <a:solidFill>
                  <a:srgbClr val="5B5550"/>
                </a:solidFill>
                <a:latin typeface="Arial" panose="020B0604020202020204"/>
                <a:ea typeface="Arial" panose="020B0604020202020204"/>
                <a:cs typeface="Arial" panose="020B0604020202020204"/>
              </a:rPr>
              <a:t>Mix shared basis rows into</a:t>
            </a:r>
            <a:endParaRPr sz="975" b="1">
              <a:solidFill>
                <a:srgbClr val="5B5550"/>
              </a:solidFill>
              <a:latin typeface="+mn-lt"/>
              <a:ea typeface="+mn-lt"/>
              <a:cs typeface="+mn-lt"/>
            </a:endParaRPr>
          </a:p>
          <a:p>
            <a:pPr algn="ctr">
              <a:lnSpc>
                <a:spcPts val="1950"/>
              </a:lnSpc>
              <a:buNone/>
              <a:defRPr sz="1050" b="0">
                <a:solidFill>
                  <a:srgbClr val="5B5550"/>
                </a:solidFill>
                <a:latin typeface="Arial" panose="020B0604020202020204"/>
                <a:ea typeface="Arial" panose="020B0604020202020204"/>
                <a:cs typeface="Arial" panose="020B0604020202020204"/>
              </a:defRPr>
            </a:pPr>
            <a:r>
              <a:rPr sz="1050" b="1">
                <a:solidFill>
                  <a:srgbClr val="5B5550"/>
                </a:solidFill>
                <a:latin typeface="Arial" panose="020B0604020202020204"/>
                <a:ea typeface="Arial" panose="020B0604020202020204"/>
                <a:cs typeface="Arial" panose="020B0604020202020204"/>
              </a:rPr>
              <a:t>low-rank channel</a:t>
            </a:r>
            <a:endParaRPr sz="975" b="1">
              <a:solidFill>
                <a:srgbClr val="5B5550"/>
              </a:solidFill>
              <a:latin typeface="+mn-lt"/>
              <a:ea typeface="+mn-lt"/>
              <a:cs typeface="+mn-lt"/>
            </a:endParaRPr>
          </a:p>
          <a:p>
            <a:pPr algn="ctr">
              <a:lnSpc>
                <a:spcPts val="1950"/>
              </a:lnSpc>
              <a:buNone/>
              <a:defRPr sz="1050" b="0">
                <a:solidFill>
                  <a:srgbClr val="5B5550"/>
                </a:solidFill>
                <a:latin typeface="Arial" panose="020B0604020202020204"/>
                <a:ea typeface="Arial" panose="020B0604020202020204"/>
                <a:cs typeface="Arial" panose="020B0604020202020204"/>
              </a:defRPr>
            </a:pPr>
            <a:r>
              <a:rPr sz="1050" b="1">
                <a:solidFill>
                  <a:srgbClr val="5B5550"/>
                </a:solidFill>
                <a:latin typeface="Arial" panose="020B0604020202020204"/>
                <a:ea typeface="Arial" panose="020B0604020202020204"/>
                <a:cs typeface="Arial" panose="020B0604020202020204"/>
              </a:rPr>
              <a:t>interaction evidence.</a:t>
            </a:r>
            <a:endParaRPr sz="975" b="1">
              <a:solidFill>
                <a:srgbClr val="5B5550"/>
              </a:solidFill>
              <a:latin typeface="+mn-lt"/>
              <a:ea typeface="+mn-lt"/>
              <a:cs typeface="+mn-lt"/>
            </a:endParaRPr>
          </a:p>
        </p:txBody>
      </p:sp>
      <p:sp>
        <p:nvSpPr>
          <p:cNvPr id="30" name="Rectangle 30"/>
          <p:cNvSpPr>
            <a:spLocks noGrp="1"/>
          </p:cNvSpPr>
          <p:nvPr/>
        </p:nvSpPr>
        <p:spPr>
          <a:xfrm>
            <a:off x="9486900" y="1485900"/>
            <a:ext cx="1847850" cy="2095500"/>
          </a:xfrm>
          <a:prstGeom prst="rect">
            <a:avLst/>
          </a:prstGeom>
          <a:solidFill>
            <a:srgbClr val="FFFDFC"/>
          </a:solidFill>
          <a:ln w="9525">
            <a:solidFill>
              <a:srgbClr val="D9CFC8"/>
            </a:solidFill>
            <a:prstDash val="solid"/>
          </a:ln>
        </p:spPr>
      </p:sp>
      <p:sp>
        <p:nvSpPr>
          <p:cNvPr id="31" name="Rectangle 31"/>
          <p:cNvSpPr>
            <a:spLocks noGrp="1"/>
          </p:cNvSpPr>
          <p:nvPr/>
        </p:nvSpPr>
        <p:spPr>
          <a:xfrm>
            <a:off x="10153650" y="1438275"/>
            <a:ext cx="514350" cy="323850"/>
          </a:xfrm>
          <a:prstGeom prst="rect">
            <a:avLst/>
          </a:prstGeom>
          <a:solidFill>
            <a:srgbClr val="C43B00"/>
          </a:solidFill>
          <a:ln w="0">
            <a:solidFill>
              <a:srgbClr val="C43B00"/>
            </a:solidFill>
            <a:prstDash val="solid"/>
          </a:ln>
        </p:spPr>
      </p:sp>
      <p:sp>
        <p:nvSpPr>
          <p:cNvPr id="32" name="TextBox 32"/>
          <p:cNvSpPr>
            <a:spLocks noGrp="1"/>
          </p:cNvSpPr>
          <p:nvPr/>
        </p:nvSpPr>
        <p:spPr>
          <a:xfrm>
            <a:off x="10153650" y="1457325"/>
            <a:ext cx="514350" cy="276225"/>
          </a:xfrm>
          <a:prstGeom prst="rect">
            <a:avLst/>
          </a:prstGeom>
          <a:noFill/>
          <a:ln>
            <a:noFill/>
          </a:ln>
        </p:spPr>
        <p:txBody>
          <a:bodyPr wrap="none" lIns="0" tIns="0" rIns="0" bIns="0" anchor="ctr">
            <a:spAutoFit/>
          </a:bodyPr>
          <a:lstStyle/>
          <a:p>
            <a:pPr algn="ctr">
              <a:buNone/>
              <a:defRPr sz="1050" b="1">
                <a:solidFill>
                  <a:srgbClr val="FFFFFF"/>
                </a:solidFill>
              </a:defRPr>
            </a:pPr>
            <a:r>
              <a:rPr sz="1050" b="1">
                <a:solidFill>
                  <a:srgbClr val="FFFFFF"/>
                </a:solidFill>
                <a:latin typeface="+mn-lt"/>
                <a:ea typeface="+mn-lt"/>
                <a:cs typeface="+mn-lt"/>
              </a:rPr>
              <a:t>05</a:t>
            </a:r>
            <a:endParaRPr sz="1050" b="1">
              <a:solidFill>
                <a:srgbClr val="C43B00"/>
              </a:solidFill>
              <a:latin typeface="+mn-lt"/>
              <a:ea typeface="+mn-lt"/>
              <a:cs typeface="+mn-lt"/>
            </a:endParaRPr>
          </a:p>
        </p:txBody>
      </p:sp>
      <p:sp>
        <p:nvSpPr>
          <p:cNvPr id="33" name="TextBox 33"/>
          <p:cNvSpPr>
            <a:spLocks noGrp="1"/>
          </p:cNvSpPr>
          <p:nvPr/>
        </p:nvSpPr>
        <p:spPr>
          <a:xfrm>
            <a:off x="9610725" y="1981200"/>
            <a:ext cx="1600200" cy="647700"/>
          </a:xfrm>
          <a:prstGeom prst="rect">
            <a:avLst/>
          </a:prstGeom>
          <a:noFill/>
          <a:ln>
            <a:noFill/>
          </a:ln>
        </p:spPr>
        <p:txBody>
          <a:bodyPr wrap="none" lIns="0" tIns="0" rIns="0" bIns="0" anchor="ctr">
            <a:spAutoFit/>
          </a:bodyPr>
          <a:lstStyle/>
          <a:p>
            <a:pPr algn="ctr">
              <a:buNone/>
              <a:defRPr sz="1315" b="1">
                <a:solidFill>
                  <a:srgbClr val="2C2927"/>
                </a:solidFill>
              </a:defRPr>
            </a:pPr>
            <a:r>
              <a:rPr sz="1315" b="1">
                <a:solidFill>
                  <a:srgbClr val="2C2927"/>
                </a:solidFill>
                <a:latin typeface="+mn-lt"/>
                <a:ea typeface="+mn-lt"/>
                <a:cs typeface="+mn-lt"/>
              </a:rPr>
              <a:t>SELECT SPARSE</a:t>
            </a:r>
            <a:endParaRPr sz="1350" b="1">
              <a:solidFill>
                <a:srgbClr val="2C2927"/>
              </a:solidFill>
              <a:latin typeface="+mn-lt"/>
              <a:ea typeface="+mn-lt"/>
              <a:cs typeface="+mn-lt"/>
            </a:endParaRPr>
          </a:p>
          <a:p>
            <a:pPr algn="ctr">
              <a:buNone/>
              <a:defRPr sz="1315" b="1">
                <a:solidFill>
                  <a:srgbClr val="2C2927"/>
                </a:solidFill>
              </a:defRPr>
            </a:pPr>
            <a:r>
              <a:rPr sz="1315" b="1">
                <a:solidFill>
                  <a:srgbClr val="2C2927"/>
                </a:solidFill>
                <a:latin typeface="+mn-lt"/>
                <a:ea typeface="+mn-lt"/>
                <a:cs typeface="+mn-lt"/>
              </a:rPr>
              <a:t>SUPPORT</a:t>
            </a:r>
            <a:endParaRPr sz="1350" b="1">
              <a:solidFill>
                <a:srgbClr val="2C2927"/>
              </a:solidFill>
              <a:latin typeface="+mn-lt"/>
              <a:ea typeface="+mn-lt"/>
              <a:cs typeface="+mn-lt"/>
            </a:endParaRPr>
          </a:p>
        </p:txBody>
      </p:sp>
      <p:sp>
        <p:nvSpPr>
          <p:cNvPr id="34" name="TextBox 34"/>
          <p:cNvSpPr>
            <a:spLocks noGrp="1"/>
          </p:cNvSpPr>
          <p:nvPr/>
        </p:nvSpPr>
        <p:spPr>
          <a:xfrm>
            <a:off x="9529128" y="2720658"/>
            <a:ext cx="1763395" cy="749935"/>
          </a:xfrm>
          <a:prstGeom prst="rect">
            <a:avLst/>
          </a:prstGeom>
          <a:noFill/>
          <a:ln>
            <a:noFill/>
          </a:ln>
        </p:spPr>
        <p:txBody>
          <a:bodyPr wrap="none" lIns="0" tIns="0" rIns="0" bIns="0" anchor="ctr">
            <a:spAutoFit/>
          </a:bodyPr>
          <a:lstStyle/>
          <a:p>
            <a:pPr algn="ctr">
              <a:lnSpc>
                <a:spcPts val="1950"/>
              </a:lnSpc>
              <a:buNone/>
              <a:defRPr sz="1050" b="0">
                <a:solidFill>
                  <a:srgbClr val="5B5550"/>
                </a:solidFill>
                <a:latin typeface="Arial" panose="020B0604020202020204"/>
                <a:ea typeface="Arial" panose="020B0604020202020204"/>
                <a:cs typeface="Arial" panose="020B0604020202020204"/>
              </a:defRPr>
            </a:pPr>
            <a:r>
              <a:rPr sz="1050" b="1">
                <a:solidFill>
                  <a:srgbClr val="5B5550"/>
                </a:solidFill>
                <a:latin typeface="Arial" panose="020B0604020202020204"/>
                <a:ea typeface="Arial" panose="020B0604020202020204"/>
                <a:cs typeface="Arial" panose="020B0604020202020204"/>
              </a:rPr>
              <a:t>Keep the strongest directed</a:t>
            </a:r>
            <a:endParaRPr sz="975" b="1">
              <a:solidFill>
                <a:srgbClr val="5B5550"/>
              </a:solidFill>
              <a:latin typeface="+mn-lt"/>
              <a:ea typeface="+mn-lt"/>
              <a:cs typeface="+mn-lt"/>
            </a:endParaRPr>
          </a:p>
          <a:p>
            <a:pPr algn="ctr">
              <a:lnSpc>
                <a:spcPts val="1950"/>
              </a:lnSpc>
              <a:buNone/>
              <a:defRPr sz="1050" b="0">
                <a:solidFill>
                  <a:srgbClr val="5B5550"/>
                </a:solidFill>
                <a:latin typeface="Arial" panose="020B0604020202020204"/>
                <a:ea typeface="Arial" panose="020B0604020202020204"/>
                <a:cs typeface="Arial" panose="020B0604020202020204"/>
              </a:defRPr>
            </a:pPr>
            <a:r>
              <a:rPr sz="1050" b="1">
                <a:solidFill>
                  <a:srgbClr val="5B5550"/>
                </a:solidFill>
                <a:latin typeface="Arial" panose="020B0604020202020204"/>
                <a:ea typeface="Arial" panose="020B0604020202020204"/>
                <a:cs typeface="Arial" panose="020B0604020202020204"/>
              </a:rPr>
              <a:t>relations through row-wise</a:t>
            </a:r>
            <a:endParaRPr sz="975" b="1">
              <a:solidFill>
                <a:srgbClr val="5B5550"/>
              </a:solidFill>
              <a:latin typeface="+mn-lt"/>
              <a:ea typeface="+mn-lt"/>
              <a:cs typeface="+mn-lt"/>
            </a:endParaRPr>
          </a:p>
          <a:p>
            <a:pPr algn="ctr">
              <a:lnSpc>
                <a:spcPts val="1950"/>
              </a:lnSpc>
              <a:buNone/>
              <a:defRPr sz="1050" b="0">
                <a:solidFill>
                  <a:srgbClr val="5B5550"/>
                </a:solidFill>
                <a:latin typeface="Arial" panose="020B0604020202020204"/>
                <a:ea typeface="Arial" panose="020B0604020202020204"/>
                <a:cs typeface="Arial" panose="020B0604020202020204"/>
              </a:defRPr>
            </a:pPr>
            <a:r>
              <a:rPr sz="1050" b="1">
                <a:solidFill>
                  <a:srgbClr val="5B5550"/>
                </a:solidFill>
                <a:latin typeface="Arial" panose="020B0604020202020204"/>
                <a:ea typeface="Arial" panose="020B0604020202020204"/>
                <a:cs typeface="Arial" panose="020B0604020202020204"/>
              </a:rPr>
              <a:t>Top-k selection.</a:t>
            </a:r>
            <a:endParaRPr sz="975" b="1">
              <a:solidFill>
                <a:srgbClr val="5B5550"/>
              </a:solidFill>
              <a:latin typeface="+mn-lt"/>
              <a:ea typeface="+mn-lt"/>
              <a:cs typeface="+mn-lt"/>
            </a:endParaRPr>
          </a:p>
        </p:txBody>
      </p:sp>
      <p:sp>
        <p:nvSpPr>
          <p:cNvPr id="37" name="Rectangle 37"/>
          <p:cNvSpPr>
            <a:spLocks noGrp="1"/>
          </p:cNvSpPr>
          <p:nvPr/>
        </p:nvSpPr>
        <p:spPr>
          <a:xfrm>
            <a:off x="1028700" y="4038600"/>
            <a:ext cx="10134600" cy="1123950"/>
          </a:xfrm>
          <a:prstGeom prst="rect">
            <a:avLst/>
          </a:prstGeom>
          <a:solidFill>
            <a:srgbClr val="FFFFFF"/>
          </a:solidFill>
          <a:ln w="9525">
            <a:solidFill>
              <a:srgbClr val="D9CFC8"/>
            </a:solidFill>
            <a:prstDash val="solid"/>
          </a:ln>
        </p:spPr>
      </p:sp>
      <p:sp>
        <p:nvSpPr>
          <p:cNvPr id="38" name="TextBox 38"/>
          <p:cNvSpPr>
            <a:spLocks noGrp="1"/>
          </p:cNvSpPr>
          <p:nvPr/>
        </p:nvSpPr>
        <p:spPr>
          <a:xfrm>
            <a:off x="1247775" y="4171950"/>
            <a:ext cx="4095750" cy="228600"/>
          </a:xfrm>
          <a:prstGeom prst="rect">
            <a:avLst/>
          </a:prstGeom>
          <a:noFill/>
          <a:ln>
            <a:noFill/>
          </a:ln>
        </p:spPr>
        <p:txBody>
          <a:bodyPr wrap="none" lIns="0" tIns="0" rIns="0" bIns="0" anchor="ctr">
            <a:spAutoFit/>
          </a:bodyPr>
          <a:lstStyle/>
          <a:p>
            <a:pPr algn="l">
              <a:buNone/>
              <a:defRPr sz="1050" b="1">
                <a:solidFill>
                  <a:srgbClr val="C43B00"/>
                </a:solidFill>
              </a:defRPr>
            </a:pPr>
            <a:r>
              <a:rPr sz="1050" b="1">
                <a:solidFill>
                  <a:srgbClr val="C43B00"/>
                </a:solidFill>
                <a:latin typeface="+mn-lt"/>
                <a:ea typeface="+mn-lt"/>
                <a:cs typeface="+mn-lt"/>
              </a:rPr>
              <a:t>CONTEXT-AWARE BASIS MIXING · EQUATION 8</a:t>
            </a:r>
            <a:endParaRPr sz="1050" b="1">
              <a:solidFill>
                <a:schemeClr val="accent1"/>
              </a:solidFill>
              <a:latin typeface="+mn-lt"/>
              <a:ea typeface="+mn-lt"/>
              <a:cs typeface="+mn-lt"/>
            </a:endParaRPr>
          </a:p>
        </p:txBody>
      </p:sp>
      <p:pic>
        <p:nvPicPr>
          <p:cNvPr id="79" name="Image 39"/>
          <p:cNvPicPr>
            <a:picLocks noChangeAspect="1"/>
          </p:cNvPicPr>
          <p:nvPr/>
        </p:nvPicPr>
        <p:blipFill>
          <a:blip r:embed="rId1"/>
          <a:stretch>
            <a:fillRect/>
          </a:stretch>
        </p:blipFill>
        <p:spPr>
          <a:xfrm>
            <a:off x="2857500" y="4362450"/>
            <a:ext cx="6477000" cy="723900"/>
          </a:xfrm>
          <a:prstGeom prst="rect">
            <a:avLst/>
          </a:prstGeom>
        </p:spPr>
      </p:pic>
      <p:sp>
        <p:nvSpPr>
          <p:cNvPr id="41" name="Rectangle 41"/>
          <p:cNvSpPr>
            <a:spLocks noGrp="1"/>
          </p:cNvSpPr>
          <p:nvPr/>
        </p:nvSpPr>
        <p:spPr>
          <a:xfrm>
            <a:off x="1200150" y="5334000"/>
            <a:ext cx="9791700" cy="762000"/>
          </a:xfrm>
          <a:prstGeom prst="rect">
            <a:avLst/>
          </a:prstGeom>
          <a:solidFill>
            <a:srgbClr val="F4D7C8"/>
          </a:solidFill>
          <a:ln w="0">
            <a:solidFill>
              <a:srgbClr val="F4D7C8"/>
            </a:solidFill>
            <a:prstDash val="solid"/>
          </a:ln>
        </p:spPr>
      </p:sp>
      <p:sp>
        <p:nvSpPr>
          <p:cNvPr id="42" name="TextBox 42"/>
          <p:cNvSpPr>
            <a:spLocks noGrp="1"/>
          </p:cNvSpPr>
          <p:nvPr/>
        </p:nvSpPr>
        <p:spPr>
          <a:xfrm>
            <a:off x="1428750" y="5457825"/>
            <a:ext cx="2381250" cy="285750"/>
          </a:xfrm>
          <a:prstGeom prst="rect">
            <a:avLst/>
          </a:prstGeom>
          <a:noFill/>
          <a:ln>
            <a:noFill/>
          </a:ln>
        </p:spPr>
        <p:txBody>
          <a:bodyPr wrap="none" lIns="0" tIns="0" rIns="0" bIns="0" anchor="ctr">
            <a:spAutoFit/>
          </a:bodyPr>
          <a:lstStyle/>
          <a:p>
            <a:pPr algn="l">
              <a:buNone/>
              <a:defRPr sz="1350" b="1">
                <a:solidFill>
                  <a:srgbClr val="C43B00"/>
                </a:solidFill>
              </a:defRPr>
            </a:pPr>
            <a:r>
              <a:rPr sz="1350" b="1">
                <a:solidFill>
                  <a:srgbClr val="C43B00"/>
                </a:solidFill>
                <a:latin typeface="+mn-lt"/>
                <a:ea typeface="+mn-lt"/>
                <a:cs typeface="+mn-lt"/>
              </a:rPr>
              <a:t>TOPOLOGY × INTENSITY</a:t>
            </a:r>
            <a:endParaRPr sz="1350" b="1">
              <a:solidFill>
                <a:schemeClr val="accent1"/>
              </a:solidFill>
              <a:latin typeface="+mn-lt"/>
              <a:ea typeface="+mn-lt"/>
              <a:cs typeface="+mn-lt"/>
            </a:endParaRPr>
          </a:p>
        </p:txBody>
      </p:sp>
      <p:sp>
        <p:nvSpPr>
          <p:cNvPr id="43" name="TextBox 43"/>
          <p:cNvSpPr>
            <a:spLocks noGrp="1"/>
          </p:cNvSpPr>
          <p:nvPr/>
        </p:nvSpPr>
        <p:spPr>
          <a:xfrm>
            <a:off x="3810000" y="5410200"/>
            <a:ext cx="6858000" cy="571500"/>
          </a:xfrm>
          <a:prstGeom prst="rect">
            <a:avLst/>
          </a:prstGeom>
          <a:noFill/>
          <a:ln>
            <a:noFill/>
          </a:ln>
        </p:spPr>
        <p:txBody>
          <a:bodyPr wrap="none" lIns="0" tIns="0" rIns="0" bIns="0" anchor="ctr">
            <a:spAutoFit/>
          </a:bodyPr>
          <a:lstStyle/>
          <a:p>
            <a:pPr algn="l">
              <a:lnSpc>
                <a:spcPts val="1950"/>
              </a:lnSpc>
              <a:buNone/>
              <a:defRPr sz="1275" b="0">
                <a:solidFill>
                  <a:srgbClr val="2C2927"/>
                </a:solidFill>
              </a:defRPr>
            </a:pPr>
            <a:r>
              <a:rPr sz="1275" b="0">
                <a:solidFill>
                  <a:srgbClr val="2C2927"/>
                </a:solidFill>
                <a:latin typeface="+mn-lt"/>
                <a:ea typeface="+mn-lt"/>
                <a:cs typeface="+mn-lt"/>
              </a:rPr>
              <a:t>The constrained mixer selects reliable edges;</a:t>
            </a:r>
            <a:endParaRPr sz="1240" b="0">
              <a:solidFill>
                <a:srgbClr val="2C2927"/>
              </a:solidFill>
              <a:latin typeface="+mn-lt"/>
              <a:ea typeface="+mn-lt"/>
              <a:cs typeface="+mn-lt"/>
            </a:endParaRPr>
          </a:p>
          <a:p>
            <a:pPr algn="l">
              <a:lnSpc>
                <a:spcPts val="1950"/>
              </a:lnSpc>
              <a:buNone/>
              <a:defRPr sz="1275" b="0">
                <a:solidFill>
                  <a:srgbClr val="2C2927"/>
                </a:solidFill>
              </a:defRPr>
            </a:pPr>
            <a:r>
              <a:rPr sz="1275" b="0">
                <a:solidFill>
                  <a:srgbClr val="2C2927"/>
                </a:solidFill>
                <a:latin typeface="+mn-lt"/>
                <a:ea typeface="+mn-lt"/>
                <a:cs typeface="+mn-lt"/>
              </a:rPr>
              <a:t>a separate intensity branch weights only those connections.</a:t>
            </a:r>
            <a:endParaRPr sz="1240" b="0">
              <a:solidFill>
                <a:srgbClr val="2C2927"/>
              </a:solidFill>
              <a:latin typeface="+mn-lt"/>
              <a:ea typeface="+mn-lt"/>
              <a:cs typeface="+mn-lt"/>
            </a:endParaRPr>
          </a:p>
        </p:txBody>
      </p:sp>
      <p:sp>
        <p:nvSpPr>
          <p:cNvPr id="45" name="Line 45"/>
          <p:cNvSpPr>
            <a:spLocks noGrp="1"/>
          </p:cNvSpPr>
          <p:nvPr/>
        </p:nvSpPr>
        <p:spPr>
          <a:xfrm>
            <a:off x="495300" y="6362700"/>
            <a:ext cx="11201400" cy="9525"/>
          </a:xfrm>
          <a:custGeom>
            <a:avLst/>
            <a:gdLst/>
            <a:ahLst/>
            <a:cxnLst/>
            <a:rect l="l" t="t" r="r" b="b"/>
            <a:pathLst>
              <a:path w="11201400" h="9525">
                <a:moveTo>
                  <a:pt x="0" y="0"/>
                </a:moveTo>
                <a:lnTo>
                  <a:pt x="11201400" y="0"/>
                </a:lnTo>
              </a:path>
            </a:pathLst>
          </a:custGeom>
          <a:noFill/>
          <a:ln w="9525">
            <a:solidFill>
              <a:schemeClr val="accent5"/>
            </a:solidFill>
          </a:ln>
        </p:spPr>
      </p:sp>
      <p:sp>
        <p:nvSpPr>
          <p:cNvPr id="47" name="TextBox 47"/>
          <p:cNvSpPr>
            <a:spLocks noGrp="1"/>
          </p:cNvSpPr>
          <p:nvPr/>
        </p:nvSpPr>
        <p:spPr>
          <a:xfrm>
            <a:off x="11528106" y="6497002"/>
            <a:ext cx="173928" cy="205359"/>
          </a:xfrm>
          <a:prstGeom prst="rect">
            <a:avLst/>
          </a:prstGeom>
          <a:noFill/>
          <a:ln>
            <a:noFill/>
          </a:ln>
        </p:spPr>
        <p:txBody>
          <a:bodyPr wrap="none" lIns="0" tIns="0" rIns="0" bIns="0" anchor="t">
            <a:spAutoFit/>
          </a:bodyPr>
          <a:lstStyle/>
          <a:p>
            <a:pPr algn="r">
              <a:buNone/>
            </a:pPr>
            <a:r>
              <a:rPr sz="1050" b="1">
                <a:solidFill>
                  <a:schemeClr val="accent1"/>
                </a:solidFill>
                <a:latin typeface="+mn-lt"/>
                <a:ea typeface="+mn-lt"/>
                <a:cs typeface="+mn-lt"/>
              </a:rPr>
              <a:t>05</a:t>
            </a:r>
            <a:endParaRPr sz="1050" b="1">
              <a:solidFill>
                <a:schemeClr val="accent1"/>
              </a:solidFill>
              <a:latin typeface="+mn-lt"/>
              <a:ea typeface="+mn-lt"/>
              <a:cs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2" name="TextBox 2"/>
          <p:cNvSpPr>
            <a:spLocks noGrp="1"/>
          </p:cNvSpPr>
          <p:nvPr/>
        </p:nvSpPr>
        <p:spPr>
          <a:xfrm>
            <a:off x="481584" y="318135"/>
            <a:ext cx="9587082" cy="528066"/>
          </a:xfrm>
          <a:prstGeom prst="rect">
            <a:avLst/>
          </a:prstGeom>
          <a:noFill/>
          <a:ln>
            <a:noFill/>
          </a:ln>
        </p:spPr>
        <p:txBody>
          <a:bodyPr wrap="none" lIns="0" tIns="0" rIns="0" bIns="0" anchor="t">
            <a:spAutoFit/>
          </a:bodyPr>
          <a:lstStyle/>
          <a:p>
            <a:pPr algn="l">
              <a:buNone/>
            </a:pPr>
            <a:r>
              <a:rPr sz="2700" b="1">
                <a:solidFill>
                  <a:schemeClr val="dk1"/>
                </a:solidFill>
                <a:latin typeface="+mn-lt"/>
                <a:ea typeface="+mn-lt"/>
                <a:cs typeface="+mn-lt"/>
              </a:rPr>
              <a:t>ConDyGNet leads across model families</a:t>
            </a:r>
            <a:endParaRPr sz="2700" b="1">
              <a:solidFill>
                <a:schemeClr val="dk1"/>
              </a:solidFill>
              <a:latin typeface="+mn-lt"/>
              <a:ea typeface="+mn-lt"/>
              <a:cs typeface="+mn-lt"/>
            </a:endParaRPr>
          </a:p>
        </p:txBody>
      </p:sp>
      <p:sp>
        <p:nvSpPr>
          <p:cNvPr id="3" name="Line 3"/>
          <p:cNvSpPr>
            <a:spLocks noGrp="1"/>
          </p:cNvSpPr>
          <p:nvPr/>
        </p:nvSpPr>
        <p:spPr>
          <a:xfrm>
            <a:off x="495300" y="914400"/>
            <a:ext cx="11201400" cy="9525"/>
          </a:xfrm>
          <a:custGeom>
            <a:avLst/>
            <a:gdLst/>
            <a:ahLst/>
            <a:cxnLst/>
            <a:rect l="l" t="t" r="r" b="b"/>
            <a:pathLst>
              <a:path w="11201400" h="9525">
                <a:moveTo>
                  <a:pt x="0" y="0"/>
                </a:moveTo>
                <a:lnTo>
                  <a:pt x="11201400" y="0"/>
                </a:lnTo>
              </a:path>
            </a:pathLst>
          </a:custGeom>
          <a:noFill/>
          <a:ln w="28575">
            <a:solidFill>
              <a:schemeClr val="accent1"/>
            </a:solidFill>
          </a:ln>
        </p:spPr>
      </p:sp>
      <p:sp>
        <p:nvSpPr>
          <p:cNvPr id="7" name="TextBox 7"/>
          <p:cNvSpPr>
            <a:spLocks noGrp="1"/>
          </p:cNvSpPr>
          <p:nvPr/>
        </p:nvSpPr>
        <p:spPr>
          <a:xfrm>
            <a:off x="666750" y="1104900"/>
            <a:ext cx="8556625" cy="215265"/>
          </a:xfrm>
          <a:prstGeom prst="rect">
            <a:avLst/>
          </a:prstGeom>
          <a:noFill/>
          <a:ln>
            <a:noFill/>
          </a:ln>
        </p:spPr>
        <p:txBody>
          <a:bodyPr wrap="none" lIns="0" tIns="0" rIns="0" bIns="0" anchor="t">
            <a:spAutoFit/>
          </a:bodyPr>
          <a:lstStyle/>
          <a:p>
            <a:pPr algn="l">
              <a:buNone/>
              <a:defRPr sz="1275" b="0">
                <a:solidFill>
                  <a:srgbClr val="5B5550"/>
                </a:solidFill>
              </a:defRPr>
            </a:pPr>
            <a:r>
              <a:rPr sz="1400" b="0">
                <a:solidFill>
                  <a:srgbClr val="5B5550"/>
                </a:solidFill>
                <a:latin typeface="+mn-lt"/>
                <a:ea typeface="+mn-lt"/>
                <a:cs typeface="+mn-lt"/>
              </a:rPr>
              <a:t>10 methods spanning GNN, Transformer, MLP, CNN, and linear designs · mean over 8 datasets × 4 horizons</a:t>
            </a:r>
            <a:endParaRPr sz="1400" b="0">
              <a:solidFill>
                <a:srgbClr val="5B5550"/>
              </a:solidFill>
              <a:latin typeface="+mn-lt"/>
              <a:ea typeface="+mn-lt"/>
              <a:cs typeface="+mn-lt"/>
            </a:endParaRPr>
          </a:p>
        </p:txBody>
      </p:sp>
      <p:graphicFrame>
        <p:nvGraphicFramePr>
          <p:cNvPr id="39" name="benchmark-table"/>
          <p:cNvGraphicFramePr/>
          <p:nvPr/>
        </p:nvGraphicFramePr>
        <p:xfrm>
          <a:off x="666750" y="1581150"/>
          <a:ext cx="10858500" cy="3743330"/>
        </p:xfrm>
        <a:graphic>
          <a:graphicData uri="http://schemas.openxmlformats.org/drawingml/2006/table">
            <a:tbl>
              <a:tblPr firstRow="1">
                <a:tableStyleId>{5C22544A-7EE6-4342-B048-85BDC9FD1C3A}</a:tableStyleId>
              </a:tblPr>
              <a:tblGrid>
                <a:gridCol w="2381250"/>
                <a:gridCol w="3619500"/>
                <a:gridCol w="2428875"/>
                <a:gridCol w="2428875"/>
              </a:tblGrid>
              <a:tr h="342900">
                <a:tc>
                  <a:txBody>
                    <a:bodyPr/>
                    <a:lstStyle/>
                    <a:p>
                      <a:pPr algn="l">
                        <a:buNone/>
                      </a:pPr>
                      <a:r>
                        <a:rPr sz="1200" b="1">
                          <a:solidFill>
                            <a:srgbClr val="FFFFFF"/>
                          </a:solidFill>
                          <a:latin typeface="Arial" panose="020B0604020202020204"/>
                          <a:ea typeface="Arial" panose="020B0604020202020204"/>
                          <a:cs typeface="Arial" panose="020B0604020202020204"/>
                        </a:rPr>
                        <a:t>Method</a:t>
                      </a:r>
                      <a:endParaRPr sz="1200" b="1">
                        <a:solidFill>
                          <a:srgbClr val="FFFFFF"/>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C43B00"/>
                    </a:solidFill>
                  </a:tcPr>
                </a:tc>
                <a:tc>
                  <a:txBody>
                    <a:bodyPr/>
                    <a:lstStyle/>
                    <a:p>
                      <a:pPr algn="l">
                        <a:buNone/>
                      </a:pPr>
                      <a:r>
                        <a:rPr sz="1200" b="1">
                          <a:solidFill>
                            <a:srgbClr val="FFFFFF"/>
                          </a:solidFill>
                          <a:latin typeface="Arial" panose="020B0604020202020204"/>
                          <a:ea typeface="Arial" panose="020B0604020202020204"/>
                          <a:cs typeface="Arial" panose="020B0604020202020204"/>
                        </a:rPr>
                        <a:t>Architecture family</a:t>
                      </a:r>
                      <a:endParaRPr sz="1200" b="1">
                        <a:solidFill>
                          <a:srgbClr val="FFFFFF"/>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C43B00"/>
                    </a:solidFill>
                  </a:tcPr>
                </a:tc>
                <a:tc>
                  <a:txBody>
                    <a:bodyPr/>
                    <a:lstStyle/>
                    <a:p>
                      <a:pPr algn="ctr">
                        <a:buNone/>
                      </a:pPr>
                      <a:r>
                        <a:rPr sz="1200" b="1">
                          <a:solidFill>
                            <a:srgbClr val="FFFFFF"/>
                          </a:solidFill>
                          <a:latin typeface="Arial" panose="020B0604020202020204"/>
                          <a:ea typeface="Arial" panose="020B0604020202020204"/>
                          <a:cs typeface="Arial" panose="020B0604020202020204"/>
                        </a:rPr>
                        <a:t>Mean MSE</a:t>
                      </a:r>
                      <a:endParaRPr sz="1200" b="1">
                        <a:solidFill>
                          <a:srgbClr val="FFFFFF"/>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C43B00"/>
                    </a:solidFill>
                  </a:tcPr>
                </a:tc>
                <a:tc>
                  <a:txBody>
                    <a:bodyPr/>
                    <a:lstStyle/>
                    <a:p>
                      <a:pPr algn="ctr">
                        <a:buNone/>
                      </a:pPr>
                      <a:r>
                        <a:rPr sz="1200" b="1">
                          <a:solidFill>
                            <a:srgbClr val="FFFFFF"/>
                          </a:solidFill>
                        </a:rPr>
                        <a:t>Mean MAE</a:t>
                      </a:r>
                      <a:endParaRPr sz="1200" b="1">
                        <a:solidFill>
                          <a:srgbClr val="FFFFFF"/>
                        </a:solidFill>
                      </a:endParaRPr>
                    </a:p>
                  </a:txBody>
                  <a:tcPr marL="95250" marR="95250" marT="38100" marB="38100" anchor="ctr">
                    <a:solidFill>
                      <a:srgbClr val="C43B00"/>
                    </a:solidFill>
                  </a:tcPr>
                </a:tc>
              </a:tr>
              <a:tr h="340043">
                <a:tc>
                  <a:txBody>
                    <a:bodyPr/>
                    <a:lstStyle/>
                    <a:p>
                      <a:pPr algn="l">
                        <a:buNone/>
                      </a:pPr>
                      <a:r>
                        <a:rPr sz="1200" b="1">
                          <a:solidFill>
                            <a:srgbClr val="8B2D06"/>
                          </a:solidFill>
                          <a:latin typeface="Arial" panose="020B0604020202020204"/>
                          <a:ea typeface="Arial" panose="020B0604020202020204"/>
                          <a:cs typeface="Arial" panose="020B0604020202020204"/>
                        </a:rPr>
                        <a:t>ConDyGNet(IJCAI-ECAI2026)</a:t>
                      </a:r>
                      <a:endParaRPr sz="1200" b="1">
                        <a:solidFill>
                          <a:srgbClr val="8B2D06"/>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4D7C8"/>
                    </a:solidFill>
                  </a:tcPr>
                </a:tc>
                <a:tc>
                  <a:txBody>
                    <a:bodyPr/>
                    <a:lstStyle/>
                    <a:p>
                      <a:pPr algn="l">
                        <a:buNone/>
                      </a:pPr>
                      <a:r>
                        <a:rPr sz="1200" b="1">
                          <a:solidFill>
                            <a:srgbClr val="8B2D06"/>
                          </a:solidFill>
                          <a:latin typeface="Arial" panose="020B0604020202020204"/>
                          <a:ea typeface="Arial" panose="020B0604020202020204"/>
                          <a:cs typeface="Arial" panose="020B0604020202020204"/>
                        </a:rPr>
                        <a:t>GNN + Transformer</a:t>
                      </a:r>
                      <a:endParaRPr sz="1200" b="1">
                        <a:solidFill>
                          <a:srgbClr val="8B2D06"/>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4D7C8"/>
                    </a:solidFill>
                  </a:tcPr>
                </a:tc>
                <a:tc>
                  <a:txBody>
                    <a:bodyPr/>
                    <a:lstStyle/>
                    <a:p>
                      <a:pPr algn="ctr">
                        <a:buNone/>
                      </a:pPr>
                      <a:r>
                        <a:rPr sz="1200" b="1">
                          <a:solidFill>
                            <a:srgbClr val="8B2D06"/>
                          </a:solidFill>
                          <a:latin typeface="Arial" panose="020B0604020202020204"/>
                          <a:ea typeface="Arial" panose="020B0604020202020204"/>
                          <a:cs typeface="Arial" panose="020B0604020202020204"/>
                        </a:rPr>
                        <a:t>0.3057</a:t>
                      </a:r>
                      <a:endParaRPr sz="1200" b="1">
                        <a:solidFill>
                          <a:srgbClr val="8B2D06"/>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4D7C8"/>
                    </a:solidFill>
                  </a:tcPr>
                </a:tc>
                <a:tc>
                  <a:txBody>
                    <a:bodyPr/>
                    <a:lstStyle/>
                    <a:p>
                      <a:pPr algn="ctr">
                        <a:buNone/>
                      </a:pPr>
                      <a:r>
                        <a:rPr sz="1200" b="1">
                          <a:solidFill>
                            <a:srgbClr val="8B2D06"/>
                          </a:solidFill>
                        </a:rPr>
                        <a:t>0.3133</a:t>
                      </a:r>
                      <a:endParaRPr sz="1200" b="1">
                        <a:solidFill>
                          <a:srgbClr val="8B2D06"/>
                        </a:solidFill>
                      </a:endParaRPr>
                    </a:p>
                  </a:txBody>
                  <a:tcPr marL="95250" marR="95250" marT="38100" marB="38100" anchor="ctr">
                    <a:solidFill>
                      <a:srgbClr val="F4D7C8"/>
                    </a:solidFill>
                  </a:tcPr>
                </a:tc>
              </a:tr>
              <a:tr h="340043">
                <a:tc>
                  <a:txBody>
                    <a:bodyPr/>
                    <a:lstStyle/>
                    <a:p>
                      <a:pPr algn="l">
                        <a:buNone/>
                      </a:pPr>
                      <a:r>
                        <a:rPr sz="1200" b="0">
                          <a:solidFill>
                            <a:srgbClr val="2C2927"/>
                          </a:solidFill>
                          <a:latin typeface="Arial" panose="020B0604020202020204"/>
                          <a:ea typeface="Arial" panose="020B0604020202020204"/>
                          <a:cs typeface="Arial" panose="020B0604020202020204"/>
                        </a:rPr>
                        <a:t>TimeFilter(ICML2025)</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BF7F3"/>
                    </a:solidFill>
                  </a:tcPr>
                </a:tc>
                <a:tc>
                  <a:txBody>
                    <a:bodyPr/>
                    <a:lstStyle/>
                    <a:p>
                      <a:pPr algn="l">
                        <a:buNone/>
                      </a:pPr>
                      <a:r>
                        <a:rPr sz="1200" b="0">
                          <a:solidFill>
                            <a:srgbClr val="2C2927"/>
                          </a:solidFill>
                          <a:latin typeface="Arial" panose="020B0604020202020204"/>
                          <a:ea typeface="Arial" panose="020B0604020202020204"/>
                          <a:cs typeface="Arial" panose="020B0604020202020204"/>
                        </a:rPr>
                        <a:t>GNN</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BF7F3"/>
                    </a:solidFill>
                  </a:tcPr>
                </a:tc>
                <a:tc>
                  <a:txBody>
                    <a:bodyPr/>
                    <a:lstStyle/>
                    <a:p>
                      <a:pPr algn="ctr">
                        <a:buNone/>
                      </a:pPr>
                      <a:r>
                        <a:rPr sz="1200" b="0">
                          <a:solidFill>
                            <a:srgbClr val="2C2927"/>
                          </a:solidFill>
                          <a:latin typeface="Arial" panose="020B0604020202020204"/>
                          <a:ea typeface="Arial" panose="020B0604020202020204"/>
                          <a:cs typeface="Arial" panose="020B0604020202020204"/>
                        </a:rPr>
                        <a:t>0.3076</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BF7F3"/>
                    </a:solidFill>
                  </a:tcPr>
                </a:tc>
                <a:tc>
                  <a:txBody>
                    <a:bodyPr/>
                    <a:lstStyle/>
                    <a:p>
                      <a:pPr algn="ctr">
                        <a:buNone/>
                      </a:pPr>
                      <a:r>
                        <a:rPr sz="1200" b="0">
                          <a:solidFill>
                            <a:srgbClr val="2C2927"/>
                          </a:solidFill>
                        </a:rPr>
                        <a:t>0.3227</a:t>
                      </a:r>
                      <a:endParaRPr sz="1200" b="0">
                        <a:solidFill>
                          <a:srgbClr val="2C2927"/>
                        </a:solidFill>
                      </a:endParaRPr>
                    </a:p>
                  </a:txBody>
                  <a:tcPr marL="95250" marR="95250" marT="38100" marB="38100" anchor="ctr">
                    <a:solidFill>
                      <a:srgbClr val="FBF7F3"/>
                    </a:solidFill>
                  </a:tcPr>
                </a:tc>
              </a:tr>
              <a:tr h="340043">
                <a:tc>
                  <a:txBody>
                    <a:bodyPr/>
                    <a:lstStyle/>
                    <a:p>
                      <a:pPr algn="l">
                        <a:buNone/>
                      </a:pPr>
                      <a:r>
                        <a:rPr sz="1200" b="0">
                          <a:solidFill>
                            <a:srgbClr val="2C2927"/>
                          </a:solidFill>
                          <a:latin typeface="Arial" panose="020B0604020202020204"/>
                          <a:ea typeface="Arial" panose="020B0604020202020204"/>
                          <a:cs typeface="Arial" panose="020B0604020202020204"/>
                        </a:rPr>
                        <a:t>SOFTS(NeurIPS2024)</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FFFFF"/>
                    </a:solidFill>
                  </a:tcPr>
                </a:tc>
                <a:tc>
                  <a:txBody>
                    <a:bodyPr/>
                    <a:lstStyle/>
                    <a:p>
                      <a:pPr algn="l">
                        <a:buNone/>
                      </a:pPr>
                      <a:r>
                        <a:rPr sz="1200" b="0">
                          <a:solidFill>
                            <a:srgbClr val="2C2927"/>
                          </a:solidFill>
                          <a:latin typeface="Arial" panose="020B0604020202020204"/>
                          <a:ea typeface="Arial" panose="020B0604020202020204"/>
                          <a:cs typeface="Arial" panose="020B0604020202020204"/>
                        </a:rPr>
                        <a:t>MLP</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FFFFF"/>
                    </a:solidFill>
                  </a:tcPr>
                </a:tc>
                <a:tc>
                  <a:txBody>
                    <a:bodyPr/>
                    <a:lstStyle/>
                    <a:p>
                      <a:pPr algn="ctr">
                        <a:buNone/>
                      </a:pPr>
                      <a:r>
                        <a:rPr sz="1200" b="0">
                          <a:solidFill>
                            <a:srgbClr val="2C2927"/>
                          </a:solidFill>
                          <a:latin typeface="Arial" panose="020B0604020202020204"/>
                          <a:ea typeface="Arial" panose="020B0604020202020204"/>
                          <a:cs typeface="Arial" panose="020B0604020202020204"/>
                        </a:rPr>
                        <a:t>0.3212</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FFFFF"/>
                    </a:solidFill>
                  </a:tcPr>
                </a:tc>
                <a:tc>
                  <a:txBody>
                    <a:bodyPr/>
                    <a:lstStyle/>
                    <a:p>
                      <a:pPr algn="ctr">
                        <a:buNone/>
                      </a:pPr>
                      <a:r>
                        <a:rPr sz="1200" b="0">
                          <a:solidFill>
                            <a:srgbClr val="2C2927"/>
                          </a:solidFill>
                        </a:rPr>
                        <a:t>0.3299</a:t>
                      </a:r>
                      <a:endParaRPr sz="1200" b="0">
                        <a:solidFill>
                          <a:srgbClr val="2C2927"/>
                        </a:solidFill>
                      </a:endParaRPr>
                    </a:p>
                  </a:txBody>
                  <a:tcPr marL="95250" marR="95250" marT="38100" marB="38100" anchor="ctr">
                    <a:solidFill>
                      <a:srgbClr val="FFFFFF"/>
                    </a:solidFill>
                  </a:tcPr>
                </a:tc>
              </a:tr>
              <a:tr h="340043">
                <a:tc>
                  <a:txBody>
                    <a:bodyPr/>
                    <a:lstStyle/>
                    <a:p>
                      <a:pPr algn="l">
                        <a:buNone/>
                      </a:pPr>
                      <a:r>
                        <a:rPr sz="1200" b="0">
                          <a:solidFill>
                            <a:srgbClr val="2C2927"/>
                          </a:solidFill>
                          <a:latin typeface="Arial" panose="020B0604020202020204"/>
                          <a:ea typeface="Arial" panose="020B0604020202020204"/>
                          <a:cs typeface="Arial" panose="020B0604020202020204"/>
                        </a:rPr>
                        <a:t>TimeXer(NeurIPS2024)</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BF7F3"/>
                    </a:solidFill>
                  </a:tcPr>
                </a:tc>
                <a:tc>
                  <a:txBody>
                    <a:bodyPr/>
                    <a:lstStyle/>
                    <a:p>
                      <a:pPr algn="l">
                        <a:buNone/>
                      </a:pPr>
                      <a:r>
                        <a:rPr sz="1200" b="0">
                          <a:solidFill>
                            <a:srgbClr val="2C2927"/>
                          </a:solidFill>
                          <a:latin typeface="Arial" panose="020B0604020202020204"/>
                          <a:ea typeface="Arial" panose="020B0604020202020204"/>
                          <a:cs typeface="Arial" panose="020B0604020202020204"/>
                        </a:rPr>
                        <a:t>Transformer</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BF7F3"/>
                    </a:solidFill>
                  </a:tcPr>
                </a:tc>
                <a:tc>
                  <a:txBody>
                    <a:bodyPr/>
                    <a:lstStyle/>
                    <a:p>
                      <a:pPr algn="ctr">
                        <a:buNone/>
                      </a:pPr>
                      <a:r>
                        <a:rPr sz="1200" b="0">
                          <a:solidFill>
                            <a:srgbClr val="2C2927"/>
                          </a:solidFill>
                          <a:latin typeface="Arial" panose="020B0604020202020204"/>
                          <a:ea typeface="Arial" panose="020B0604020202020204"/>
                          <a:cs typeface="Arial" panose="020B0604020202020204"/>
                        </a:rPr>
                        <a:t>0.3219</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BF7F3"/>
                    </a:solidFill>
                  </a:tcPr>
                </a:tc>
                <a:tc>
                  <a:txBody>
                    <a:bodyPr/>
                    <a:lstStyle/>
                    <a:p>
                      <a:pPr algn="ctr">
                        <a:buNone/>
                      </a:pPr>
                      <a:r>
                        <a:rPr sz="1200" b="0">
                          <a:solidFill>
                            <a:srgbClr val="2C2927"/>
                          </a:solidFill>
                        </a:rPr>
                        <a:t>0.3351</a:t>
                      </a:r>
                      <a:endParaRPr sz="1200" b="0">
                        <a:solidFill>
                          <a:srgbClr val="2C2927"/>
                        </a:solidFill>
                      </a:endParaRPr>
                    </a:p>
                  </a:txBody>
                  <a:tcPr marL="95250" marR="95250" marT="38100" marB="38100" anchor="ctr">
                    <a:solidFill>
                      <a:srgbClr val="FBF7F3"/>
                    </a:solidFill>
                  </a:tcPr>
                </a:tc>
              </a:tr>
              <a:tr h="340043">
                <a:tc>
                  <a:txBody>
                    <a:bodyPr/>
                    <a:lstStyle/>
                    <a:p>
                      <a:pPr algn="l">
                        <a:buNone/>
                      </a:pPr>
                      <a:r>
                        <a:rPr sz="1200" b="0">
                          <a:solidFill>
                            <a:srgbClr val="2C2927"/>
                          </a:solidFill>
                          <a:latin typeface="Arial" panose="020B0604020202020204"/>
                          <a:ea typeface="Arial" panose="020B0604020202020204"/>
                          <a:cs typeface="Arial" panose="020B0604020202020204"/>
                        </a:rPr>
                        <a:t>DUET(KDD2025)</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FFFFF"/>
                    </a:solidFill>
                  </a:tcPr>
                </a:tc>
                <a:tc>
                  <a:txBody>
                    <a:bodyPr/>
                    <a:lstStyle/>
                    <a:p>
                      <a:pPr algn="l">
                        <a:buNone/>
                      </a:pPr>
                      <a:r>
                        <a:rPr sz="1200" b="0">
                          <a:solidFill>
                            <a:srgbClr val="2C2927"/>
                          </a:solidFill>
                          <a:latin typeface="Arial" panose="020B0604020202020204"/>
                          <a:ea typeface="Arial" panose="020B0604020202020204"/>
                          <a:cs typeface="Arial" panose="020B0604020202020204"/>
                        </a:rPr>
                        <a:t>MLP</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FFFFF"/>
                    </a:solidFill>
                  </a:tcPr>
                </a:tc>
                <a:tc>
                  <a:txBody>
                    <a:bodyPr/>
                    <a:lstStyle/>
                    <a:p>
                      <a:pPr algn="ctr">
                        <a:buNone/>
                      </a:pPr>
                      <a:r>
                        <a:rPr sz="1200" b="0">
                          <a:solidFill>
                            <a:srgbClr val="2C2927"/>
                          </a:solidFill>
                          <a:latin typeface="Arial" panose="020B0604020202020204"/>
                          <a:ea typeface="Arial" panose="020B0604020202020204"/>
                          <a:cs typeface="Arial" panose="020B0604020202020204"/>
                        </a:rPr>
                        <a:t>0.3244</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FFFFF"/>
                    </a:solidFill>
                  </a:tcPr>
                </a:tc>
                <a:tc>
                  <a:txBody>
                    <a:bodyPr/>
                    <a:lstStyle/>
                    <a:p>
                      <a:pPr algn="ctr">
                        <a:buNone/>
                      </a:pPr>
                      <a:r>
                        <a:rPr sz="1200" b="0">
                          <a:solidFill>
                            <a:srgbClr val="2C2927"/>
                          </a:solidFill>
                        </a:rPr>
                        <a:t>0.3229</a:t>
                      </a:r>
                      <a:endParaRPr sz="1200" b="0">
                        <a:solidFill>
                          <a:srgbClr val="2C2927"/>
                        </a:solidFill>
                      </a:endParaRPr>
                    </a:p>
                  </a:txBody>
                  <a:tcPr marL="95250" marR="95250" marT="38100" marB="38100" anchor="ctr">
                    <a:solidFill>
                      <a:srgbClr val="FFFFFF"/>
                    </a:solidFill>
                  </a:tcPr>
                </a:tc>
              </a:tr>
              <a:tr h="340043">
                <a:tc>
                  <a:txBody>
                    <a:bodyPr/>
                    <a:lstStyle/>
                    <a:p>
                      <a:pPr algn="l">
                        <a:buNone/>
                      </a:pPr>
                      <a:r>
                        <a:rPr sz="1200" b="0">
                          <a:solidFill>
                            <a:srgbClr val="2C2927"/>
                          </a:solidFill>
                          <a:latin typeface="Arial" panose="020B0604020202020204"/>
                          <a:ea typeface="Arial" panose="020B0604020202020204"/>
                          <a:cs typeface="Arial" panose="020B0604020202020204"/>
                        </a:rPr>
                        <a:t>iTransformer(ICLR2024)</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BF7F3"/>
                    </a:solidFill>
                  </a:tcPr>
                </a:tc>
                <a:tc>
                  <a:txBody>
                    <a:bodyPr/>
                    <a:lstStyle/>
                    <a:p>
                      <a:pPr algn="l">
                        <a:buNone/>
                      </a:pPr>
                      <a:r>
                        <a:rPr sz="1200" b="0">
                          <a:solidFill>
                            <a:srgbClr val="2C2927"/>
                          </a:solidFill>
                          <a:latin typeface="Arial" panose="020B0604020202020204"/>
                          <a:ea typeface="Arial" panose="020B0604020202020204"/>
                          <a:cs typeface="Arial" panose="020B0604020202020204"/>
                        </a:rPr>
                        <a:t>Transformer</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BF7F3"/>
                    </a:solidFill>
                  </a:tcPr>
                </a:tc>
                <a:tc>
                  <a:txBody>
                    <a:bodyPr/>
                    <a:lstStyle/>
                    <a:p>
                      <a:pPr algn="ctr">
                        <a:buNone/>
                      </a:pPr>
                      <a:r>
                        <a:rPr sz="1200" b="0">
                          <a:solidFill>
                            <a:srgbClr val="2C2927"/>
                          </a:solidFill>
                          <a:latin typeface="Arial" panose="020B0604020202020204"/>
                          <a:ea typeface="Arial" panose="020B0604020202020204"/>
                          <a:cs typeface="Arial" panose="020B0604020202020204"/>
                        </a:rPr>
                        <a:t>0.3284</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BF7F3"/>
                    </a:solidFill>
                  </a:tcPr>
                </a:tc>
                <a:tc>
                  <a:txBody>
                    <a:bodyPr/>
                    <a:lstStyle/>
                    <a:p>
                      <a:pPr algn="ctr">
                        <a:buNone/>
                      </a:pPr>
                      <a:r>
                        <a:rPr sz="1200" b="0">
                          <a:solidFill>
                            <a:srgbClr val="2C2927"/>
                          </a:solidFill>
                        </a:rPr>
                        <a:t>0.3358</a:t>
                      </a:r>
                      <a:endParaRPr sz="1200" b="0">
                        <a:solidFill>
                          <a:srgbClr val="2C2927"/>
                        </a:solidFill>
                      </a:endParaRPr>
                    </a:p>
                  </a:txBody>
                  <a:tcPr marL="95250" marR="95250" marT="38100" marB="38100" anchor="ctr">
                    <a:solidFill>
                      <a:srgbClr val="FBF7F3"/>
                    </a:solidFill>
                  </a:tcPr>
                </a:tc>
              </a:tr>
              <a:tr h="340043">
                <a:tc>
                  <a:txBody>
                    <a:bodyPr/>
                    <a:lstStyle/>
                    <a:p>
                      <a:pPr algn="l">
                        <a:buNone/>
                      </a:pPr>
                      <a:r>
                        <a:rPr sz="1200" b="0">
                          <a:solidFill>
                            <a:srgbClr val="2C2927"/>
                          </a:solidFill>
                          <a:latin typeface="Arial" panose="020B0604020202020204"/>
                          <a:ea typeface="Arial" panose="020B0604020202020204"/>
                          <a:cs typeface="Arial" panose="020B0604020202020204"/>
                        </a:rPr>
                        <a:t>PatchTST(ICLR2023)</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FFFFF"/>
                    </a:solidFill>
                  </a:tcPr>
                </a:tc>
                <a:tc>
                  <a:txBody>
                    <a:bodyPr/>
                    <a:lstStyle/>
                    <a:p>
                      <a:pPr algn="l">
                        <a:buNone/>
                      </a:pPr>
                      <a:r>
                        <a:rPr sz="1200" b="0">
                          <a:solidFill>
                            <a:srgbClr val="2C2927"/>
                          </a:solidFill>
                          <a:latin typeface="Arial" panose="020B0604020202020204"/>
                          <a:ea typeface="Arial" panose="020B0604020202020204"/>
                          <a:cs typeface="Arial" panose="020B0604020202020204"/>
                        </a:rPr>
                        <a:t>Transformer</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FFFFF"/>
                    </a:solidFill>
                  </a:tcPr>
                </a:tc>
                <a:tc>
                  <a:txBody>
                    <a:bodyPr/>
                    <a:lstStyle/>
                    <a:p>
                      <a:pPr algn="ctr">
                        <a:buNone/>
                      </a:pPr>
                      <a:r>
                        <a:rPr sz="1200" b="0">
                          <a:solidFill>
                            <a:srgbClr val="2C2927"/>
                          </a:solidFill>
                          <a:latin typeface="Arial" panose="020B0604020202020204"/>
                          <a:ea typeface="Arial" panose="020B0604020202020204"/>
                          <a:cs typeface="Arial" panose="020B0604020202020204"/>
                        </a:rPr>
                        <a:t>0.3529</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FFFFF"/>
                    </a:solidFill>
                  </a:tcPr>
                </a:tc>
                <a:tc>
                  <a:txBody>
                    <a:bodyPr/>
                    <a:lstStyle/>
                    <a:p>
                      <a:pPr algn="ctr">
                        <a:buNone/>
                      </a:pPr>
                      <a:r>
                        <a:rPr sz="1200" b="0">
                          <a:solidFill>
                            <a:srgbClr val="2C2927"/>
                          </a:solidFill>
                        </a:rPr>
                        <a:t>0.3549</a:t>
                      </a:r>
                      <a:endParaRPr sz="1200" b="0">
                        <a:solidFill>
                          <a:srgbClr val="2C2927"/>
                        </a:solidFill>
                      </a:endParaRPr>
                    </a:p>
                  </a:txBody>
                  <a:tcPr marL="95250" marR="95250" marT="38100" marB="38100" anchor="ctr">
                    <a:solidFill>
                      <a:srgbClr val="FFFFFF"/>
                    </a:solidFill>
                  </a:tcPr>
                </a:tc>
              </a:tr>
              <a:tr h="340043">
                <a:tc>
                  <a:txBody>
                    <a:bodyPr/>
                    <a:lstStyle/>
                    <a:p>
                      <a:pPr algn="l">
                        <a:buNone/>
                      </a:pPr>
                      <a:r>
                        <a:rPr sz="1200" b="0">
                          <a:solidFill>
                            <a:srgbClr val="2C2927"/>
                          </a:solidFill>
                          <a:latin typeface="Arial" panose="020B0604020202020204"/>
                          <a:ea typeface="Arial" panose="020B0604020202020204"/>
                          <a:cs typeface="Arial" panose="020B0604020202020204"/>
                        </a:rPr>
                        <a:t>MSGNet(AAAI2024)</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BF7F3"/>
                    </a:solidFill>
                  </a:tcPr>
                </a:tc>
                <a:tc>
                  <a:txBody>
                    <a:bodyPr/>
                    <a:lstStyle/>
                    <a:p>
                      <a:pPr algn="l">
                        <a:buNone/>
                      </a:pPr>
                      <a:r>
                        <a:rPr sz="1200" b="0">
                          <a:solidFill>
                            <a:srgbClr val="2C2927"/>
                          </a:solidFill>
                          <a:latin typeface="Arial" panose="020B0604020202020204"/>
                          <a:ea typeface="Arial" panose="020B0604020202020204"/>
                          <a:cs typeface="Arial" panose="020B0604020202020204"/>
                        </a:rPr>
                        <a:t>GNN</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BF7F3"/>
                    </a:solidFill>
                  </a:tcPr>
                </a:tc>
                <a:tc>
                  <a:txBody>
                    <a:bodyPr/>
                    <a:lstStyle/>
                    <a:p>
                      <a:pPr algn="ctr">
                        <a:buNone/>
                      </a:pPr>
                      <a:r>
                        <a:rPr sz="1200" b="0">
                          <a:solidFill>
                            <a:srgbClr val="2C2927"/>
                          </a:solidFill>
                          <a:latin typeface="Arial" panose="020B0604020202020204"/>
                          <a:ea typeface="Arial" panose="020B0604020202020204"/>
                          <a:cs typeface="Arial" panose="020B0604020202020204"/>
                        </a:rPr>
                        <a:t>0.3598</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BF7F3"/>
                    </a:solidFill>
                  </a:tcPr>
                </a:tc>
                <a:tc>
                  <a:txBody>
                    <a:bodyPr/>
                    <a:lstStyle/>
                    <a:p>
                      <a:pPr algn="ctr">
                        <a:buNone/>
                      </a:pPr>
                      <a:r>
                        <a:rPr sz="1200" b="0">
                          <a:solidFill>
                            <a:srgbClr val="2C2927"/>
                          </a:solidFill>
                        </a:rPr>
                        <a:t>0.3557</a:t>
                      </a:r>
                      <a:endParaRPr sz="1200" b="0">
                        <a:solidFill>
                          <a:srgbClr val="2C2927"/>
                        </a:solidFill>
                      </a:endParaRPr>
                    </a:p>
                  </a:txBody>
                  <a:tcPr marL="95250" marR="95250" marT="38100" marB="38100" anchor="ctr">
                    <a:solidFill>
                      <a:srgbClr val="FBF7F3"/>
                    </a:solidFill>
                  </a:tcPr>
                </a:tc>
              </a:tr>
              <a:tr h="340043">
                <a:tc>
                  <a:txBody>
                    <a:bodyPr/>
                    <a:lstStyle/>
                    <a:p>
                      <a:pPr algn="l">
                        <a:buNone/>
                      </a:pPr>
                      <a:r>
                        <a:rPr sz="1200" b="0">
                          <a:solidFill>
                            <a:srgbClr val="2C2927"/>
                          </a:solidFill>
                          <a:latin typeface="Arial" panose="020B0604020202020204"/>
                          <a:ea typeface="Arial" panose="020B0604020202020204"/>
                          <a:cs typeface="Arial" panose="020B0604020202020204"/>
                        </a:rPr>
                        <a:t>TimesNet(ICLR2023)</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FFFFF"/>
                    </a:solidFill>
                  </a:tcPr>
                </a:tc>
                <a:tc>
                  <a:txBody>
                    <a:bodyPr/>
                    <a:lstStyle/>
                    <a:p>
                      <a:pPr algn="l">
                        <a:buNone/>
                      </a:pPr>
                      <a:r>
                        <a:rPr sz="1200" b="0">
                          <a:solidFill>
                            <a:srgbClr val="2C2927"/>
                          </a:solidFill>
                          <a:latin typeface="Arial" panose="020B0604020202020204"/>
                          <a:ea typeface="Arial" panose="020B0604020202020204"/>
                          <a:cs typeface="Arial" panose="020B0604020202020204"/>
                        </a:rPr>
                        <a:t>CNN</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FFFFF"/>
                    </a:solidFill>
                  </a:tcPr>
                </a:tc>
                <a:tc>
                  <a:txBody>
                    <a:bodyPr/>
                    <a:lstStyle/>
                    <a:p>
                      <a:pPr algn="ctr">
                        <a:buNone/>
                      </a:pPr>
                      <a:r>
                        <a:rPr sz="1200" b="0">
                          <a:solidFill>
                            <a:srgbClr val="2C2927"/>
                          </a:solidFill>
                          <a:latin typeface="Arial" panose="020B0604020202020204"/>
                          <a:ea typeface="Arial" panose="020B0604020202020204"/>
                          <a:cs typeface="Arial" panose="020B0604020202020204"/>
                        </a:rPr>
                        <a:t>0.3669</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FFFFF"/>
                    </a:solidFill>
                  </a:tcPr>
                </a:tc>
                <a:tc>
                  <a:txBody>
                    <a:bodyPr/>
                    <a:lstStyle/>
                    <a:p>
                      <a:pPr algn="ctr">
                        <a:buNone/>
                      </a:pPr>
                      <a:r>
                        <a:rPr sz="1200" b="0">
                          <a:solidFill>
                            <a:srgbClr val="2C2927"/>
                          </a:solidFill>
                        </a:rPr>
                        <a:t>0.3565</a:t>
                      </a:r>
                      <a:endParaRPr sz="1200" b="0">
                        <a:solidFill>
                          <a:srgbClr val="2C2927"/>
                        </a:solidFill>
                      </a:endParaRPr>
                    </a:p>
                  </a:txBody>
                  <a:tcPr marL="95250" marR="95250" marT="38100" marB="38100" anchor="ctr">
                    <a:solidFill>
                      <a:srgbClr val="FFFFFF"/>
                    </a:solidFill>
                  </a:tcPr>
                </a:tc>
              </a:tr>
              <a:tr h="340043">
                <a:tc>
                  <a:txBody>
                    <a:bodyPr/>
                    <a:lstStyle/>
                    <a:p>
                      <a:pPr algn="l">
                        <a:buNone/>
                      </a:pPr>
                      <a:r>
                        <a:rPr sz="1200" b="0">
                          <a:solidFill>
                            <a:srgbClr val="2C2927"/>
                          </a:solidFill>
                          <a:latin typeface="Arial" panose="020B0604020202020204"/>
                          <a:ea typeface="Arial" panose="020B0604020202020204"/>
                          <a:cs typeface="Arial" panose="020B0604020202020204"/>
                        </a:rPr>
                        <a:t>DLinear(AAAI2023)</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BF7F3"/>
                    </a:solidFill>
                  </a:tcPr>
                </a:tc>
                <a:tc>
                  <a:txBody>
                    <a:bodyPr/>
                    <a:lstStyle/>
                    <a:p>
                      <a:pPr algn="l">
                        <a:buNone/>
                      </a:pPr>
                      <a:r>
                        <a:rPr sz="1200" b="0">
                          <a:solidFill>
                            <a:srgbClr val="2C2927"/>
                          </a:solidFill>
                          <a:latin typeface="Arial" panose="020B0604020202020204"/>
                          <a:ea typeface="Arial" panose="020B0604020202020204"/>
                          <a:cs typeface="Arial" panose="020B0604020202020204"/>
                        </a:rPr>
                        <a:t>Linear</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BF7F3"/>
                    </a:solidFill>
                  </a:tcPr>
                </a:tc>
                <a:tc>
                  <a:txBody>
                    <a:bodyPr/>
                    <a:lstStyle/>
                    <a:p>
                      <a:pPr algn="ctr">
                        <a:buNone/>
                      </a:pPr>
                      <a:r>
                        <a:rPr sz="1200" b="0">
                          <a:solidFill>
                            <a:srgbClr val="2C2927"/>
                          </a:solidFill>
                          <a:latin typeface="Arial" panose="020B0604020202020204"/>
                          <a:ea typeface="Arial" panose="020B0604020202020204"/>
                          <a:cs typeface="Arial" panose="020B0604020202020204"/>
                        </a:rPr>
                        <a:t>0.3998</a:t>
                      </a:r>
                      <a:endParaRPr sz="1200" b="0">
                        <a:solidFill>
                          <a:srgbClr val="2C2927"/>
                        </a:solidFill>
                        <a:latin typeface="Arial" panose="020B0604020202020204"/>
                        <a:ea typeface="Arial" panose="020B0604020202020204"/>
                        <a:cs typeface="Arial" panose="020B0604020202020204"/>
                      </a:endParaRPr>
                    </a:p>
                  </a:txBody>
                  <a:tcPr marL="95250" marR="95250" marT="38100" marB="38100" anchor="ctr">
                    <a:lnL w="9525">
                      <a:solidFill>
                        <a:schemeClr val="accent5"/>
                      </a:solidFill>
                      <a:prstDash val="solid"/>
                    </a:lnL>
                    <a:lnR w="9525">
                      <a:solidFill>
                        <a:schemeClr val="accent5"/>
                      </a:solidFill>
                      <a:prstDash val="solid"/>
                    </a:lnR>
                    <a:lnT w="9525">
                      <a:solidFill>
                        <a:schemeClr val="accent5"/>
                      </a:solidFill>
                      <a:prstDash val="solid"/>
                    </a:lnT>
                    <a:lnB w="9525">
                      <a:solidFill>
                        <a:schemeClr val="accent5"/>
                      </a:solidFill>
                      <a:prstDash val="solid"/>
                    </a:lnB>
                    <a:solidFill>
                      <a:srgbClr val="FBF7F3"/>
                    </a:solidFill>
                  </a:tcPr>
                </a:tc>
                <a:tc>
                  <a:txBody>
                    <a:bodyPr/>
                    <a:lstStyle/>
                    <a:p>
                      <a:pPr algn="ctr">
                        <a:buNone/>
                      </a:pPr>
                      <a:r>
                        <a:rPr sz="1200" b="0">
                          <a:solidFill>
                            <a:srgbClr val="2C2927"/>
                          </a:solidFill>
                        </a:rPr>
                        <a:t>0.3970</a:t>
                      </a:r>
                      <a:endParaRPr sz="1200" b="0">
                        <a:solidFill>
                          <a:srgbClr val="2C2927"/>
                        </a:solidFill>
                      </a:endParaRPr>
                    </a:p>
                  </a:txBody>
                  <a:tcPr marL="95250" marR="95250" marT="38100" marB="38100" anchor="ctr">
                    <a:solidFill>
                      <a:srgbClr val="FBF7F3"/>
                    </a:solidFill>
                  </a:tcPr>
                </a:tc>
              </a:tr>
            </a:tbl>
          </a:graphicData>
        </a:graphic>
      </p:graphicFrame>
      <p:sp>
        <p:nvSpPr>
          <p:cNvPr id="15" name="TextBox 15"/>
          <p:cNvSpPr>
            <a:spLocks noGrp="1"/>
          </p:cNvSpPr>
          <p:nvPr/>
        </p:nvSpPr>
        <p:spPr>
          <a:xfrm>
            <a:off x="666750" y="5562600"/>
            <a:ext cx="1640205" cy="215265"/>
          </a:xfrm>
          <a:prstGeom prst="rect">
            <a:avLst/>
          </a:prstGeom>
          <a:noFill/>
          <a:ln>
            <a:noFill/>
          </a:ln>
        </p:spPr>
        <p:txBody>
          <a:bodyPr wrap="none" lIns="0" tIns="0" rIns="0" bIns="0" anchor="t">
            <a:spAutoFit/>
          </a:bodyPr>
          <a:lstStyle/>
          <a:p>
            <a:pPr algn="l">
              <a:buNone/>
              <a:defRPr sz="975" b="1">
                <a:solidFill>
                  <a:srgbClr val="C43B00"/>
                </a:solidFill>
              </a:defRPr>
            </a:pPr>
            <a:r>
              <a:rPr sz="1400" b="1">
                <a:solidFill>
                  <a:srgbClr val="C43B00"/>
                </a:solidFill>
                <a:latin typeface="+mn-lt"/>
                <a:ea typeface="+mn-lt"/>
                <a:cs typeface="+mn-lt"/>
              </a:rPr>
              <a:t>LOWER IS BETTER</a:t>
            </a:r>
            <a:endParaRPr sz="1400" b="1">
              <a:solidFill>
                <a:srgbClr val="C43B00"/>
              </a:solidFill>
              <a:latin typeface="+mn-lt"/>
              <a:ea typeface="+mn-lt"/>
              <a:cs typeface="+mn-lt"/>
            </a:endParaRPr>
          </a:p>
        </p:txBody>
      </p:sp>
      <p:sp>
        <p:nvSpPr>
          <p:cNvPr id="16" name="TextBox 16"/>
          <p:cNvSpPr>
            <a:spLocks noGrp="1"/>
          </p:cNvSpPr>
          <p:nvPr/>
        </p:nvSpPr>
        <p:spPr>
          <a:xfrm>
            <a:off x="2409825" y="5562600"/>
            <a:ext cx="9486900" cy="266700"/>
          </a:xfrm>
          <a:prstGeom prst="rect">
            <a:avLst/>
          </a:prstGeom>
          <a:noFill/>
          <a:ln>
            <a:noFill/>
          </a:ln>
        </p:spPr>
        <p:txBody>
          <a:bodyPr wrap="none" lIns="0" tIns="0" rIns="0" bIns="0" anchor="t">
            <a:spAutoFit/>
          </a:bodyPr>
          <a:lstStyle/>
          <a:p>
            <a:pPr algn="l">
              <a:buNone/>
              <a:defRPr sz="1275" b="1">
                <a:solidFill>
                  <a:srgbClr val="2C2927"/>
                </a:solidFill>
              </a:defRPr>
            </a:pPr>
            <a:r>
              <a:rPr sz="1275" b="1">
                <a:solidFill>
                  <a:srgbClr val="2C2927"/>
                </a:solidFill>
                <a:latin typeface="+mn-lt"/>
                <a:ea typeface="+mn-lt"/>
                <a:cs typeface="+mn-lt"/>
              </a:rPr>
              <a:t>ConDyGNet ranks first even against baselines built from different modeling families.</a:t>
            </a:r>
            <a:endParaRPr sz="1275" b="1">
              <a:solidFill>
                <a:srgbClr val="2C2927"/>
              </a:solidFill>
              <a:latin typeface="+mn-lt"/>
              <a:ea typeface="+mn-lt"/>
              <a:cs typeface="+mn-lt"/>
            </a:endParaRPr>
          </a:p>
        </p:txBody>
      </p:sp>
      <p:sp>
        <p:nvSpPr>
          <p:cNvPr id="19" name="Line 19"/>
          <p:cNvSpPr>
            <a:spLocks noGrp="1"/>
          </p:cNvSpPr>
          <p:nvPr/>
        </p:nvSpPr>
        <p:spPr>
          <a:xfrm>
            <a:off x="495300" y="6362700"/>
            <a:ext cx="11201400" cy="9525"/>
          </a:xfrm>
          <a:custGeom>
            <a:avLst/>
            <a:gdLst/>
            <a:ahLst/>
            <a:cxnLst/>
            <a:rect l="l" t="t" r="r" b="b"/>
            <a:pathLst>
              <a:path w="11201400" h="9525">
                <a:moveTo>
                  <a:pt x="0" y="0"/>
                </a:moveTo>
                <a:lnTo>
                  <a:pt x="11201400" y="0"/>
                </a:lnTo>
              </a:path>
            </a:pathLst>
          </a:custGeom>
          <a:noFill/>
          <a:ln w="9525">
            <a:solidFill>
              <a:schemeClr val="accent5"/>
            </a:solidFill>
          </a:ln>
        </p:spPr>
      </p:sp>
      <p:sp>
        <p:nvSpPr>
          <p:cNvPr id="21" name="TextBox 21"/>
          <p:cNvSpPr>
            <a:spLocks noGrp="1"/>
          </p:cNvSpPr>
          <p:nvPr/>
        </p:nvSpPr>
        <p:spPr>
          <a:xfrm>
            <a:off x="11528106" y="6497002"/>
            <a:ext cx="173928" cy="205359"/>
          </a:xfrm>
          <a:prstGeom prst="rect">
            <a:avLst/>
          </a:prstGeom>
          <a:noFill/>
          <a:ln>
            <a:noFill/>
          </a:ln>
        </p:spPr>
        <p:txBody>
          <a:bodyPr wrap="none" lIns="0" tIns="0" rIns="0" bIns="0" anchor="t">
            <a:spAutoFit/>
          </a:bodyPr>
          <a:lstStyle/>
          <a:p>
            <a:pPr algn="r">
              <a:buNone/>
            </a:pPr>
            <a:r>
              <a:rPr sz="1050" b="1">
                <a:solidFill>
                  <a:schemeClr val="accent1"/>
                </a:solidFill>
                <a:latin typeface="+mn-lt"/>
                <a:ea typeface="+mn-lt"/>
                <a:cs typeface="+mn-lt"/>
              </a:rPr>
              <a:t>06</a:t>
            </a:r>
            <a:endParaRPr sz="1050" b="1">
              <a:solidFill>
                <a:schemeClr val="accent1"/>
              </a:solidFill>
              <a:latin typeface="+mn-lt"/>
              <a:ea typeface="+mn-lt"/>
              <a:cs typeface="+mn-lt"/>
            </a:endParaRPr>
          </a:p>
        </p:txBody>
      </p:sp>
      <p:sp>
        <p:nvSpPr>
          <p:cNvPr id="23" name="benchmark-table-right-edge"/>
          <p:cNvSpPr>
            <a:spLocks noGrp="1"/>
          </p:cNvSpPr>
          <p:nvPr/>
        </p:nvSpPr>
        <p:spPr>
          <a:xfrm>
            <a:off x="11525250" y="1581150"/>
            <a:ext cx="0" cy="3743325"/>
          </a:xfrm>
          <a:prstGeom prst="line">
            <a:avLst/>
          </a:prstGeom>
          <a:noFill/>
          <a:ln w="9525">
            <a:solidFill>
              <a:srgbClr val="D9CFC8"/>
            </a:solidFill>
            <a:prstDash val="solid"/>
          </a:ln>
        </p:spPr>
      </p:sp>
      <p:sp>
        <p:nvSpPr>
          <p:cNvPr id="24" name="benchmark-table-last-column-row-1"/>
          <p:cNvSpPr>
            <a:spLocks noGrp="1"/>
          </p:cNvSpPr>
          <p:nvPr/>
        </p:nvSpPr>
        <p:spPr>
          <a:xfrm>
            <a:off x="9096375" y="1924050"/>
            <a:ext cx="2428875" cy="0"/>
          </a:xfrm>
          <a:prstGeom prst="line">
            <a:avLst/>
          </a:prstGeom>
          <a:noFill/>
          <a:ln w="9525">
            <a:solidFill>
              <a:srgbClr val="D9CFC8"/>
            </a:solidFill>
            <a:prstDash val="solid"/>
          </a:ln>
        </p:spPr>
      </p:sp>
      <p:sp>
        <p:nvSpPr>
          <p:cNvPr id="25" name="benchmark-table-last-column-row-2"/>
          <p:cNvSpPr>
            <a:spLocks noGrp="1"/>
          </p:cNvSpPr>
          <p:nvPr/>
        </p:nvSpPr>
        <p:spPr>
          <a:xfrm>
            <a:off x="9096375" y="2264093"/>
            <a:ext cx="2428875" cy="0"/>
          </a:xfrm>
          <a:prstGeom prst="line">
            <a:avLst/>
          </a:prstGeom>
          <a:noFill/>
          <a:ln w="9525">
            <a:solidFill>
              <a:srgbClr val="D9CFC8"/>
            </a:solidFill>
            <a:prstDash val="solid"/>
          </a:ln>
        </p:spPr>
      </p:sp>
      <p:sp>
        <p:nvSpPr>
          <p:cNvPr id="26" name="benchmark-table-last-column-row-3"/>
          <p:cNvSpPr>
            <a:spLocks noGrp="1"/>
          </p:cNvSpPr>
          <p:nvPr/>
        </p:nvSpPr>
        <p:spPr>
          <a:xfrm>
            <a:off x="9096375" y="2604135"/>
            <a:ext cx="2428875" cy="0"/>
          </a:xfrm>
          <a:prstGeom prst="line">
            <a:avLst/>
          </a:prstGeom>
          <a:noFill/>
          <a:ln w="9525">
            <a:solidFill>
              <a:srgbClr val="D9CFC8"/>
            </a:solidFill>
            <a:prstDash val="solid"/>
          </a:ln>
        </p:spPr>
      </p:sp>
      <p:sp>
        <p:nvSpPr>
          <p:cNvPr id="27" name="benchmark-table-last-column-row-4"/>
          <p:cNvSpPr>
            <a:spLocks noGrp="1"/>
          </p:cNvSpPr>
          <p:nvPr/>
        </p:nvSpPr>
        <p:spPr>
          <a:xfrm>
            <a:off x="9096375" y="2944178"/>
            <a:ext cx="2428875" cy="0"/>
          </a:xfrm>
          <a:prstGeom prst="line">
            <a:avLst/>
          </a:prstGeom>
          <a:noFill/>
          <a:ln w="9525">
            <a:solidFill>
              <a:srgbClr val="D9CFC8"/>
            </a:solidFill>
            <a:prstDash val="solid"/>
          </a:ln>
        </p:spPr>
      </p:sp>
      <p:sp>
        <p:nvSpPr>
          <p:cNvPr id="28" name="benchmark-table-last-column-row-5"/>
          <p:cNvSpPr>
            <a:spLocks noGrp="1"/>
          </p:cNvSpPr>
          <p:nvPr/>
        </p:nvSpPr>
        <p:spPr>
          <a:xfrm>
            <a:off x="9096375" y="3284220"/>
            <a:ext cx="2428875" cy="0"/>
          </a:xfrm>
          <a:prstGeom prst="line">
            <a:avLst/>
          </a:prstGeom>
          <a:noFill/>
          <a:ln w="9525">
            <a:solidFill>
              <a:srgbClr val="D9CFC8"/>
            </a:solidFill>
            <a:prstDash val="solid"/>
          </a:ln>
        </p:spPr>
      </p:sp>
      <p:sp>
        <p:nvSpPr>
          <p:cNvPr id="29" name="benchmark-table-last-column-row-6"/>
          <p:cNvSpPr>
            <a:spLocks noGrp="1"/>
          </p:cNvSpPr>
          <p:nvPr/>
        </p:nvSpPr>
        <p:spPr>
          <a:xfrm>
            <a:off x="9096375" y="3624263"/>
            <a:ext cx="2428875" cy="0"/>
          </a:xfrm>
          <a:prstGeom prst="line">
            <a:avLst/>
          </a:prstGeom>
          <a:noFill/>
          <a:ln w="9525">
            <a:solidFill>
              <a:srgbClr val="D9CFC8"/>
            </a:solidFill>
            <a:prstDash val="solid"/>
          </a:ln>
        </p:spPr>
      </p:sp>
      <p:sp>
        <p:nvSpPr>
          <p:cNvPr id="30" name="benchmark-table-last-column-row-7"/>
          <p:cNvSpPr>
            <a:spLocks noGrp="1"/>
          </p:cNvSpPr>
          <p:nvPr/>
        </p:nvSpPr>
        <p:spPr>
          <a:xfrm>
            <a:off x="9096375" y="3964305"/>
            <a:ext cx="2428875" cy="0"/>
          </a:xfrm>
          <a:prstGeom prst="line">
            <a:avLst/>
          </a:prstGeom>
          <a:noFill/>
          <a:ln w="9525">
            <a:solidFill>
              <a:srgbClr val="D9CFC8"/>
            </a:solidFill>
            <a:prstDash val="solid"/>
          </a:ln>
        </p:spPr>
      </p:sp>
      <p:sp>
        <p:nvSpPr>
          <p:cNvPr id="31" name="benchmark-table-last-column-row-8"/>
          <p:cNvSpPr>
            <a:spLocks noGrp="1"/>
          </p:cNvSpPr>
          <p:nvPr/>
        </p:nvSpPr>
        <p:spPr>
          <a:xfrm>
            <a:off x="9096375" y="4304348"/>
            <a:ext cx="2428875" cy="0"/>
          </a:xfrm>
          <a:prstGeom prst="line">
            <a:avLst/>
          </a:prstGeom>
          <a:noFill/>
          <a:ln w="9525">
            <a:solidFill>
              <a:srgbClr val="D9CFC8"/>
            </a:solidFill>
            <a:prstDash val="solid"/>
          </a:ln>
        </p:spPr>
      </p:sp>
      <p:sp>
        <p:nvSpPr>
          <p:cNvPr id="32" name="benchmark-table-last-column-row-9"/>
          <p:cNvSpPr>
            <a:spLocks noGrp="1"/>
          </p:cNvSpPr>
          <p:nvPr/>
        </p:nvSpPr>
        <p:spPr>
          <a:xfrm>
            <a:off x="9096375" y="4644390"/>
            <a:ext cx="2428875" cy="0"/>
          </a:xfrm>
          <a:prstGeom prst="line">
            <a:avLst/>
          </a:prstGeom>
          <a:noFill/>
          <a:ln w="9525">
            <a:solidFill>
              <a:srgbClr val="D9CFC8"/>
            </a:solidFill>
            <a:prstDash val="solid"/>
          </a:ln>
        </p:spPr>
      </p:sp>
      <p:sp>
        <p:nvSpPr>
          <p:cNvPr id="33" name="benchmark-table-last-column-row-10"/>
          <p:cNvSpPr>
            <a:spLocks noGrp="1"/>
          </p:cNvSpPr>
          <p:nvPr/>
        </p:nvSpPr>
        <p:spPr>
          <a:xfrm>
            <a:off x="9096375" y="4984433"/>
            <a:ext cx="2428875" cy="0"/>
          </a:xfrm>
          <a:prstGeom prst="line">
            <a:avLst/>
          </a:prstGeom>
          <a:noFill/>
          <a:ln w="9525">
            <a:solidFill>
              <a:srgbClr val="D9CFC8"/>
            </a:solidFill>
            <a:prstDash val="solid"/>
          </a:ln>
        </p:spPr>
      </p:sp>
      <p:sp>
        <p:nvSpPr>
          <p:cNvPr id="34" name="benchmark-table-last-column-row-11"/>
          <p:cNvSpPr>
            <a:spLocks noGrp="1"/>
          </p:cNvSpPr>
          <p:nvPr/>
        </p:nvSpPr>
        <p:spPr>
          <a:xfrm>
            <a:off x="9096375" y="5324475"/>
            <a:ext cx="2428875" cy="0"/>
          </a:xfrm>
          <a:prstGeom prst="line">
            <a:avLst/>
          </a:prstGeom>
          <a:noFill/>
          <a:ln w="9525">
            <a:solidFill>
              <a:srgbClr val="D9CFC8"/>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2" name="TextBox 2"/>
          <p:cNvSpPr>
            <a:spLocks noGrp="1"/>
          </p:cNvSpPr>
          <p:nvPr/>
        </p:nvSpPr>
        <p:spPr>
          <a:xfrm>
            <a:off x="481584" y="318135"/>
            <a:ext cx="9503694" cy="528066"/>
          </a:xfrm>
          <a:prstGeom prst="rect">
            <a:avLst/>
          </a:prstGeom>
          <a:noFill/>
          <a:ln>
            <a:noFill/>
          </a:ln>
        </p:spPr>
        <p:txBody>
          <a:bodyPr wrap="none" lIns="0" tIns="0" rIns="0" bIns="0" anchor="t">
            <a:spAutoFit/>
          </a:bodyPr>
          <a:lstStyle/>
          <a:p>
            <a:pPr algn="l">
              <a:buNone/>
            </a:pPr>
            <a:r>
              <a:rPr sz="2700" b="1">
                <a:solidFill>
                  <a:schemeClr val="dk1"/>
                </a:solidFill>
                <a:latin typeface="+mn-lt"/>
                <a:ea typeface="+mn-lt"/>
                <a:cs typeface="+mn-lt"/>
              </a:rPr>
              <a:t>Three experiments support constrained, selective adaptation</a:t>
            </a:r>
            <a:endParaRPr sz="2700" b="1">
              <a:solidFill>
                <a:schemeClr val="dk1"/>
              </a:solidFill>
              <a:latin typeface="+mn-lt"/>
              <a:ea typeface="+mn-lt"/>
              <a:cs typeface="+mn-lt"/>
            </a:endParaRPr>
          </a:p>
        </p:txBody>
      </p:sp>
      <p:sp>
        <p:nvSpPr>
          <p:cNvPr id="3" name="Line 3"/>
          <p:cNvSpPr>
            <a:spLocks noGrp="1"/>
          </p:cNvSpPr>
          <p:nvPr/>
        </p:nvSpPr>
        <p:spPr>
          <a:xfrm>
            <a:off x="495300" y="914400"/>
            <a:ext cx="11201400" cy="9525"/>
          </a:xfrm>
          <a:custGeom>
            <a:avLst/>
            <a:gdLst/>
            <a:ahLst/>
            <a:cxnLst/>
            <a:rect l="l" t="t" r="r" b="b"/>
            <a:pathLst>
              <a:path w="11201400" h="9525">
                <a:moveTo>
                  <a:pt x="0" y="0"/>
                </a:moveTo>
                <a:lnTo>
                  <a:pt x="11201400" y="0"/>
                </a:lnTo>
              </a:path>
            </a:pathLst>
          </a:custGeom>
          <a:noFill/>
          <a:ln w="28575">
            <a:solidFill>
              <a:schemeClr val="accent1"/>
            </a:solidFill>
          </a:ln>
        </p:spPr>
      </p:sp>
      <p:sp>
        <p:nvSpPr>
          <p:cNvPr id="5" name="TextBox 5"/>
          <p:cNvSpPr>
            <a:spLocks noGrp="1"/>
          </p:cNvSpPr>
          <p:nvPr/>
        </p:nvSpPr>
        <p:spPr>
          <a:xfrm>
            <a:off x="488442" y="1168718"/>
            <a:ext cx="4764346" cy="264033"/>
          </a:xfrm>
          <a:prstGeom prst="rect">
            <a:avLst/>
          </a:prstGeom>
          <a:noFill/>
          <a:ln>
            <a:noFill/>
          </a:ln>
        </p:spPr>
        <p:txBody>
          <a:bodyPr wrap="none" lIns="0" tIns="0" rIns="0" bIns="0" anchor="t">
            <a:spAutoFit/>
          </a:bodyPr>
          <a:lstStyle/>
          <a:p>
            <a:pPr algn="l">
              <a:buNone/>
              <a:defRPr sz="1050" b="1">
                <a:solidFill>
                  <a:srgbClr val="C43B00"/>
                </a:solidFill>
              </a:defRPr>
            </a:pPr>
            <a:r>
              <a:rPr sz="1050" b="1">
                <a:solidFill>
                  <a:srgbClr val="C43B00"/>
                </a:solidFill>
                <a:latin typeface="+mn-lt"/>
                <a:ea typeface="+mn-lt"/>
                <a:cs typeface="+mn-lt"/>
              </a:rPr>
              <a:t>01 · MISSING-BLOCK ROBUSTNESS</a:t>
            </a:r>
            <a:endParaRPr sz="1050" b="1">
              <a:solidFill>
                <a:srgbClr val="C43B00"/>
              </a:solidFill>
              <a:latin typeface="+mn-lt"/>
              <a:ea typeface="+mn-lt"/>
              <a:cs typeface="+mn-lt"/>
            </a:endParaRPr>
          </a:p>
        </p:txBody>
      </p:sp>
      <p:sp>
        <p:nvSpPr>
          <p:cNvPr id="8" name="Rectangle 8"/>
          <p:cNvSpPr>
            <a:spLocks noGrp="1"/>
          </p:cNvSpPr>
          <p:nvPr/>
        </p:nvSpPr>
        <p:spPr>
          <a:xfrm>
            <a:off x="495300" y="4533900"/>
            <a:ext cx="6572250" cy="1562100"/>
          </a:xfrm>
          <a:prstGeom prst="rect">
            <a:avLst/>
          </a:prstGeom>
          <a:solidFill>
            <a:srgbClr val="F4D7C8"/>
          </a:solidFill>
          <a:ln w="9525">
            <a:solidFill>
              <a:srgbClr val="E7C4B2"/>
            </a:solidFill>
            <a:prstDash val="solid"/>
          </a:ln>
        </p:spPr>
      </p:sp>
      <p:sp>
        <p:nvSpPr>
          <p:cNvPr id="9" name="Rectangle 9"/>
          <p:cNvSpPr>
            <a:spLocks noGrp="1"/>
          </p:cNvSpPr>
          <p:nvPr/>
        </p:nvSpPr>
        <p:spPr>
          <a:xfrm>
            <a:off x="495300" y="4533900"/>
            <a:ext cx="76200" cy="1562100"/>
          </a:xfrm>
          <a:prstGeom prst="rect">
            <a:avLst/>
          </a:prstGeom>
          <a:solidFill>
            <a:srgbClr val="C43B00"/>
          </a:solidFill>
          <a:ln w="0">
            <a:solidFill>
              <a:srgbClr val="C43B00"/>
            </a:solidFill>
            <a:prstDash val="solid"/>
          </a:ln>
        </p:spPr>
      </p:sp>
      <p:sp>
        <p:nvSpPr>
          <p:cNvPr id="10" name="TextBox 10"/>
          <p:cNvSpPr>
            <a:spLocks noGrp="1"/>
          </p:cNvSpPr>
          <p:nvPr/>
        </p:nvSpPr>
        <p:spPr>
          <a:xfrm>
            <a:off x="736092" y="4731068"/>
            <a:ext cx="3007850" cy="264033"/>
          </a:xfrm>
          <a:prstGeom prst="rect">
            <a:avLst/>
          </a:prstGeom>
          <a:noFill/>
          <a:ln>
            <a:noFill/>
          </a:ln>
        </p:spPr>
        <p:txBody>
          <a:bodyPr wrap="none" lIns="0" tIns="0" rIns="0" bIns="0" anchor="t">
            <a:spAutoFit/>
          </a:bodyPr>
          <a:lstStyle/>
          <a:p>
            <a:pPr algn="l">
              <a:buNone/>
              <a:defRPr sz="1050" b="1">
                <a:solidFill>
                  <a:srgbClr val="C43B00"/>
                </a:solidFill>
              </a:defRPr>
            </a:pPr>
            <a:r>
              <a:rPr sz="1050" b="1">
                <a:solidFill>
                  <a:srgbClr val="C43B00"/>
                </a:solidFill>
                <a:latin typeface="+mn-lt"/>
                <a:ea typeface="+mn-lt"/>
                <a:cs typeface="+mn-lt"/>
              </a:rPr>
              <a:t>ROBUST UNDER CORRUPTION</a:t>
            </a:r>
            <a:endParaRPr sz="1050" b="1">
              <a:solidFill>
                <a:srgbClr val="C43B00"/>
              </a:solidFill>
              <a:latin typeface="+mn-lt"/>
              <a:ea typeface="+mn-lt"/>
              <a:cs typeface="+mn-lt"/>
            </a:endParaRPr>
          </a:p>
        </p:txBody>
      </p:sp>
      <p:sp>
        <p:nvSpPr>
          <p:cNvPr id="11" name="TextBox 11"/>
          <p:cNvSpPr>
            <a:spLocks noGrp="1"/>
          </p:cNvSpPr>
          <p:nvPr/>
        </p:nvSpPr>
        <p:spPr>
          <a:xfrm>
            <a:off x="734568" y="5060632"/>
            <a:ext cx="5747956" cy="932307"/>
          </a:xfrm>
          <a:prstGeom prst="rect">
            <a:avLst/>
          </a:prstGeom>
          <a:noFill/>
          <a:ln>
            <a:noFill/>
          </a:ln>
        </p:spPr>
        <p:txBody>
          <a:bodyPr wrap="none" lIns="0" tIns="0" rIns="0" bIns="0" anchor="t">
            <a:spAutoFit/>
          </a:bodyPr>
          <a:lstStyle/>
          <a:p>
            <a:pPr algn="l">
              <a:lnSpc>
                <a:spcPts val="2400"/>
              </a:lnSpc>
              <a:buNone/>
              <a:defRPr sz="1350" b="1">
                <a:solidFill>
                  <a:srgbClr val="2C2927"/>
                </a:solidFill>
              </a:defRPr>
            </a:pPr>
            <a:r>
              <a:rPr sz="1350" b="1">
                <a:solidFill>
                  <a:srgbClr val="2C2927"/>
                </a:solidFill>
                <a:latin typeface="+mn-lt"/>
                <a:ea typeface="+mn-lt"/>
                <a:cs typeface="+mn-lt"/>
              </a:rPr>
              <a:t>ConDyGNet degrades more slowly than TimeFilter and MSGNet.</a:t>
            </a:r>
            <a:endParaRPr sz="1350" b="1">
              <a:solidFill>
                <a:srgbClr val="2C2927"/>
              </a:solidFill>
              <a:latin typeface="+mn-lt"/>
              <a:ea typeface="+mn-lt"/>
              <a:cs typeface="+mn-lt"/>
            </a:endParaRPr>
          </a:p>
          <a:p>
            <a:pPr algn="l">
              <a:lnSpc>
                <a:spcPts val="2400"/>
              </a:lnSpc>
              <a:buNone/>
              <a:defRPr sz="1350" b="1">
                <a:solidFill>
                  <a:srgbClr val="2C2927"/>
                </a:solidFill>
              </a:defRPr>
            </a:pPr>
            <a:r>
              <a:rPr sz="1350" b="1">
                <a:solidFill>
                  <a:srgbClr val="2C2927"/>
                </a:solidFill>
                <a:latin typeface="+mn-lt"/>
                <a:ea typeface="+mn-lt"/>
                <a:cs typeface="+mn-lt"/>
              </a:rPr>
              <a:t>Together, the three studies support adaptation inside</a:t>
            </a:r>
            <a:endParaRPr sz="1350" b="1">
              <a:solidFill>
                <a:srgbClr val="2C2927"/>
              </a:solidFill>
              <a:latin typeface="+mn-lt"/>
              <a:ea typeface="+mn-lt"/>
              <a:cs typeface="+mn-lt"/>
            </a:endParaRPr>
          </a:p>
          <a:p>
            <a:pPr algn="l">
              <a:lnSpc>
                <a:spcPts val="2400"/>
              </a:lnSpc>
              <a:buNone/>
              <a:defRPr sz="1350" b="1">
                <a:solidFill>
                  <a:srgbClr val="2C2927"/>
                </a:solidFill>
              </a:defRPr>
            </a:pPr>
            <a:r>
              <a:rPr sz="1350" b="1">
                <a:solidFill>
                  <a:srgbClr val="2C2927"/>
                </a:solidFill>
                <a:latin typeface="+mn-lt"/>
                <a:ea typeface="+mn-lt"/>
                <a:cs typeface="+mn-lt"/>
              </a:rPr>
              <a:t>a compact structural subspace.</a:t>
            </a:r>
            <a:endParaRPr sz="1350" b="1">
              <a:solidFill>
                <a:srgbClr val="2C2927"/>
              </a:solidFill>
              <a:latin typeface="+mn-lt"/>
              <a:ea typeface="+mn-lt"/>
              <a:cs typeface="+mn-lt"/>
            </a:endParaRPr>
          </a:p>
        </p:txBody>
      </p:sp>
      <p:sp>
        <p:nvSpPr>
          <p:cNvPr id="13" name="TextBox 13"/>
          <p:cNvSpPr>
            <a:spLocks noGrp="1"/>
          </p:cNvSpPr>
          <p:nvPr/>
        </p:nvSpPr>
        <p:spPr>
          <a:xfrm>
            <a:off x="7328154" y="1184910"/>
            <a:ext cx="2270394" cy="234696"/>
          </a:xfrm>
          <a:prstGeom prst="rect">
            <a:avLst/>
          </a:prstGeom>
          <a:noFill/>
          <a:ln>
            <a:noFill/>
          </a:ln>
        </p:spPr>
        <p:txBody>
          <a:bodyPr wrap="none" lIns="0" tIns="0" rIns="0" bIns="0" anchor="t">
            <a:spAutoFit/>
          </a:bodyPr>
          <a:lstStyle/>
          <a:p>
            <a:pPr algn="l">
              <a:buNone/>
              <a:defRPr sz="1050" b="1">
                <a:solidFill>
                  <a:srgbClr val="C43B00"/>
                </a:solidFill>
              </a:defRPr>
            </a:pPr>
            <a:r>
              <a:rPr sz="1050" b="1">
                <a:solidFill>
                  <a:srgbClr val="C43B00"/>
                </a:solidFill>
                <a:latin typeface="+mn-lt"/>
                <a:ea typeface="+mn-lt"/>
                <a:cs typeface="+mn-lt"/>
              </a:rPr>
              <a:t>02 · RANK CONTROLS CAPACITY</a:t>
            </a:r>
            <a:endParaRPr sz="1050" b="1">
              <a:solidFill>
                <a:srgbClr val="C43B00"/>
              </a:solidFill>
              <a:latin typeface="+mn-lt"/>
              <a:ea typeface="+mn-lt"/>
              <a:cs typeface="+mn-lt"/>
            </a:endParaRPr>
          </a:p>
        </p:txBody>
      </p:sp>
      <p:sp>
        <p:nvSpPr>
          <p:cNvPr id="14" name="Rectangle 14"/>
          <p:cNvSpPr>
            <a:spLocks noGrp="1"/>
          </p:cNvSpPr>
          <p:nvPr/>
        </p:nvSpPr>
        <p:spPr>
          <a:xfrm>
            <a:off x="7334250" y="1428750"/>
            <a:ext cx="4362450" cy="1752600"/>
          </a:xfrm>
          <a:prstGeom prst="rect">
            <a:avLst/>
          </a:prstGeom>
          <a:solidFill>
            <a:srgbClr val="FFFFFF"/>
          </a:solidFill>
          <a:ln w="9525">
            <a:solidFill>
              <a:schemeClr val="accent5"/>
            </a:solidFill>
          </a:ln>
        </p:spPr>
      </p:sp>
      <p:pic>
        <p:nvPicPr>
          <p:cNvPr id="37" name="Image 15"/>
          <p:cNvPicPr>
            <a:picLocks noChangeAspect="1"/>
          </p:cNvPicPr>
          <p:nvPr/>
        </p:nvPicPr>
        <p:blipFill>
          <a:blip r:embed="rId1"/>
          <a:stretch>
            <a:fillRect/>
          </a:stretch>
        </p:blipFill>
        <p:spPr>
          <a:xfrm>
            <a:off x="7583225" y="1524000"/>
            <a:ext cx="3864500" cy="1562100"/>
          </a:xfrm>
          <a:prstGeom prst="rect">
            <a:avLst/>
          </a:prstGeom>
        </p:spPr>
      </p:pic>
      <p:sp>
        <p:nvSpPr>
          <p:cNvPr id="16" name="TextBox 16"/>
          <p:cNvSpPr>
            <a:spLocks noGrp="1"/>
          </p:cNvSpPr>
          <p:nvPr/>
        </p:nvSpPr>
        <p:spPr>
          <a:xfrm>
            <a:off x="7328154" y="3280410"/>
            <a:ext cx="3919614" cy="234696"/>
          </a:xfrm>
          <a:prstGeom prst="rect">
            <a:avLst/>
          </a:prstGeom>
          <a:noFill/>
          <a:ln>
            <a:noFill/>
          </a:ln>
        </p:spPr>
        <p:txBody>
          <a:bodyPr wrap="none" lIns="0" tIns="0" rIns="0" bIns="0" anchor="t">
            <a:spAutoFit/>
          </a:bodyPr>
          <a:lstStyle/>
          <a:p>
            <a:pPr algn="l">
              <a:buNone/>
              <a:defRPr sz="1200" b="0">
                <a:solidFill>
                  <a:srgbClr val="37322F"/>
                </a:solidFill>
              </a:defRPr>
            </a:pPr>
            <a:r>
              <a:rPr sz="1200" b="0">
                <a:solidFill>
                  <a:srgbClr val="37322F"/>
                </a:solidFill>
                <a:latin typeface="+mn-lt"/>
                <a:ea typeface="+mn-lt"/>
                <a:cs typeface="+mn-lt"/>
              </a:rPr>
              <a:t>R ≈ 16 balances fit and noisy degrees of freedom.</a:t>
            </a:r>
            <a:endParaRPr sz="1200" b="0">
              <a:solidFill>
                <a:srgbClr val="37322F"/>
              </a:solidFill>
              <a:latin typeface="+mn-lt"/>
              <a:ea typeface="+mn-lt"/>
              <a:cs typeface="+mn-lt"/>
            </a:endParaRPr>
          </a:p>
        </p:txBody>
      </p:sp>
      <p:sp>
        <p:nvSpPr>
          <p:cNvPr id="18" name="TextBox 18"/>
          <p:cNvSpPr>
            <a:spLocks noGrp="1"/>
          </p:cNvSpPr>
          <p:nvPr/>
        </p:nvSpPr>
        <p:spPr>
          <a:xfrm>
            <a:off x="7328154" y="3699510"/>
            <a:ext cx="2324161" cy="234696"/>
          </a:xfrm>
          <a:prstGeom prst="rect">
            <a:avLst/>
          </a:prstGeom>
          <a:noFill/>
          <a:ln>
            <a:noFill/>
          </a:ln>
        </p:spPr>
        <p:txBody>
          <a:bodyPr wrap="none" lIns="0" tIns="0" rIns="0" bIns="0" anchor="t">
            <a:spAutoFit/>
          </a:bodyPr>
          <a:lstStyle/>
          <a:p>
            <a:pPr algn="l">
              <a:buNone/>
              <a:defRPr sz="1050" b="1">
                <a:solidFill>
                  <a:srgbClr val="C43B00"/>
                </a:solidFill>
              </a:defRPr>
            </a:pPr>
            <a:r>
              <a:rPr sz="1050" b="1">
                <a:solidFill>
                  <a:srgbClr val="C43B00"/>
                </a:solidFill>
                <a:latin typeface="+mn-lt"/>
                <a:ea typeface="+mn-lt"/>
                <a:cs typeface="+mn-lt"/>
              </a:rPr>
              <a:t>03 · ROUTING REMAINS SELECTIVE</a:t>
            </a:r>
            <a:endParaRPr sz="1050" b="1">
              <a:solidFill>
                <a:srgbClr val="C43B00"/>
              </a:solidFill>
              <a:latin typeface="+mn-lt"/>
              <a:ea typeface="+mn-lt"/>
              <a:cs typeface="+mn-lt"/>
            </a:endParaRPr>
          </a:p>
        </p:txBody>
      </p:sp>
      <p:sp>
        <p:nvSpPr>
          <p:cNvPr id="19" name="Rectangle 19"/>
          <p:cNvSpPr>
            <a:spLocks noGrp="1"/>
          </p:cNvSpPr>
          <p:nvPr/>
        </p:nvSpPr>
        <p:spPr>
          <a:xfrm>
            <a:off x="7334250" y="3943350"/>
            <a:ext cx="4362450" cy="2190750"/>
          </a:xfrm>
          <a:prstGeom prst="rect">
            <a:avLst/>
          </a:prstGeom>
          <a:solidFill>
            <a:srgbClr val="FFFFFF"/>
          </a:solidFill>
          <a:ln w="9525">
            <a:solidFill>
              <a:schemeClr val="accent5"/>
            </a:solidFill>
          </a:ln>
        </p:spPr>
      </p:sp>
      <p:pic>
        <p:nvPicPr>
          <p:cNvPr id="41" name="Image 20"/>
          <p:cNvPicPr>
            <a:picLocks noChangeAspect="1"/>
          </p:cNvPicPr>
          <p:nvPr/>
        </p:nvPicPr>
        <p:blipFill>
          <a:blip r:embed="rId2"/>
          <a:stretch>
            <a:fillRect/>
          </a:stretch>
        </p:blipFill>
        <p:spPr>
          <a:xfrm>
            <a:off x="7686795" y="4038600"/>
            <a:ext cx="3657361" cy="2000250"/>
          </a:xfrm>
          <a:prstGeom prst="rect">
            <a:avLst/>
          </a:prstGeom>
        </p:spPr>
      </p:pic>
      <p:sp>
        <p:nvSpPr>
          <p:cNvPr id="22" name="Line 22"/>
          <p:cNvSpPr>
            <a:spLocks noGrp="1"/>
          </p:cNvSpPr>
          <p:nvPr/>
        </p:nvSpPr>
        <p:spPr>
          <a:xfrm>
            <a:off x="495300" y="6362700"/>
            <a:ext cx="11201400" cy="9525"/>
          </a:xfrm>
          <a:custGeom>
            <a:avLst/>
            <a:gdLst/>
            <a:ahLst/>
            <a:cxnLst/>
            <a:rect l="l" t="t" r="r" b="b"/>
            <a:pathLst>
              <a:path w="11201400" h="9525">
                <a:moveTo>
                  <a:pt x="0" y="0"/>
                </a:moveTo>
                <a:lnTo>
                  <a:pt x="11201400" y="0"/>
                </a:lnTo>
              </a:path>
            </a:pathLst>
          </a:custGeom>
          <a:noFill/>
          <a:ln w="9525">
            <a:solidFill>
              <a:schemeClr val="accent5"/>
            </a:solidFill>
          </a:ln>
        </p:spPr>
      </p:sp>
      <p:sp>
        <p:nvSpPr>
          <p:cNvPr id="24" name="TextBox 24"/>
          <p:cNvSpPr>
            <a:spLocks noGrp="1"/>
          </p:cNvSpPr>
          <p:nvPr/>
        </p:nvSpPr>
        <p:spPr>
          <a:xfrm>
            <a:off x="11528106" y="6497002"/>
            <a:ext cx="173928" cy="205359"/>
          </a:xfrm>
          <a:prstGeom prst="rect">
            <a:avLst/>
          </a:prstGeom>
          <a:noFill/>
          <a:ln>
            <a:noFill/>
          </a:ln>
        </p:spPr>
        <p:txBody>
          <a:bodyPr wrap="none" lIns="0" tIns="0" rIns="0" bIns="0" anchor="t">
            <a:spAutoFit/>
          </a:bodyPr>
          <a:lstStyle/>
          <a:p>
            <a:pPr algn="r">
              <a:buNone/>
            </a:pPr>
            <a:r>
              <a:rPr sz="1050" b="1">
                <a:solidFill>
                  <a:schemeClr val="accent1"/>
                </a:solidFill>
                <a:latin typeface="+mn-lt"/>
                <a:ea typeface="+mn-lt"/>
                <a:cs typeface="+mn-lt"/>
              </a:rPr>
              <a:t>07</a:t>
            </a:r>
            <a:endParaRPr sz="1050" b="1">
              <a:solidFill>
                <a:schemeClr val="accent1"/>
              </a:solidFill>
              <a:latin typeface="+mn-lt"/>
              <a:ea typeface="+mn-lt"/>
              <a:cs typeface="+mn-lt"/>
            </a:endParaRPr>
          </a:p>
        </p:txBody>
      </p:sp>
      <p:pic>
        <p:nvPicPr>
          <p:cNvPr id="44" name="图片 44"/>
          <p:cNvPicPr>
            <a:picLocks noChangeAspect="1"/>
          </p:cNvPicPr>
          <p:nvPr/>
        </p:nvPicPr>
        <p:blipFill>
          <a:blip r:embed="rId3"/>
          <a:stretch>
            <a:fillRect/>
          </a:stretch>
        </p:blipFill>
        <p:spPr>
          <a:xfrm>
            <a:off x="1775809" y="1466850"/>
            <a:ext cx="4011232" cy="2857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p:sp>
        <p:nvSpPr>
          <p:cNvPr id="2" name="Rectangle 2"/>
          <p:cNvSpPr>
            <a:spLocks noGrp="1"/>
          </p:cNvSpPr>
          <p:nvPr/>
        </p:nvSpPr>
        <p:spPr>
          <a:xfrm>
            <a:off x="0" y="0"/>
            <a:ext cx="171450" cy="6858000"/>
          </a:xfrm>
          <a:prstGeom prst="rect">
            <a:avLst/>
          </a:prstGeom>
          <a:solidFill>
            <a:schemeClr val="accent1"/>
          </a:solidFill>
          <a:ln>
            <a:noFill/>
          </a:ln>
        </p:spPr>
      </p:sp>
      <p:sp>
        <p:nvSpPr>
          <p:cNvPr id="3" name="TextBox 3"/>
          <p:cNvSpPr>
            <a:spLocks noGrp="1"/>
          </p:cNvSpPr>
          <p:nvPr/>
        </p:nvSpPr>
        <p:spPr>
          <a:xfrm>
            <a:off x="716280" y="561975"/>
            <a:ext cx="3194050" cy="230505"/>
          </a:xfrm>
          <a:prstGeom prst="rect">
            <a:avLst/>
          </a:prstGeom>
          <a:noFill/>
          <a:ln>
            <a:noFill/>
          </a:ln>
        </p:spPr>
        <p:txBody>
          <a:bodyPr wrap="none" lIns="0" tIns="0" rIns="0" bIns="0" anchor="t">
            <a:spAutoFit/>
          </a:bodyPr>
          <a:lstStyle/>
          <a:p>
            <a:pPr algn="l">
              <a:buNone/>
              <a:defRPr sz="1200" b="1">
                <a:solidFill>
                  <a:srgbClr val="C43B00"/>
                </a:solidFill>
              </a:defRPr>
            </a:pPr>
            <a:r>
              <a:rPr sz="1200" b="1">
                <a:solidFill>
                  <a:srgbClr val="C43B00"/>
                </a:solidFill>
                <a:latin typeface="+mn-lt"/>
                <a:ea typeface="+mn-lt"/>
                <a:cs typeface="+mn-lt"/>
              </a:rPr>
              <a:t>IJCAI–ECAI 2026 · ORAL PRESENTATION</a:t>
            </a:r>
            <a:endParaRPr sz="1500" b="1">
              <a:solidFill>
                <a:schemeClr val="accent1"/>
              </a:solidFill>
              <a:latin typeface="+mn-lt"/>
              <a:ea typeface="+mn-lt"/>
              <a:cs typeface="+mn-lt"/>
            </a:endParaRPr>
          </a:p>
        </p:txBody>
      </p:sp>
      <p:pic>
        <p:nvPicPr>
          <p:cNvPr id="18" name="Image 5"/>
          <p:cNvPicPr>
            <a:picLocks noChangeAspect="1"/>
          </p:cNvPicPr>
          <p:nvPr/>
        </p:nvPicPr>
        <p:blipFill>
          <a:blip r:embed="rId1"/>
          <a:stretch>
            <a:fillRect/>
          </a:stretch>
        </p:blipFill>
        <p:spPr>
          <a:xfrm>
            <a:off x="9525000" y="250845"/>
            <a:ext cx="2076450" cy="793711"/>
          </a:xfrm>
          <a:prstGeom prst="rect">
            <a:avLst/>
          </a:prstGeom>
        </p:spPr>
      </p:pic>
      <p:sp>
        <p:nvSpPr>
          <p:cNvPr id="6" name="TextBox 6"/>
          <p:cNvSpPr>
            <a:spLocks noGrp="1"/>
          </p:cNvSpPr>
          <p:nvPr/>
        </p:nvSpPr>
        <p:spPr>
          <a:xfrm>
            <a:off x="704850" y="1600200"/>
            <a:ext cx="10001250" cy="1047750"/>
          </a:xfrm>
          <a:prstGeom prst="rect">
            <a:avLst/>
          </a:prstGeom>
          <a:noFill/>
          <a:ln>
            <a:noFill/>
          </a:ln>
        </p:spPr>
        <p:txBody>
          <a:bodyPr wrap="none" lIns="0" tIns="0" rIns="0" bIns="0" anchor="ctr">
            <a:spAutoFit/>
          </a:bodyPr>
          <a:lstStyle/>
          <a:p>
            <a:pPr algn="l">
              <a:lnSpc>
                <a:spcPts val="4200"/>
              </a:lnSpc>
              <a:buNone/>
              <a:defRPr sz="5400" b="1">
                <a:solidFill>
                  <a:srgbClr val="2C2927"/>
                </a:solidFill>
              </a:defRPr>
            </a:pPr>
            <a:r>
              <a:rPr sz="5400" b="1">
                <a:solidFill>
                  <a:srgbClr val="2C2927"/>
                </a:solidFill>
                <a:latin typeface="+mn-lt"/>
                <a:ea typeface="+mn-lt"/>
                <a:cs typeface="+mn-lt"/>
              </a:rPr>
              <a:t>Thank you</a:t>
            </a:r>
            <a:endParaRPr sz="4200" b="1">
              <a:solidFill>
                <a:schemeClr val="dk1"/>
              </a:solidFill>
              <a:latin typeface="+mn-lt"/>
              <a:ea typeface="+mn-lt"/>
              <a:cs typeface="+mn-lt"/>
            </a:endParaRPr>
          </a:p>
        </p:txBody>
      </p:sp>
      <p:sp>
        <p:nvSpPr>
          <p:cNvPr id="7" name="Line 7"/>
          <p:cNvSpPr>
            <a:spLocks noGrp="1"/>
          </p:cNvSpPr>
          <p:nvPr/>
        </p:nvSpPr>
        <p:spPr>
          <a:xfrm>
            <a:off x="723900" y="3181350"/>
            <a:ext cx="10001250" cy="9525"/>
          </a:xfrm>
          <a:custGeom>
            <a:avLst/>
            <a:gdLst/>
            <a:ahLst/>
            <a:cxnLst/>
            <a:rect l="l" t="t" r="r" b="b"/>
            <a:pathLst>
              <a:path w="10001250" h="9525">
                <a:moveTo>
                  <a:pt x="0" y="0"/>
                </a:moveTo>
                <a:lnTo>
                  <a:pt x="10001250" y="0"/>
                </a:lnTo>
              </a:path>
            </a:pathLst>
          </a:custGeom>
          <a:noFill/>
          <a:ln w="38100">
            <a:solidFill>
              <a:schemeClr val="accent1"/>
            </a:solidFill>
          </a:ln>
        </p:spPr>
      </p:sp>
      <p:sp>
        <p:nvSpPr>
          <p:cNvPr id="9" name="TextBox 9"/>
          <p:cNvSpPr>
            <a:spLocks noGrp="1"/>
          </p:cNvSpPr>
          <p:nvPr/>
        </p:nvSpPr>
        <p:spPr>
          <a:xfrm>
            <a:off x="704850" y="3362325"/>
            <a:ext cx="8286750" cy="552450"/>
          </a:xfrm>
          <a:prstGeom prst="rect">
            <a:avLst/>
          </a:prstGeom>
          <a:noFill/>
          <a:ln>
            <a:noFill/>
          </a:ln>
        </p:spPr>
        <p:txBody>
          <a:bodyPr wrap="none" lIns="0" tIns="0" rIns="0" bIns="0" anchor="ctr">
            <a:spAutoFit/>
          </a:bodyPr>
          <a:lstStyle/>
          <a:p>
            <a:pPr algn="l">
              <a:lnSpc>
                <a:spcPts val="2400"/>
              </a:lnSpc>
              <a:buNone/>
              <a:defRPr sz="2400" b="1">
                <a:solidFill>
                  <a:srgbClr val="C43B00"/>
                </a:solidFill>
              </a:defRPr>
            </a:pPr>
            <a:r>
              <a:rPr sz="2400" b="1" i="1">
                <a:solidFill>
                  <a:srgbClr val="C43B00"/>
                </a:solidFill>
                <a:latin typeface="+mn-lt"/>
                <a:ea typeface="+mn-lt"/>
                <a:cs typeface="+mn-lt"/>
              </a:rPr>
              <a:t>Questions &amp; discussion</a:t>
            </a:r>
            <a:endParaRPr sz="1950" i="1">
              <a:solidFill>
                <a:schemeClr val="accent1"/>
              </a:solidFill>
              <a:latin typeface="+mn-lt"/>
              <a:ea typeface="+mn-lt"/>
              <a:cs typeface="+mn-lt"/>
            </a:endParaRPr>
          </a:p>
        </p:txBody>
      </p:sp>
      <p:sp>
        <p:nvSpPr>
          <p:cNvPr id="11" name="TextBox 11"/>
          <p:cNvSpPr>
            <a:spLocks noGrp="1"/>
          </p:cNvSpPr>
          <p:nvPr/>
        </p:nvSpPr>
        <p:spPr>
          <a:xfrm>
            <a:off x="704850" y="4610100"/>
            <a:ext cx="9334500" cy="400050"/>
          </a:xfrm>
          <a:prstGeom prst="rect">
            <a:avLst/>
          </a:prstGeom>
          <a:noFill/>
          <a:ln>
            <a:noFill/>
          </a:ln>
        </p:spPr>
        <p:txBody>
          <a:bodyPr wrap="none" lIns="0" tIns="0" rIns="0" bIns="0" anchor="ctr">
            <a:spAutoFit/>
          </a:bodyPr>
          <a:lstStyle/>
          <a:p>
            <a:pPr algn="l">
              <a:buNone/>
              <a:defRPr sz="1800" b="1">
                <a:solidFill>
                  <a:srgbClr val="2C2927"/>
                </a:solidFill>
                <a:latin typeface="Arial" panose="020B0604020202020204"/>
                <a:ea typeface="Arial" panose="020B0604020202020204"/>
                <a:cs typeface="Arial" panose="020B0604020202020204"/>
              </a:defRPr>
            </a:pPr>
            <a:r>
              <a:rPr sz="1800" b="1">
                <a:solidFill>
                  <a:srgbClr val="2C2927"/>
                </a:solidFill>
                <a:latin typeface="Arial" panose="020B0604020202020204"/>
                <a:ea typeface="Arial" panose="020B0604020202020204"/>
                <a:cs typeface="Arial" panose="020B0604020202020204"/>
              </a:rPr>
              <a:t>Zhenzhou Li¹ · Xiang Li²˒³ · Zhibin Niu¹*</a:t>
            </a:r>
            <a:endParaRPr sz="1950" b="1">
              <a:solidFill>
                <a:schemeClr val="dk1"/>
              </a:solidFill>
              <a:latin typeface="+mn-lt"/>
              <a:ea typeface="+mn-lt"/>
              <a:cs typeface="+mn-lt"/>
            </a:endParaRPr>
          </a:p>
        </p:txBody>
      </p:sp>
      <p:sp>
        <p:nvSpPr>
          <p:cNvPr id="12" name="TextBox 12"/>
          <p:cNvSpPr>
            <a:spLocks noGrp="1"/>
          </p:cNvSpPr>
          <p:nvPr/>
        </p:nvSpPr>
        <p:spPr>
          <a:xfrm>
            <a:off x="704850" y="5086350"/>
            <a:ext cx="9810750" cy="552450"/>
          </a:xfrm>
          <a:prstGeom prst="rect">
            <a:avLst/>
          </a:prstGeom>
          <a:noFill/>
          <a:ln>
            <a:noFill/>
          </a:ln>
        </p:spPr>
        <p:txBody>
          <a:bodyPr wrap="none" lIns="0" tIns="0" rIns="0" bIns="0" anchor="t">
            <a:spAutoFit/>
          </a:bodyPr>
          <a:lstStyle/>
          <a:p>
            <a:pPr algn="l">
              <a:buNone/>
              <a:defRPr sz="1275" b="0">
                <a:solidFill>
                  <a:srgbClr val="5B5550"/>
                </a:solidFill>
                <a:latin typeface="Arial" panose="020B0604020202020204"/>
                <a:ea typeface="Arial" panose="020B0604020202020204"/>
                <a:cs typeface="Arial" panose="020B0604020202020204"/>
              </a:defRPr>
            </a:pPr>
            <a:r>
              <a:rPr sz="1275" b="0">
                <a:solidFill>
                  <a:srgbClr val="5B5550"/>
                </a:solidFill>
                <a:latin typeface="Arial" panose="020B0604020202020204"/>
                <a:ea typeface="Arial" panose="020B0604020202020204"/>
                <a:cs typeface="Arial" panose="020B0604020202020204"/>
              </a:rPr>
              <a:t>¹ Tianjin University · ² China Iron and Steel Research Institute Group</a:t>
            </a:r>
            <a:endParaRPr sz="1350">
              <a:solidFill>
                <a:srgbClr val="5E5A55"/>
              </a:solidFill>
              <a:latin typeface="+mn-lt"/>
              <a:ea typeface="+mn-lt"/>
              <a:cs typeface="+mn-lt"/>
            </a:endParaRPr>
          </a:p>
          <a:p>
            <a:pPr algn="l">
              <a:buNone/>
              <a:defRPr sz="1275" b="0">
                <a:solidFill>
                  <a:srgbClr val="5B5550"/>
                </a:solidFill>
                <a:latin typeface="Arial" panose="020B0604020202020204"/>
                <a:ea typeface="Arial" panose="020B0604020202020204"/>
                <a:cs typeface="Arial" panose="020B0604020202020204"/>
              </a:defRPr>
            </a:pPr>
            <a:r>
              <a:rPr sz="1275" b="0">
                <a:solidFill>
                  <a:srgbClr val="5B5550"/>
                </a:solidFill>
                <a:latin typeface="Arial" panose="020B0604020202020204"/>
                <a:ea typeface="Arial" panose="020B0604020202020204"/>
                <a:cs typeface="Arial" panose="020B0604020202020204"/>
              </a:rPr>
              <a:t>³ UC Berkeley</a:t>
            </a:r>
            <a:endParaRPr sz="1350">
              <a:solidFill>
                <a:srgbClr val="5E5A55"/>
              </a:solidFill>
              <a:latin typeface="+mn-lt"/>
              <a:ea typeface="+mn-lt"/>
              <a:cs typeface="+mn-lt"/>
            </a:endParaRPr>
          </a:p>
        </p:txBody>
      </p:sp>
      <p:sp>
        <p:nvSpPr>
          <p:cNvPr id="14" name="TextBox 14"/>
          <p:cNvSpPr>
            <a:spLocks noGrp="1"/>
          </p:cNvSpPr>
          <p:nvPr/>
        </p:nvSpPr>
        <p:spPr>
          <a:xfrm>
            <a:off x="717042" y="6226492"/>
            <a:ext cx="2296311" cy="264033"/>
          </a:xfrm>
          <a:prstGeom prst="rect">
            <a:avLst/>
          </a:prstGeom>
          <a:noFill/>
          <a:ln>
            <a:noFill/>
          </a:ln>
        </p:spPr>
        <p:txBody>
          <a:bodyPr wrap="none" lIns="0" tIns="0" rIns="0" bIns="0" anchor="t">
            <a:spAutoFit/>
          </a:bodyPr>
          <a:lstStyle/>
          <a:p>
            <a:pPr algn="l">
              <a:buNone/>
              <a:defRPr sz="1200" b="0">
                <a:solidFill>
                  <a:srgbClr val="5B5550"/>
                </a:solidFill>
              </a:defRPr>
            </a:pPr>
            <a:r>
              <a:rPr sz="1200" b="0">
                <a:solidFill>
                  <a:srgbClr val="5B5550"/>
                </a:solidFill>
                <a:latin typeface="+mn-lt"/>
                <a:ea typeface="+mn-lt"/>
                <a:cs typeface="+mn-lt"/>
              </a:rPr>
              <a:t>Bremen · 18 August 2026</a:t>
            </a:r>
            <a:endParaRPr sz="1350" b="1">
              <a:solidFill>
                <a:srgbClr val="5E5A55"/>
              </a:solidFill>
              <a:latin typeface="+mn-lt"/>
              <a:ea typeface="+mn-lt"/>
              <a:cs typeface="+mn-lt"/>
            </a:endParaRPr>
          </a:p>
        </p:txBody>
      </p:sp>
    </p:spTree>
  </p:cSld>
  <p:clrMapOvr>
    <a:masterClrMapping/>
  </p:clrMapOvr>
</p:sld>
</file>

<file path=ppt/theme/theme1.xml><?xml version="1.0" encoding="utf-8"?>
<a:theme xmlns:a="http://schemas.openxmlformats.org/drawingml/2006/main" name="condygnet_ijcai2026_v3">
  <a:themeElements>
    <a:clrScheme name="condygnet_ijcai2026_v3">
      <a:dk1>
        <a:srgbClr val="171717"/>
      </a:dk1>
      <a:lt1>
        <a:srgbClr val="FAF7F2"/>
      </a:lt1>
      <a:dk2>
        <a:srgbClr val="1F497D"/>
      </a:dk2>
      <a:lt2>
        <a:srgbClr val="FAF7F2"/>
      </a:lt2>
      <a:accent1>
        <a:srgbClr val="BD3800"/>
      </a:accent1>
      <a:accent2>
        <a:srgbClr val="2A78B8"/>
      </a:accent2>
      <a:accent3>
        <a:srgbClr val="F2D8CA"/>
      </a:accent3>
      <a:accent4>
        <a:srgbClr val="BD3800"/>
      </a:accent4>
      <a:accent5>
        <a:srgbClr val="D8CEC4"/>
      </a:accent5>
      <a:accent6>
        <a:srgbClr val="DCEAF5"/>
      </a:accent6>
      <a:hlink>
        <a:srgbClr val="2A78B8"/>
      </a:hlink>
      <a:folHlink>
        <a:srgbClr val="F2D8CA"/>
      </a:folHlink>
    </a:clrScheme>
    <a:fontScheme name="condygnet_ijcai2026_v3">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ndygnet_ijcai2026_v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dygnet_ijcai2026_v3">
  <a:themeElements>
    <a:clrScheme name="condygnet_ijcai2026_v3">
      <a:dk1>
        <a:srgbClr val="171717"/>
      </a:dk1>
      <a:lt1>
        <a:srgbClr val="FAF7F2"/>
      </a:lt1>
      <a:dk2>
        <a:srgbClr val="1F497D"/>
      </a:dk2>
      <a:lt2>
        <a:srgbClr val="FAF7F2"/>
      </a:lt2>
      <a:accent1>
        <a:srgbClr val="BD3800"/>
      </a:accent1>
      <a:accent2>
        <a:srgbClr val="2A78B8"/>
      </a:accent2>
      <a:accent3>
        <a:srgbClr val="F2D8CA"/>
      </a:accent3>
      <a:accent4>
        <a:srgbClr val="BD3800"/>
      </a:accent4>
      <a:accent5>
        <a:srgbClr val="D8CEC4"/>
      </a:accent5>
      <a:accent6>
        <a:srgbClr val="DCEAF5"/>
      </a:accent6>
      <a:hlink>
        <a:srgbClr val="2A78B8"/>
      </a:hlink>
      <a:folHlink>
        <a:srgbClr val="F2D8CA"/>
      </a:folHlink>
    </a:clrScheme>
    <a:fontScheme name="condygnet_ijcai2026_v3">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ndygnet_ijcai2026_v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3595</Words>
  <Application>WPS 演示</Application>
  <PresentationFormat>Converted Presentation</PresentationFormat>
  <Paragraphs>257</Paragraphs>
  <Slides>8</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vt:i4>
      </vt:variant>
    </vt:vector>
  </HeadingPairs>
  <TitlesOfParts>
    <vt:vector size="15" baseType="lpstr">
      <vt:lpstr>Arial</vt:lpstr>
      <vt:lpstr>宋体</vt:lpstr>
      <vt:lpstr>Wingdings</vt:lpstr>
      <vt:lpstr>Arial</vt:lpstr>
      <vt:lpstr>微软雅黑</vt:lpstr>
      <vt:lpstr>Arial Unicode MS</vt:lpstr>
      <vt:lpstr>condygnet_ijcai2026_v3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小州同学</cp:lastModifiedBy>
  <cp:revision>1</cp:revision>
  <dcterms:created xsi:type="dcterms:W3CDTF">2026-08-17T21:36:07Z</dcterms:created>
  <dcterms:modified xsi:type="dcterms:W3CDTF">2026-08-17T21:36:07Z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CAC5C06B5B2E4EBC98B79EAB3416BB81_12</vt:lpwstr>
  </property>
  <property fmtid="{D5CDD505-2E9C-101B-9397-08002B2CF9AE}" pid="3" name="KSOProductBuildVer">
    <vt:lpwstr>2052-12.1.0.28043</vt:lpwstr>
  </property>
</Properties>
</file>